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0" r:id="rId4"/>
    <p:sldId id="259" r:id="rId5"/>
    <p:sldId id="261" r:id="rId6"/>
    <p:sldId id="271" r:id="rId7"/>
    <p:sldId id="269" r:id="rId8"/>
    <p:sldId id="260" r:id="rId9"/>
    <p:sldId id="258" r:id="rId10"/>
    <p:sldId id="272" r:id="rId11"/>
    <p:sldId id="273" r:id="rId12"/>
    <p:sldId id="274" r:id="rId13"/>
    <p:sldId id="275" r:id="rId14"/>
    <p:sldId id="276" r:id="rId15"/>
    <p:sldId id="277" r:id="rId16"/>
    <p:sldId id="264" r:id="rId17"/>
    <p:sldId id="278" r:id="rId18"/>
    <p:sldId id="262" r:id="rId19"/>
    <p:sldId id="279" r:id="rId20"/>
    <p:sldId id="263" r:id="rId21"/>
    <p:sldId id="265" r:id="rId22"/>
    <p:sldId id="266" r:id="rId23"/>
    <p:sldId id="26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E1499-0F74-47EE-93C6-9149A338A5D0}" v="22" dt="2026-05-12T21:46:08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721" autoAdjust="0"/>
  </p:normalViewPr>
  <p:slideViewPr>
    <p:cSldViewPr snapToGrid="0" snapToObjects="1">
      <p:cViewPr>
        <p:scale>
          <a:sx n="94" d="100"/>
          <a:sy n="94" d="100"/>
        </p:scale>
        <p:origin x="11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fr-FR" sz="1000" b="0" i="0" u="none" strike="noStrike" noProof="0" dirty="0">
                <a:solidFill>
                  <a:srgbClr val="1A2B4A"/>
                </a:solidFill>
                <a:latin typeface="Arial"/>
              </a:rPr>
              <a:t>Distribution illustrative — 90 000 paires </a:t>
            </a:r>
            <a:r>
              <a:rPr lang="fr-FR" sz="1000" b="0" i="0" u="none" strike="noStrike" noProof="0" dirty="0" err="1">
                <a:solidFill>
                  <a:srgbClr val="1A2B4A"/>
                </a:solidFill>
                <a:latin typeface="Arial"/>
              </a:rPr>
              <a:t>cosine</a:t>
            </a:r>
            <a:r>
              <a:rPr lang="fr-FR" sz="1000" b="0" i="0" u="none" strike="noStrike" noProof="0" dirty="0">
                <a:solidFill>
                  <a:srgbClr val="1A2B4A"/>
                </a:solidFill>
                <a:latin typeface="Arial"/>
              </a:rPr>
              <a:t> (N=300 issues)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de paires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47-444B-B5B9-CD3C7FA9AF71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47-444B-B5B9-CD3C7FA9AF71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47-444B-B5B9-CD3C7FA9AF71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47-444B-B5B9-CD3C7FA9AF71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047-444B-B5B9-CD3C7FA9AF71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047-444B-B5B9-CD3C7FA9AF71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047-444B-B5B9-CD3C7FA9AF71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047-444B-B5B9-CD3C7FA9AF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0.00–0.10</c:v>
                </c:pt>
                <c:pt idx="1">
                  <c:v>0.10–0.20</c:v>
                </c:pt>
                <c:pt idx="2">
                  <c:v>0.20–0.30</c:v>
                </c:pt>
                <c:pt idx="3">
                  <c:v>0.30–0.40</c:v>
                </c:pt>
                <c:pt idx="4">
                  <c:v>0.40–0.50</c:v>
                </c:pt>
                <c:pt idx="5">
                  <c:v>0.50–0.60</c:v>
                </c:pt>
                <c:pt idx="6">
                  <c:v>0.60–0.70</c:v>
                </c:pt>
                <c:pt idx="7">
                  <c:v>0.70–1.00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41000</c:v>
                </c:pt>
                <c:pt idx="1">
                  <c:v>28000</c:v>
                </c:pt>
                <c:pt idx="2">
                  <c:v>11500</c:v>
                </c:pt>
                <c:pt idx="3">
                  <c:v>4200</c:v>
                </c:pt>
                <c:pt idx="4">
                  <c:v>1800</c:v>
                </c:pt>
                <c:pt idx="5">
                  <c:v>950</c:v>
                </c:pt>
                <c:pt idx="6">
                  <c:v>380</c:v>
                </c:pt>
                <c:pt idx="7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047-444B-B5B9-CD3C7FA9A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06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4209935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Ce que ton code fait réellement :</a:t>
            </a:r>
            <a:endParaRPr lang="fr-FR" dirty="0"/>
          </a:p>
          <a:p>
            <a:r>
              <a:rPr lang="fr-FR" dirty="0"/>
              <a:t>En regardant ton code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export_st_ready_resolver_cases.py</a:t>
            </a:r>
            <a:r>
              <a:rPr lang="fr-FR" dirty="0"/>
              <a:t>, le champ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link_score</a:t>
            </a:r>
            <a:r>
              <a:rPr lang="fr-FR" dirty="0"/>
              <a:t> 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link_confidence</a:t>
            </a:r>
            <a:r>
              <a:rPr lang="fr-FR" dirty="0"/>
              <a:t> </a:t>
            </a:r>
            <a:r>
              <a:rPr lang="fr-FR" b="1" dirty="0"/>
              <a:t>ne sont pas calculés dans ce fichier</a:t>
            </a:r>
            <a:r>
              <a:rPr lang="fr-FR" dirty="0"/>
              <a:t>. Ce script les lit directement depuis le fichier d'entrée :</a:t>
            </a:r>
          </a:p>
          <a:p>
            <a:r>
              <a:rPr lang="fr-FR" dirty="0"/>
              <a:t>python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link_score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link_score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link_confidence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link_confidence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resolution_status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case.get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resolution_status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"),</a:t>
            </a:r>
          </a:p>
          <a:p>
            <a:r>
              <a:rPr lang="fr-FR" dirty="0"/>
              <a:t>Ces valeurs viennent d'une </a:t>
            </a:r>
            <a:r>
              <a:rPr lang="fr-FR" b="1" dirty="0"/>
              <a:t>étape </a:t>
            </a:r>
            <a:r>
              <a:rPr lang="fr-FR" b="1" dirty="0" err="1"/>
              <a:t>upstream</a:t>
            </a:r>
            <a:r>
              <a:rPr lang="fr-FR" dirty="0"/>
              <a:t> du pipeline — la couche de liaison </a:t>
            </a:r>
            <a:r>
              <a:rPr lang="fr-FR" dirty="0" err="1"/>
              <a:t>issue↔PR↔commit</a:t>
            </a:r>
            <a:r>
              <a:rPr lang="fr-FR" dirty="0"/>
              <a:t> — dont le code n'est pas dans ce que tu m'as partagé. Ton script de </a:t>
            </a:r>
            <a:r>
              <a:rPr lang="fr-FR" dirty="0" err="1"/>
              <a:t>delivery</a:t>
            </a:r>
            <a:r>
              <a:rPr lang="fr-FR" dirty="0"/>
              <a:t> les consomme mais ne les calcule pas.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Ce qu'il faut dire à ton encadrant :</a:t>
            </a:r>
            <a:endParaRPr lang="fr-FR" dirty="0"/>
          </a:p>
          <a:p>
            <a:r>
              <a:rPr lang="fr-FR" dirty="0"/>
              <a:t>Deux options honnêtes :</a:t>
            </a:r>
          </a:p>
          <a:p>
            <a:r>
              <a:rPr lang="fr-FR" b="1" dirty="0"/>
              <a:t>Option 1 — Tu as le code </a:t>
            </a:r>
            <a:r>
              <a:rPr lang="fr-FR" b="1" dirty="0" err="1"/>
              <a:t>upstream</a:t>
            </a:r>
            <a:r>
              <a:rPr lang="fr-FR" b="1" dirty="0"/>
              <a:t> :</a:t>
            </a:r>
            <a:r>
              <a:rPr lang="fr-FR" dirty="0"/>
              <a:t> Partage-le moi et je construis l'équation exacte avec les vrais poids.</a:t>
            </a:r>
          </a:p>
          <a:p>
            <a:r>
              <a:rPr lang="fr-FR" b="1" dirty="0"/>
              <a:t>Option 2 — Tu n'as pas ce code :</a:t>
            </a:r>
            <a:r>
              <a:rPr lang="fr-FR" dirty="0"/>
              <a:t> On remplace l'équation inventée par une description fidèle à ce que le script fait réellement, à savoir : "le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link_score</a:t>
            </a:r>
            <a:r>
              <a:rPr lang="fr-FR" dirty="0"/>
              <a:t> est produit par la couche de liaison en amont, ce script l'utilise comme critère de filtrage —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unlinked</a:t>
            </a:r>
            <a:r>
              <a:rPr lang="fr-FR" dirty="0"/>
              <a:t> écarté,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reference_only</a:t>
            </a:r>
            <a:r>
              <a:rPr lang="fr-FR" dirty="0"/>
              <a:t> optionnel,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candidate_fix</a:t>
            </a:r>
            <a:r>
              <a:rPr lang="fr-FR" dirty="0"/>
              <a:t> 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merged_fix</a:t>
            </a:r>
            <a:r>
              <a:rPr lang="fr-FR" dirty="0"/>
              <a:t> exportés.« </a:t>
            </a:r>
          </a:p>
          <a:p>
            <a:r>
              <a:rPr lang="fr-FR" dirty="0"/>
              <a:t>---------------------------------------</a:t>
            </a:r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file.score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nb_changes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+ 20</a:t>
            </a:r>
            <a:endParaRPr lang="fr-FR" dirty="0"/>
          </a:p>
          <a:p>
            <a:r>
              <a:rPr lang="fr-FR" b="1" dirty="0"/>
              <a:t>Pourquoi ce calcul ?</a:t>
            </a:r>
            <a:r>
              <a:rPr lang="fr-FR" dirty="0"/>
              <a:t> Le but est de </a:t>
            </a:r>
            <a:r>
              <a:rPr lang="fr-FR" b="1" dirty="0"/>
              <a:t>trier les fichiers modifiés par pertinence</a:t>
            </a:r>
            <a:r>
              <a:rPr lang="fr-FR" dirty="0"/>
              <a:t> dans une </a:t>
            </a:r>
            <a:r>
              <a:rPr lang="fr-FR" dirty="0" err="1"/>
              <a:t>resolver</a:t>
            </a:r>
            <a:r>
              <a:rPr lang="fr-FR" dirty="0"/>
              <a:t> case. On veut répondre à : "parmi tous les fichiers touchés par le commit de fix, lequel est le plus important ?"</a:t>
            </a:r>
          </a:p>
          <a:p>
            <a:r>
              <a:rPr lang="fr-FR" dirty="0"/>
              <a:t>Deux critères combinés :</a:t>
            </a:r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nb_changes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additions +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deletions</a:t>
            </a:r>
            <a:r>
              <a:rPr lang="fr-FR" dirty="0"/>
              <a:t> — mesure l'intensité de la modification. Un fichier avec 150 lignes changées est probablement plus central au fix qu'un fichier avec 2 lignes changées. C'est directement extrait de l'API GitHub commit.</a:t>
            </a:r>
          </a:p>
          <a:p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+20 bonus</a:t>
            </a:r>
            <a:r>
              <a:rPr lang="fr-FR" dirty="0"/>
              <a:t> — récompense les fichiers qu'on connaît déjà dans notre KB (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docs_files</a:t>
            </a:r>
            <a:r>
              <a:rPr lang="fr-FR" dirty="0"/>
              <a:t>). Pourquoi 20 ? C'est un seuil arbitraire suffisamment grand pour qu'un fichier documenté avec peu de changements remonte quand même devant un fichier inconnu très modifié. En gros : mieux vaut un fichier qu'on peut contextualiser qu'un fichier opaque.</a:t>
            </a:r>
          </a:p>
          <a:p>
            <a:r>
              <a:rPr lang="fr-FR" dirty="0"/>
              <a:t>Le tri final 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changed_files.sort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(key=lambda f: f["score"], reverse=True)</a:t>
            </a:r>
            <a:r>
              <a:rPr lang="fr-FR" dirty="0"/>
              <a:t> — le fichier avec le score le plus élevé devient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primary_changed_file</a:t>
            </a:r>
            <a:r>
              <a:rPr lang="fr-FR" dirty="0"/>
              <a:t>, celui affiché en tête dans la </a:t>
            </a:r>
            <a:r>
              <a:rPr lang="fr-FR" dirty="0" err="1"/>
              <a:t>resolver</a:t>
            </a:r>
            <a:r>
              <a:rPr lang="fr-FR" dirty="0"/>
              <a:t> case.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matched_docs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changed_files_total</a:t>
            </a:r>
            <a:endParaRPr lang="fr-FR" dirty="0"/>
          </a:p>
          <a:p>
            <a:r>
              <a:rPr lang="fr-FR" b="1" dirty="0"/>
              <a:t>Pourquoi ce calcul ?</a:t>
            </a:r>
            <a:r>
              <a:rPr lang="fr-FR" dirty="0"/>
              <a:t> C'est un </a:t>
            </a:r>
            <a:r>
              <a:rPr lang="fr-FR" b="1" dirty="0"/>
              <a:t>indicateur de couverture</a:t>
            </a:r>
            <a:r>
              <a:rPr lang="fr-FR" dirty="0"/>
              <a:t> — il mesure dans quelle proportion les fichiers touchés par le fix sont connus dans notre base documentaire.</a:t>
            </a:r>
          </a:p>
          <a:p>
            <a:r>
              <a:rPr lang="fr-FR" dirty="0"/>
              <a:t>Concrètement ce qui se passe :</a:t>
            </a:r>
          </a:p>
          <a:p>
            <a:r>
              <a:rPr lang="fr-FR" dirty="0"/>
              <a:t>Pour chaque commit lié à l'issue, GitHub renvoie la liste des fichiers modifiés avec leur chemin exact (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Drivers/STM32H7xx_HAL_Driver/Src/stm32h7xx_hal_spi.c</a:t>
            </a:r>
            <a:r>
              <a:rPr lang="fr-FR" dirty="0"/>
              <a:t>)</a:t>
            </a:r>
          </a:p>
          <a:p>
            <a:r>
              <a:rPr lang="fr-FR" dirty="0"/>
              <a:t>On normalise ce chemin (minuscules, </a:t>
            </a:r>
            <a:r>
              <a:rPr lang="fr-FR" dirty="0" err="1"/>
              <a:t>slashes</a:t>
            </a:r>
            <a:r>
              <a:rPr lang="fr-FR" dirty="0"/>
              <a:t> unifiés, pas de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FR" dirty="0"/>
              <a:t> initial)</a:t>
            </a:r>
          </a:p>
          <a:p>
            <a:r>
              <a:rPr lang="fr-FR" dirty="0"/>
              <a:t>On cherche ce chemin normalisé dans le dictionnaire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files_lookup</a:t>
            </a:r>
            <a:r>
              <a:rPr lang="fr-FR" dirty="0"/>
              <a:t> qui contient tous les chemins de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docs_files</a:t>
            </a:r>
            <a:endParaRPr lang="fr-FR" dirty="0"/>
          </a:p>
          <a:p>
            <a:r>
              <a:rPr lang="fr-FR" dirty="0"/>
              <a:t>Si on trouve →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matched_docs_count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fr-FR" dirty="0"/>
              <a:t> et le fichier hérite des métadonnées enrichies (component, </a:t>
            </a:r>
            <a:r>
              <a:rPr lang="fr-FR" dirty="0" err="1"/>
              <a:t>board</a:t>
            </a:r>
            <a:r>
              <a:rPr lang="fr-FR" dirty="0"/>
              <a:t>, </a:t>
            </a:r>
            <a:r>
              <a:rPr lang="fr-FR" dirty="0" err="1"/>
              <a:t>file_type</a:t>
            </a:r>
            <a:r>
              <a:rPr lang="fr-FR" dirty="0"/>
              <a:t>)</a:t>
            </a:r>
          </a:p>
          <a:p>
            <a:r>
              <a:rPr lang="fr-FR" dirty="0"/>
              <a:t>Si on ne trouve pas →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source_match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commit_only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fr-FR" dirty="0"/>
              <a:t>, on a juste le chemin brut</a:t>
            </a:r>
          </a:p>
          <a:p>
            <a:r>
              <a:rPr lang="fr-FR" b="1" dirty="0"/>
              <a:t>Pourquoi c'est utile ?</a:t>
            </a:r>
            <a:r>
              <a:rPr lang="fr-FR" dirty="0"/>
              <a:t> Un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0.75</a:t>
            </a:r>
            <a:r>
              <a:rPr lang="fr-FR" dirty="0"/>
              <a:t> signifie que 75% des fichiers du fix ont une fiche documentaire dans la KB — la </a:t>
            </a:r>
            <a:r>
              <a:rPr lang="fr-FR" dirty="0" err="1"/>
              <a:t>resolver</a:t>
            </a:r>
            <a:r>
              <a:rPr lang="fr-FR" dirty="0"/>
              <a:t> case est donc bien contextualisée. Un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match_rate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0.20</a:t>
            </a:r>
            <a:r>
              <a:rPr lang="fr-FR" dirty="0"/>
              <a:t> signifie que le commit touche surtout des fichiers inconnus — la carte est moins riche, à interpréter avec précaution.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D580-3E52-6DB0-5B01-5F153DA0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A07AA-462E-AC8B-0C66-CA1305649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A1418-8DD7-DE55-F3ED-11B32C83A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1C661-44A4-7686-2451-B23C061EC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52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Résultats run 50 questions</a:t>
            </a:r>
          </a:p>
          <a:p>
            <a:endParaRPr lang="fr-FR" dirty="0"/>
          </a:p>
          <a:p>
            <a:r>
              <a:rPr lang="fr-FR" dirty="0"/>
              <a:t>50 questions exécutées</a:t>
            </a:r>
          </a:p>
          <a:p>
            <a:r>
              <a:rPr lang="fr-FR" dirty="0"/>
              <a:t>• 26 réponses générées (sans crash)</a:t>
            </a:r>
          </a:p>
          <a:p>
            <a:r>
              <a:rPr lang="fr-FR" dirty="0"/>
              <a:t>• 24 exceptions </a:t>
            </a:r>
            <a:r>
              <a:rPr lang="fr-FR" dirty="0" err="1"/>
              <a:t>runner</a:t>
            </a:r>
            <a:r>
              <a:rPr lang="fr-FR" dirty="0"/>
              <a:t> (à corriger)</a:t>
            </a:r>
          </a:p>
          <a:p>
            <a:endParaRPr lang="fr-FR" dirty="0"/>
          </a:p>
          <a:p>
            <a:r>
              <a:rPr lang="fr-FR" dirty="0"/>
              <a:t>Parmi les 26 réponses :</a:t>
            </a:r>
          </a:p>
          <a:p>
            <a:r>
              <a:rPr lang="fr-FR" dirty="0"/>
              <a:t>• 12 précises / actionnables</a:t>
            </a:r>
          </a:p>
          <a:p>
            <a:r>
              <a:rPr lang="fr-FR" dirty="0"/>
              <a:t>• 14 partielles</a:t>
            </a:r>
          </a:p>
          <a:p>
            <a:r>
              <a:rPr lang="fr-FR" dirty="0"/>
              <a:t>• 24/50 trop génériques (global)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STAGE — PFE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STM32Cube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plateforme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ChatGPT (RAG)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GitHub à l'assistant technique 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4206240"/>
            <a:ext cx="8942832" cy="9372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365760" y="4315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AMAMOU Mohamed Ridha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8275AAC-4E6B-AAA3-FC70-5394E1ACDD23}"/>
              </a:ext>
            </a:extLst>
          </p:cNvPr>
          <p:cNvSpPr txBox="1"/>
          <p:nvPr/>
        </p:nvSpPr>
        <p:spPr>
          <a:xfrm>
            <a:off x="457200" y="3755171"/>
            <a:ext cx="5178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 GHARBI</a:t>
            </a:r>
            <a:endParaRPr lang="en-US" sz="14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E4BBA5-D767-ADBF-38F0-C2D6B0E2363E}"/>
              </a:ext>
            </a:extLst>
          </p:cNvPr>
          <p:cNvSpPr txBox="1"/>
          <p:nvPr/>
        </p:nvSpPr>
        <p:spPr>
          <a:xfrm>
            <a:off x="365760" y="4640354"/>
            <a:ext cx="5178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STMicroelectronics Tunis   </a:t>
            </a:r>
            <a:endParaRPr lang="fr-T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941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métier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3327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KB · Data Source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57200" y="2953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33272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33272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données traitées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PRs, PDFs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4892040" y="94183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68112" y="941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spécialisés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Agent · PDF Vision Agent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Shape 29"/>
          <p:cNvSpPr/>
          <p:nvPr/>
        </p:nvSpPr>
        <p:spPr>
          <a:xfrm>
            <a:off x="4754880" y="18745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4892040" y="194767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6811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actuel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&amp; résultats tests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475488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4892040" y="2953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68112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faire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concret &amp; critères de validation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11480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4754880" y="3886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892040" y="3959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68112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échanges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68112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&amp; priorisation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du projet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15000"/>
              </a:lnSpc>
              <a:buNone/>
            </a:pPr>
            <a:endParaRPr lang="fr-FR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12064" y="795528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12064" y="795528"/>
            <a:ext cx="228600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603504" y="795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ACTUEL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03504" y="1335024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59536" y="1316736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technique STM32 existe déjà</a:t>
            </a:r>
            <a:endParaRPr lang="fr-FR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603504" y="1865376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859536" y="184708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dispersée : issues GitHub, documentation, release notes, différents repos</a:t>
            </a:r>
            <a:endParaRPr lang="fr-FR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603504" y="2395728"/>
            <a:ext cx="164592" cy="164592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859536" y="2377440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n'est pas facilement retrouvable lors d'un diagnostic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889504" y="795528"/>
            <a:ext cx="347472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889504" y="795528"/>
            <a:ext cx="34747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980944" y="795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fr-F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2980944" y="133502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236976" y="1316736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brutes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BRUITéES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contiennent du HTML, des images, des blocs de code, des références croisées = nettoyage complexe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2980944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3236976" y="1847088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structure commune entre issues, fichiers techniques et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endParaRPr lang="fr-FR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2980944" y="23957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236976" y="2377440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réponse directement liée a la qualité des données injectées</a:t>
            </a:r>
            <a:endParaRPr lang="fr-FR" sz="950" noProof="0" dirty="0">
              <a:solidFill>
                <a:srgbClr val="FF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80944" y="29260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236976" y="2770632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inconstants selon la formulation de la question</a:t>
            </a:r>
          </a:p>
          <a:p>
            <a:pPr marL="0" indent="0" algn="l">
              <a:lnSpc>
                <a:spcPct val="110000"/>
              </a:lnSpc>
              <a:buNone/>
            </a:pPr>
            <a:endParaRPr lang="fr-FR" sz="95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Reformuler  cette phrase : reposes diff pour des questions similaires </a:t>
            </a:r>
            <a:r>
              <a:rPr lang="fr-FR" sz="950" noProof="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oubequivalentes</a:t>
            </a:r>
            <a:r>
              <a:rPr lang="fr-FR" sz="9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mais de formulation diff</a:t>
            </a:r>
            <a:endParaRPr lang="fr-FR" sz="950" noProof="0" dirty="0">
              <a:solidFill>
                <a:srgbClr val="FF00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80944" y="345643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3236976" y="3438144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contiennent des figures non exploitables directement</a:t>
            </a:r>
            <a:endParaRPr lang="fr-FR" sz="950" noProof="0" dirty="0"/>
          </a:p>
        </p:txBody>
      </p:sp>
      <p:sp>
        <p:nvSpPr>
          <p:cNvPr id="27" name="Shape 25"/>
          <p:cNvSpPr/>
          <p:nvPr/>
        </p:nvSpPr>
        <p:spPr>
          <a:xfrm>
            <a:off x="2980944" y="39867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3236976" y="3968496"/>
            <a:ext cx="30358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a plusieurs </a:t>
            </a:r>
            <a:r>
              <a:rPr lang="fr-FR" sz="9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nécessite un pipeline robuste : l’existence de </a:t>
            </a:r>
            <a:r>
              <a:rPr lang="fr-FR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lusieurs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pipline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robiste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6492240" y="802403"/>
            <a:ext cx="22860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6492240" y="795528"/>
            <a:ext cx="22860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6583680" y="795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fr-FR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6583680" y="13350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839712" y="2368296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de préparation de données STM32Cube</a:t>
            </a:r>
            <a:endParaRPr lang="fr-FR" sz="950" noProof="0" dirty="0"/>
          </a:p>
        </p:txBody>
      </p:sp>
      <p:sp>
        <p:nvSpPr>
          <p:cNvPr id="34" name="Shape 32"/>
          <p:cNvSpPr/>
          <p:nvPr/>
        </p:nvSpPr>
        <p:spPr>
          <a:xfrm>
            <a:off x="6583680" y="18653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839712" y="1847088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et enrichir les données pour le moteur RAG ST</a:t>
            </a:r>
            <a:endParaRPr lang="fr-FR" sz="950" noProof="0" dirty="0"/>
          </a:p>
        </p:txBody>
      </p:sp>
      <p:sp>
        <p:nvSpPr>
          <p:cNvPr id="36" name="Shape 34"/>
          <p:cNvSpPr/>
          <p:nvPr/>
        </p:nvSpPr>
        <p:spPr>
          <a:xfrm>
            <a:off x="6583680" y="23957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6876288" y="1289304"/>
            <a:ext cx="184708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qualité et la pertinence des réponses de la persona</a:t>
            </a:r>
            <a:endParaRPr lang="fr-FR" sz="950" noProof="0" dirty="0"/>
          </a:p>
        </p:txBody>
      </p:sp>
      <p:sp>
        <p:nvSpPr>
          <p:cNvPr id="38" name="Shape 36"/>
          <p:cNvSpPr/>
          <p:nvPr/>
        </p:nvSpPr>
        <p:spPr>
          <a:xfrm>
            <a:off x="512064" y="4727448"/>
            <a:ext cx="863193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640080" y="474573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950" b="1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 : la qualité de réponse de la persona ST </a:t>
            </a:r>
            <a:r>
              <a:rPr lang="fr-FR" sz="950" b="1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fr-FR" sz="950" b="1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dépend directement de la qualité des données préparées.</a:t>
            </a:r>
            <a:endParaRPr lang="fr-FR" sz="950" noProof="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555F93B6-831D-79A8-D19E-BFEE4434D8FA}"/>
              </a:ext>
            </a:extLst>
          </p:cNvPr>
          <p:cNvSpPr txBox="1"/>
          <p:nvPr/>
        </p:nvSpPr>
        <p:spPr>
          <a:xfrm>
            <a:off x="536059" y="2934197"/>
            <a:ext cx="457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/>
              <a:t>Rag exists </a:t>
            </a:r>
            <a:r>
              <a:rPr lang="en-US" sz="1800" b="0" i="1" dirty="0" err="1"/>
              <a:t>mais</a:t>
            </a:r>
            <a:r>
              <a:rPr lang="en-US" sz="1800" b="0" i="1" dirty="0"/>
              <a:t> ,,,</a:t>
            </a:r>
          </a:p>
          <a:p>
            <a:endParaRPr lang="en-US" i="1" dirty="0"/>
          </a:p>
          <a:p>
            <a:r>
              <a:rPr lang="en-US" sz="1800" b="0" i="1" dirty="0" err="1"/>
              <a:t>Llm</a:t>
            </a:r>
            <a:r>
              <a:rPr lang="en-US" sz="1800" b="0" i="1" dirty="0"/>
              <a:t> </a:t>
            </a:r>
            <a:r>
              <a:rPr lang="en-US" sz="1800" b="0" i="1" dirty="0" err="1"/>
              <a:t>n’est</a:t>
            </a:r>
            <a:r>
              <a:rPr lang="en-US" sz="1800" b="0" i="1" dirty="0"/>
              <a:t> pas </a:t>
            </a:r>
            <a:r>
              <a:rPr lang="en-US" sz="1800" b="0" i="1" dirty="0" err="1"/>
              <a:t>mutimodal</a:t>
            </a:r>
            <a:r>
              <a:rPr lang="en-US" sz="1800" b="0" i="1" dirty="0"/>
              <a:t>,</a:t>
            </a:r>
            <a:endParaRPr lang="fr-T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</a:t>
            </a:r>
            <a:endParaRPr lang="en-US" sz="220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1AB45E57-D6DD-5068-2260-E93B5F03D59F}"/>
              </a:ext>
            </a:extLst>
          </p:cNvPr>
          <p:cNvSpPr/>
          <p:nvPr/>
        </p:nvSpPr>
        <p:spPr>
          <a:xfrm>
            <a:off x="506288" y="989319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F1FC4978-477B-CAD7-2579-55AFB2D9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60" y="1286499"/>
            <a:ext cx="475488" cy="475488"/>
          </a:xfrm>
          <a:prstGeom prst="rect">
            <a:avLst/>
          </a:prstGeom>
        </p:spPr>
      </p:pic>
      <p:sp>
        <p:nvSpPr>
          <p:cNvPr id="45" name="Text 6">
            <a:extLst>
              <a:ext uri="{FF2B5EF4-FFF2-40B4-BE49-F238E27FC236}">
                <a16:creationId xmlns:a16="http://schemas.microsoft.com/office/drawing/2014/main" id="{3800E7C4-B993-A629-0884-F01E7D225FCC}"/>
              </a:ext>
            </a:extLst>
          </p:cNvPr>
          <p:cNvSpPr/>
          <p:nvPr/>
        </p:nvSpPr>
        <p:spPr>
          <a:xfrm>
            <a:off x="396560" y="22420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Prompt Utilisateur</a:t>
            </a:r>
            <a:endParaRPr lang="fr-FR" sz="1000" noProof="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EA38B3AB-42A3-6530-1133-967F69FC4BC6}"/>
              </a:ext>
            </a:extLst>
          </p:cNvPr>
          <p:cNvSpPr/>
          <p:nvPr/>
        </p:nvSpPr>
        <p:spPr>
          <a:xfrm>
            <a:off x="378272" y="2516367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Pose une question technique</a:t>
            </a:r>
            <a:endParaRPr lang="fr-FR" sz="850" noProof="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7CBA3F9-4666-F95A-8736-A6193201A41C}"/>
              </a:ext>
            </a:extLst>
          </p:cNvPr>
          <p:cNvSpPr/>
          <p:nvPr/>
        </p:nvSpPr>
        <p:spPr>
          <a:xfrm>
            <a:off x="2225360" y="989319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EB811E72-39D7-760C-9B15-F15A81979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832" y="1361573"/>
            <a:ext cx="475488" cy="475488"/>
          </a:xfrm>
          <a:prstGeom prst="rect">
            <a:avLst/>
          </a:prstGeom>
        </p:spPr>
      </p:pic>
      <p:sp>
        <p:nvSpPr>
          <p:cNvPr id="50" name="Text 9">
            <a:extLst>
              <a:ext uri="{FF2B5EF4-FFF2-40B4-BE49-F238E27FC236}">
                <a16:creationId xmlns:a16="http://schemas.microsoft.com/office/drawing/2014/main" id="{C2F61E25-0AE0-E44A-8261-258BFBA57470}"/>
              </a:ext>
            </a:extLst>
          </p:cNvPr>
          <p:cNvSpPr/>
          <p:nvPr/>
        </p:nvSpPr>
        <p:spPr>
          <a:xfrm>
            <a:off x="2115632" y="22420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Recherche</a:t>
            </a:r>
            <a:endParaRPr lang="fr-FR" sz="1000" noProof="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90383160-001E-6FC9-4CBB-67A5C6776B25}"/>
              </a:ext>
            </a:extLst>
          </p:cNvPr>
          <p:cNvSpPr/>
          <p:nvPr/>
        </p:nvSpPr>
        <p:spPr>
          <a:xfrm>
            <a:off x="2097344" y="2516367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Cherche dans la KB les passages les plus proches</a:t>
            </a:r>
            <a:endParaRPr lang="fr-FR" sz="850" noProof="0" dirty="0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B2E53151-B837-E662-AF31-7FB8598A268A}"/>
              </a:ext>
            </a:extLst>
          </p:cNvPr>
          <p:cNvSpPr/>
          <p:nvPr/>
        </p:nvSpPr>
        <p:spPr>
          <a:xfrm>
            <a:off x="3944432" y="989319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B1B4B3F3-1A0E-D9CA-2FFA-339DCDE41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760" y="1334551"/>
            <a:ext cx="475488" cy="475488"/>
          </a:xfrm>
          <a:prstGeom prst="rect">
            <a:avLst/>
          </a:prstGeom>
        </p:spPr>
      </p:pic>
      <p:sp>
        <p:nvSpPr>
          <p:cNvPr id="55" name="Text 12">
            <a:extLst>
              <a:ext uri="{FF2B5EF4-FFF2-40B4-BE49-F238E27FC236}">
                <a16:creationId xmlns:a16="http://schemas.microsoft.com/office/drawing/2014/main" id="{A1DDFAF3-B62B-1E11-9920-A51B6CA8FA36}"/>
              </a:ext>
            </a:extLst>
          </p:cNvPr>
          <p:cNvSpPr/>
          <p:nvPr/>
        </p:nvSpPr>
        <p:spPr>
          <a:xfrm>
            <a:off x="3834704" y="22420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Knowledge Base</a:t>
            </a:r>
            <a:endParaRPr lang="fr-FR" sz="1000" noProof="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AED8CB6A-E052-77B2-1821-9CF45F4EFF96}"/>
              </a:ext>
            </a:extLst>
          </p:cNvPr>
          <p:cNvSpPr/>
          <p:nvPr/>
        </p:nvSpPr>
        <p:spPr>
          <a:xfrm>
            <a:off x="3816416" y="2516367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FF0000"/>
                </a:solidFill>
              </a:rPr>
              <a:t>Retourne les </a:t>
            </a:r>
            <a:r>
              <a:rPr lang="fr-FR" sz="850" noProof="0" dirty="0" err="1">
                <a:solidFill>
                  <a:srgbClr val="FF0000"/>
                </a:solidFill>
              </a:rPr>
              <a:t>chunks</a:t>
            </a:r>
            <a:r>
              <a:rPr lang="fr-FR" sz="850" noProof="0" dirty="0">
                <a:solidFill>
                  <a:srgbClr val="FF0000"/>
                </a:solidFill>
              </a:rPr>
              <a:t> </a:t>
            </a:r>
            <a:r>
              <a:rPr lang="fr-FR" sz="850" noProof="0" dirty="0">
                <a:solidFill>
                  <a:srgbClr val="64748B"/>
                </a:solidFill>
              </a:rPr>
              <a:t>(morceaux) pertinents</a:t>
            </a:r>
            <a:endParaRPr lang="fr-FR" sz="850" noProof="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5C21697F-EEC3-CDF8-613D-DB7A05B14250}"/>
              </a:ext>
            </a:extLst>
          </p:cNvPr>
          <p:cNvSpPr/>
          <p:nvPr/>
        </p:nvSpPr>
        <p:spPr>
          <a:xfrm>
            <a:off x="5663504" y="989319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:a16="http://schemas.microsoft.com/office/drawing/2014/main" id="{487D235B-E676-CEE2-BAA8-B5E3D16DF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352" y="1327460"/>
            <a:ext cx="475488" cy="475488"/>
          </a:xfrm>
          <a:prstGeom prst="rect">
            <a:avLst/>
          </a:prstGeom>
        </p:spPr>
      </p:pic>
      <p:sp>
        <p:nvSpPr>
          <p:cNvPr id="60" name="Text 15">
            <a:extLst>
              <a:ext uri="{FF2B5EF4-FFF2-40B4-BE49-F238E27FC236}">
                <a16:creationId xmlns:a16="http://schemas.microsoft.com/office/drawing/2014/main" id="{09E14CD3-79C6-69D5-8989-95DD29F9BA30}"/>
              </a:ext>
            </a:extLst>
          </p:cNvPr>
          <p:cNvSpPr/>
          <p:nvPr/>
        </p:nvSpPr>
        <p:spPr>
          <a:xfrm>
            <a:off x="5553776" y="22420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LLM (IA)</a:t>
            </a:r>
            <a:endParaRPr lang="fr-FR" sz="1000" noProof="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52AD7929-497F-ACDF-3BB0-70B872BFFFCE}"/>
              </a:ext>
            </a:extLst>
          </p:cNvPr>
          <p:cNvSpPr/>
          <p:nvPr/>
        </p:nvSpPr>
        <p:spPr>
          <a:xfrm>
            <a:off x="5535488" y="2516367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fr-FR" sz="850" noProof="0" dirty="0" err="1">
                <a:solidFill>
                  <a:srgbClr val="64748B"/>
                </a:solidFill>
              </a:rPr>
              <a:t>chunks</a:t>
            </a:r>
            <a:r>
              <a:rPr lang="fr-FR" sz="850" noProof="0" dirty="0">
                <a:solidFill>
                  <a:srgbClr val="64748B"/>
                </a:solidFill>
              </a:rPr>
              <a:t> trouvés</a:t>
            </a:r>
            <a:endParaRPr lang="fr-FR" sz="850" noProof="0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346053BF-535F-BD9D-8D13-C294DBB3D69C}"/>
              </a:ext>
            </a:extLst>
          </p:cNvPr>
          <p:cNvSpPr/>
          <p:nvPr/>
        </p:nvSpPr>
        <p:spPr>
          <a:xfrm>
            <a:off x="7382576" y="989319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64" name="Image 8" descr="preencoded.png">
            <a:extLst>
              <a:ext uri="{FF2B5EF4-FFF2-40B4-BE49-F238E27FC236}">
                <a16:creationId xmlns:a16="http://schemas.microsoft.com/office/drawing/2014/main" id="{1A428546-4700-F55A-4C1C-C7841D7CC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0048" y="1349845"/>
            <a:ext cx="475488" cy="475488"/>
          </a:xfrm>
          <a:prstGeom prst="rect">
            <a:avLst/>
          </a:prstGeom>
        </p:spPr>
      </p:pic>
      <p:sp>
        <p:nvSpPr>
          <p:cNvPr id="65" name="Text 18">
            <a:extLst>
              <a:ext uri="{FF2B5EF4-FFF2-40B4-BE49-F238E27FC236}">
                <a16:creationId xmlns:a16="http://schemas.microsoft.com/office/drawing/2014/main" id="{02E95767-65B9-1BCF-9CD6-57A4446D5703}"/>
              </a:ext>
            </a:extLst>
          </p:cNvPr>
          <p:cNvSpPr/>
          <p:nvPr/>
        </p:nvSpPr>
        <p:spPr>
          <a:xfrm>
            <a:off x="7272848" y="22420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Réponse</a:t>
            </a:r>
            <a:endParaRPr lang="fr-FR" sz="1000" noProof="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5CC0DF8B-FE84-308E-3389-C2D3B45BC96C}"/>
              </a:ext>
            </a:extLst>
          </p:cNvPr>
          <p:cNvSpPr/>
          <p:nvPr/>
        </p:nvSpPr>
        <p:spPr>
          <a:xfrm>
            <a:off x="7254560" y="2516367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Réponse + sources</a:t>
            </a:r>
            <a:endParaRPr lang="fr-FR" sz="850" noProof="0" dirty="0"/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729AFA25-A9D2-8302-C579-59F89E7EC085}"/>
              </a:ext>
            </a:extLst>
          </p:cNvPr>
          <p:cNvSpPr/>
          <p:nvPr/>
        </p:nvSpPr>
        <p:spPr>
          <a:xfrm>
            <a:off x="579440" y="3211311"/>
            <a:ext cx="8412480" cy="13533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F3AB9FC1-DAA6-7DC2-2A77-69B735A984B3}"/>
              </a:ext>
            </a:extLst>
          </p:cNvPr>
          <p:cNvSpPr/>
          <p:nvPr/>
        </p:nvSpPr>
        <p:spPr>
          <a:xfrm>
            <a:off x="579440" y="3211311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8C3187E4-55C7-6A5D-3397-8B7819B98314}"/>
              </a:ext>
            </a:extLst>
          </p:cNvPr>
          <p:cNvSpPr/>
          <p:nvPr/>
        </p:nvSpPr>
        <p:spPr>
          <a:xfrm>
            <a:off x="780608" y="3284463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9488"/>
                </a:solidFill>
              </a:rPr>
              <a:t>Mon travail dans ce projet :</a:t>
            </a:r>
            <a:endParaRPr lang="fr-FR" sz="1100" noProof="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60DB63E4-469D-F935-6DE5-2D301BF2543D}"/>
              </a:ext>
            </a:extLst>
          </p:cNvPr>
          <p:cNvSpPr/>
          <p:nvPr/>
        </p:nvSpPr>
        <p:spPr>
          <a:xfrm>
            <a:off x="780608" y="3540495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B2A3B"/>
                </a:solidFill>
              </a:rPr>
              <a:t>Mon rôle </a:t>
            </a:r>
            <a:r>
              <a:rPr lang="fr-FR" sz="1100" noProof="0" dirty="0">
                <a:solidFill>
                  <a:srgbClr val="1B2A3B"/>
                </a:solidFill>
              </a:rPr>
              <a:t>= préparer les données qui alimentent la Knowledge Base. </a:t>
            </a:r>
          </a:p>
          <a:p>
            <a:pPr marL="0" indent="0">
              <a:buNone/>
            </a:pPr>
            <a:endParaRPr lang="fr-FR" sz="1100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Si les données sont mauvaises → les réponses sont Mauvaises </a:t>
            </a:r>
            <a:r>
              <a:rPr lang="fr-FR" sz="1100" b="1" dirty="0">
                <a:solidFill>
                  <a:srgbClr val="1B2A3B"/>
                </a:solidFill>
              </a:rPr>
              <a:t>,</a:t>
            </a:r>
            <a:r>
              <a:rPr lang="fr-FR" sz="1100" noProof="0" dirty="0">
                <a:solidFill>
                  <a:srgbClr val="1B2A3B"/>
                </a:solidFill>
              </a:rPr>
              <a:t> Si les données sont bonnes → les réponses sont bonnes.</a:t>
            </a:r>
            <a:endParaRPr lang="fr-FR" sz="1100" noProof="0" dirty="0"/>
          </a:p>
        </p:txBody>
      </p:sp>
      <p:pic>
        <p:nvPicPr>
          <p:cNvPr id="71" name="Graphic 91" descr="Arrow Right with solid fill">
            <a:extLst>
              <a:ext uri="{FF2B5EF4-FFF2-40B4-BE49-F238E27FC236}">
                <a16:creationId xmlns:a16="http://schemas.microsoft.com/office/drawing/2014/main" id="{B200B71F-8DA5-18B8-8676-DAD346F90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1848" y="1341038"/>
            <a:ext cx="370657" cy="370657"/>
          </a:xfrm>
          <a:prstGeom prst="rect">
            <a:avLst/>
          </a:prstGeom>
        </p:spPr>
      </p:pic>
      <p:pic>
        <p:nvPicPr>
          <p:cNvPr id="72" name="Graphic 123" descr="Arrow Right with solid fill">
            <a:extLst>
              <a:ext uri="{FF2B5EF4-FFF2-40B4-BE49-F238E27FC236}">
                <a16:creationId xmlns:a16="http://schemas.microsoft.com/office/drawing/2014/main" id="{BC91FCD7-7707-CA6E-AF5A-26C721FFE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0866" y="1361573"/>
            <a:ext cx="431535" cy="431535"/>
          </a:xfrm>
          <a:prstGeom prst="rect">
            <a:avLst/>
          </a:prstGeom>
        </p:spPr>
      </p:pic>
      <p:pic>
        <p:nvPicPr>
          <p:cNvPr id="73" name="Graphic 127" descr="Arrow Right with solid fill">
            <a:extLst>
              <a:ext uri="{FF2B5EF4-FFF2-40B4-BE49-F238E27FC236}">
                <a16:creationId xmlns:a16="http://schemas.microsoft.com/office/drawing/2014/main" id="{C4EE92BF-7A48-A6B6-ECD0-B68C02095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4109" y="1365515"/>
            <a:ext cx="417123" cy="417123"/>
          </a:xfrm>
          <a:prstGeom prst="rect">
            <a:avLst/>
          </a:prstGeom>
        </p:spPr>
      </p:pic>
      <p:pic>
        <p:nvPicPr>
          <p:cNvPr id="74" name="Graphic 129" descr="Arrow Right with solid fill">
            <a:extLst>
              <a:ext uri="{FF2B5EF4-FFF2-40B4-BE49-F238E27FC236}">
                <a16:creationId xmlns:a16="http://schemas.microsoft.com/office/drawing/2014/main" id="{C292C473-4F61-C435-01DF-97713D24C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77569" y="1353312"/>
            <a:ext cx="417157" cy="417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données traitées</a:t>
            </a:r>
            <a:endParaRPr lang="en-US" sz="22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EA3DCF04-0169-9DC6-1072-1AAA8C23092A}"/>
              </a:ext>
            </a:extLst>
          </p:cNvPr>
          <p:cNvSpPr/>
          <p:nvPr/>
        </p:nvSpPr>
        <p:spPr>
          <a:xfrm>
            <a:off x="320040" y="910809"/>
            <a:ext cx="3858768" cy="171093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40A5CE7-2269-F358-1B17-E6F9F2CDA671}"/>
              </a:ext>
            </a:extLst>
          </p:cNvPr>
          <p:cNvSpPr/>
          <p:nvPr/>
        </p:nvSpPr>
        <p:spPr>
          <a:xfrm>
            <a:off x="320040" y="910810"/>
            <a:ext cx="3858768" cy="407184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6125656D-EFC9-FEEC-435C-23951D082F72}"/>
              </a:ext>
            </a:extLst>
          </p:cNvPr>
          <p:cNvSpPr/>
          <p:nvPr/>
        </p:nvSpPr>
        <p:spPr>
          <a:xfrm>
            <a:off x="758952" y="97481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589"/>
                </a:solidFill>
              </a:rPr>
              <a:t>Issues GitHub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C60E2BE-3AB3-BE0B-5AAB-286656D81DB1}"/>
              </a:ext>
            </a:extLst>
          </p:cNvPr>
          <p:cNvSpPr/>
          <p:nvPr/>
        </p:nvSpPr>
        <p:spPr>
          <a:xfrm>
            <a:off x="3449120" y="97634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/>
              <a:t>300+</a:t>
            </a:r>
            <a:endParaRPr lang="fr-FR" sz="1100" noProof="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74BAC97-7D0A-CBDD-1A13-19A3B3247E76}"/>
              </a:ext>
            </a:extLst>
          </p:cNvPr>
          <p:cNvSpPr/>
          <p:nvPr/>
        </p:nvSpPr>
        <p:spPr>
          <a:xfrm>
            <a:off x="448056" y="149383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Bugs signalés par des utilisateurs : titre, description, commentaires, état (ouvert/résolu) , etc... </a:t>
            </a:r>
            <a:endParaRPr lang="fr-FR" sz="1050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FA6B42B-4368-F7D9-5744-0B644A8D6B6E}"/>
              </a:ext>
            </a:extLst>
          </p:cNvPr>
          <p:cNvSpPr/>
          <p:nvPr/>
        </p:nvSpPr>
        <p:spPr>
          <a:xfrm>
            <a:off x="452116" y="232668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0BE3AA3-9DE9-B35A-3688-4AA9D2EA0408}"/>
              </a:ext>
            </a:extLst>
          </p:cNvPr>
          <p:cNvSpPr/>
          <p:nvPr/>
        </p:nvSpPr>
        <p:spPr>
          <a:xfrm>
            <a:off x="4709160" y="862650"/>
            <a:ext cx="4114800" cy="17590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B6CFAE33-6053-9CD5-B320-4314B90331F4}"/>
              </a:ext>
            </a:extLst>
          </p:cNvPr>
          <p:cNvSpPr/>
          <p:nvPr/>
        </p:nvSpPr>
        <p:spPr>
          <a:xfrm>
            <a:off x="4709160" y="862650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37FE2E04-5F2A-E1E8-756A-691069CD1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926658"/>
            <a:ext cx="256032" cy="256032"/>
          </a:xfrm>
          <a:prstGeom prst="rect">
            <a:avLst/>
          </a:prstGeom>
        </p:spPr>
      </p:pic>
      <p:sp>
        <p:nvSpPr>
          <p:cNvPr id="30" name="Text 14">
            <a:extLst>
              <a:ext uri="{FF2B5EF4-FFF2-40B4-BE49-F238E27FC236}">
                <a16:creationId xmlns:a16="http://schemas.microsoft.com/office/drawing/2014/main" id="{642797A1-E144-897D-76B5-82F7E338D9F0}"/>
              </a:ext>
            </a:extLst>
          </p:cNvPr>
          <p:cNvSpPr/>
          <p:nvPr/>
        </p:nvSpPr>
        <p:spPr>
          <a:xfrm>
            <a:off x="5148072" y="92665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</a:rPr>
              <a:t>Fichiers techniques</a:t>
            </a:r>
            <a:endParaRPr lang="fr-FR" sz="1200" noProof="0" dirty="0">
              <a:solidFill>
                <a:srgbClr val="0D9488"/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62EAEC5F-D946-89DF-2D5D-36878D7EC376}"/>
              </a:ext>
            </a:extLst>
          </p:cNvPr>
          <p:cNvSpPr/>
          <p:nvPr/>
        </p:nvSpPr>
        <p:spPr>
          <a:xfrm>
            <a:off x="7927848" y="8992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/>
              <a:t>5 000+</a:t>
            </a:r>
            <a:endParaRPr lang="fr-FR" sz="1100" noProof="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9C71C138-5EBB-F170-406A-01F84A115FD1}"/>
              </a:ext>
            </a:extLst>
          </p:cNvPr>
          <p:cNvSpPr/>
          <p:nvPr/>
        </p:nvSpPr>
        <p:spPr>
          <a:xfrm>
            <a:off x="4814829" y="1433903"/>
            <a:ext cx="38811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sources techniques</a:t>
            </a:r>
            <a:r>
              <a:rPr lang="fr-FR" sz="1050" noProof="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fr-FR" sz="1050" noProof="0" dirty="0" err="1">
                <a:solidFill>
                  <a:srgbClr val="1B2A3B"/>
                </a:solidFill>
              </a:rPr>
              <a:t>inc</a:t>
            </a:r>
            <a:r>
              <a:rPr lang="fr-FR" sz="1050" noProof="0" dirty="0">
                <a:solidFill>
                  <a:srgbClr val="1B2A3B"/>
                </a:solidFill>
              </a:rPr>
              <a:t>, </a:t>
            </a:r>
            <a:r>
              <a:rPr lang="fr-FR" sz="1050" noProof="0" dirty="0" err="1">
                <a:solidFill>
                  <a:srgbClr val="1B2A3B"/>
                </a:solidFill>
              </a:rPr>
              <a:t>include</a:t>
            </a:r>
            <a:r>
              <a:rPr lang="fr-FR" sz="1050" noProof="0" dirty="0">
                <a:solidFill>
                  <a:srgbClr val="1B2A3B"/>
                </a:solidFill>
              </a:rPr>
              <a:t>/source, BSP </a:t>
            </a:r>
            <a:r>
              <a:rPr lang="fr-FR" sz="1050" noProof="0" dirty="0" err="1">
                <a:solidFill>
                  <a:srgbClr val="1B2A3B"/>
                </a:solidFill>
              </a:rPr>
              <a:t>board</a:t>
            </a:r>
            <a:r>
              <a:rPr lang="fr-FR" sz="1050" noProof="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docs techniques</a:t>
            </a:r>
            <a:r>
              <a:rPr lang="fr-FR" sz="1050" noProof="0" dirty="0">
                <a:solidFill>
                  <a:srgbClr val="1B2A3B"/>
                </a:solidFill>
              </a:rPr>
              <a:t>: release notes, </a:t>
            </a:r>
            <a:r>
              <a:rPr lang="fr-FR" sz="1050" noProof="0" dirty="0" err="1">
                <a:solidFill>
                  <a:srgbClr val="1B2A3B"/>
                </a:solidFill>
              </a:rPr>
              <a:t>readme</a:t>
            </a:r>
            <a:r>
              <a:rPr lang="fr-FR" sz="1050" noProof="0" dirty="0">
                <a:solidFill>
                  <a:srgbClr val="1B2A3B"/>
                </a:solidFill>
              </a:rPr>
              <a:t> projet, documentation PDF.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b="1" noProof="0" dirty="0">
                <a:solidFill>
                  <a:srgbClr val="1B2A3B"/>
                </a:solidFill>
              </a:rPr>
              <a:t>Des fichiers de configuration/</a:t>
            </a:r>
            <a:r>
              <a:rPr lang="fr-FR" sz="1050" b="1" noProof="0" dirty="0" err="1">
                <a:solidFill>
                  <a:srgbClr val="1B2A3B"/>
                </a:solidFill>
              </a:rPr>
              <a:t>metadata</a:t>
            </a:r>
            <a:r>
              <a:rPr lang="fr-FR" sz="1050" b="1" noProof="0" dirty="0">
                <a:solidFill>
                  <a:srgbClr val="1B2A3B"/>
                </a:solidFill>
              </a:rPr>
              <a:t> utiles au contexte</a:t>
            </a:r>
            <a:r>
              <a:rPr lang="fr-FR" sz="1050" noProof="0" dirty="0">
                <a:solidFill>
                  <a:srgbClr val="1B2A3B"/>
                </a:solidFill>
              </a:rPr>
              <a:t>: package.xml, </a:t>
            </a:r>
            <a:r>
              <a:rPr lang="fr-FR" sz="1050" noProof="0" dirty="0" err="1">
                <a:solidFill>
                  <a:srgbClr val="1B2A3B"/>
                </a:solidFill>
              </a:rPr>
              <a:t>sbom</a:t>
            </a:r>
            <a:r>
              <a:rPr lang="fr-FR" sz="1050" noProof="0" dirty="0">
                <a:solidFill>
                  <a:srgbClr val="1B2A3B"/>
                </a:solidFill>
              </a:rPr>
              <a:t>, </a:t>
            </a:r>
            <a:r>
              <a:rPr lang="fr-FR" sz="1050" noProof="0" dirty="0" err="1">
                <a:solidFill>
                  <a:srgbClr val="1B2A3B"/>
                </a:solidFill>
              </a:rPr>
              <a:t>security</a:t>
            </a:r>
            <a:r>
              <a:rPr lang="fr-FR" sz="1050" noProof="0" dirty="0">
                <a:solidFill>
                  <a:srgbClr val="1B2A3B"/>
                </a:solidFill>
              </a:rPr>
              <a:t>, etc.</a:t>
            </a:r>
            <a:endParaRPr lang="fr-FR" sz="1050" noProof="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96C69AEC-FBD9-8EAD-A5BD-27E577FA8145}"/>
              </a:ext>
            </a:extLst>
          </p:cNvPr>
          <p:cNvSpPr/>
          <p:nvPr/>
        </p:nvSpPr>
        <p:spPr>
          <a:xfrm>
            <a:off x="4816406" y="237884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4D2C3C01-3922-9A65-B5F1-6CFD8E5B4AF8}"/>
              </a:ext>
            </a:extLst>
          </p:cNvPr>
          <p:cNvSpPr/>
          <p:nvPr/>
        </p:nvSpPr>
        <p:spPr>
          <a:xfrm>
            <a:off x="485774" y="3338641"/>
            <a:ext cx="3853662" cy="1476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4101BB6A-F0F6-91D4-A1B8-074228A3AF9C}"/>
              </a:ext>
            </a:extLst>
          </p:cNvPr>
          <p:cNvSpPr/>
          <p:nvPr/>
        </p:nvSpPr>
        <p:spPr>
          <a:xfrm>
            <a:off x="450609" y="3085618"/>
            <a:ext cx="3853662" cy="35587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B4EFBF1B-CC24-5AE6-FAF5-31DA9DCB1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74" y="2985621"/>
            <a:ext cx="210312" cy="210312"/>
          </a:xfrm>
          <a:prstGeom prst="rect">
            <a:avLst/>
          </a:prstGeom>
        </p:spPr>
      </p:pic>
      <p:sp>
        <p:nvSpPr>
          <p:cNvPr id="37" name="Text 21">
            <a:extLst>
              <a:ext uri="{FF2B5EF4-FFF2-40B4-BE49-F238E27FC236}">
                <a16:creationId xmlns:a16="http://schemas.microsoft.com/office/drawing/2014/main" id="{5F862556-89BC-6418-D034-E9EB09B2A913}"/>
              </a:ext>
            </a:extLst>
          </p:cNvPr>
          <p:cNvSpPr/>
          <p:nvPr/>
        </p:nvSpPr>
        <p:spPr>
          <a:xfrm>
            <a:off x="750493" y="31044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0D9488"/>
                </a:solidFill>
              </a:rPr>
              <a:t>PRs</a:t>
            </a:r>
            <a:r>
              <a:rPr lang="fr-FR" sz="1200" b="1" noProof="0" dirty="0">
                <a:solidFill>
                  <a:srgbClr val="0D9488"/>
                </a:solidFill>
              </a:rPr>
              <a:t> &amp; </a:t>
            </a:r>
            <a:r>
              <a:rPr lang="fr-FR" sz="1200" b="1" noProof="0" dirty="0" err="1">
                <a:solidFill>
                  <a:srgbClr val="0D9488"/>
                </a:solidFill>
              </a:rPr>
              <a:t>Commits</a:t>
            </a:r>
            <a:endParaRPr lang="fr-FR" sz="1200" noProof="0" dirty="0">
              <a:solidFill>
                <a:srgbClr val="0D9488"/>
              </a:solidFill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6965E6AC-87F8-E0B8-3D4F-73E729D23E42}"/>
              </a:ext>
            </a:extLst>
          </p:cNvPr>
          <p:cNvSpPr/>
          <p:nvPr/>
        </p:nvSpPr>
        <p:spPr>
          <a:xfrm>
            <a:off x="2842376" y="3135120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chemeClr val="bg1"/>
                </a:solidFill>
              </a:rPr>
              <a:t>Resolver</a:t>
            </a:r>
            <a:r>
              <a:rPr lang="fr-FR" sz="1100" b="1" noProof="0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fr-FR" sz="1100" noProof="0" dirty="0">
              <a:solidFill>
                <a:schemeClr val="bg1"/>
              </a:solidFill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ECCAD1FD-973C-644F-0794-017E61CF1D0C}"/>
              </a:ext>
            </a:extLst>
          </p:cNvPr>
          <p:cNvSpPr/>
          <p:nvPr/>
        </p:nvSpPr>
        <p:spPr>
          <a:xfrm>
            <a:off x="453162" y="3360525"/>
            <a:ext cx="3001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Quand un bug est résolu, on retrouve le PR et le commit qui apportent la correction confirmée</a:t>
            </a:r>
            <a:endParaRPr lang="fr-FR" sz="1050" noProof="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EA583BA1-9F66-3D70-F881-C92D391317F8}"/>
              </a:ext>
            </a:extLst>
          </p:cNvPr>
          <p:cNvSpPr/>
          <p:nvPr/>
        </p:nvSpPr>
        <p:spPr>
          <a:xfrm>
            <a:off x="457222" y="408383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 i="1" noProof="0" dirty="0">
                <a:solidFill>
                  <a:srgbClr val="64748B"/>
                </a:solidFill>
              </a:rPr>
              <a:t>Source : STM32Cube - Tous les repos</a:t>
            </a:r>
            <a:endParaRPr lang="fr-FR" sz="850" noProof="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E3B3E4A0-2E58-44AD-60BB-F73AC55142E1}"/>
              </a:ext>
            </a:extLst>
          </p:cNvPr>
          <p:cNvSpPr/>
          <p:nvPr/>
        </p:nvSpPr>
        <p:spPr>
          <a:xfrm>
            <a:off x="4912840" y="3166723"/>
            <a:ext cx="4013506" cy="1379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5370773E-1D20-9E42-A607-7D78CEDBB28A}"/>
              </a:ext>
            </a:extLst>
          </p:cNvPr>
          <p:cNvSpPr/>
          <p:nvPr/>
        </p:nvSpPr>
        <p:spPr>
          <a:xfrm>
            <a:off x="4912841" y="3166723"/>
            <a:ext cx="4013506" cy="413234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910B2112-6A00-93A5-23ED-582B590BE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568" y="3259941"/>
            <a:ext cx="237744" cy="237744"/>
          </a:xfrm>
          <a:prstGeom prst="rect">
            <a:avLst/>
          </a:prstGeom>
        </p:spPr>
      </p:pic>
      <p:sp>
        <p:nvSpPr>
          <p:cNvPr id="44" name="Text 28">
            <a:extLst>
              <a:ext uri="{FF2B5EF4-FFF2-40B4-BE49-F238E27FC236}">
                <a16:creationId xmlns:a16="http://schemas.microsoft.com/office/drawing/2014/main" id="{A1F693A5-AFE9-E323-32C9-32C999D892D7}"/>
              </a:ext>
            </a:extLst>
          </p:cNvPr>
          <p:cNvSpPr/>
          <p:nvPr/>
        </p:nvSpPr>
        <p:spPr>
          <a:xfrm>
            <a:off x="5351752" y="325994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0D9589"/>
                </a:solidFill>
              </a:rPr>
              <a:t>D</a:t>
            </a:r>
            <a:r>
              <a:rPr lang="fr-FR" sz="1200" b="1" noProof="0" dirty="0" err="1">
                <a:solidFill>
                  <a:srgbClr val="0D9589"/>
                </a:solidFill>
              </a:rPr>
              <a:t>iagnostic</a:t>
            </a:r>
            <a:r>
              <a:rPr lang="fr-FR" sz="1200" b="1" noProof="0" dirty="0">
                <a:solidFill>
                  <a:srgbClr val="0D9589"/>
                </a:solidFill>
              </a:rPr>
              <a:t> </a:t>
            </a:r>
            <a:r>
              <a:rPr lang="fr-FR" sz="1200" b="1" noProof="0" dirty="0" err="1">
                <a:solidFill>
                  <a:srgbClr val="0D9589"/>
                </a:solidFill>
              </a:rPr>
              <a:t>cards</a:t>
            </a:r>
            <a:endParaRPr lang="fr-FR" sz="1200" noProof="0" dirty="0">
              <a:solidFill>
                <a:srgbClr val="0D9589"/>
              </a:solidFill>
            </a:endParaRPr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764A2365-4941-7475-E9CE-DBA475E3251F}"/>
              </a:ext>
            </a:extLst>
          </p:cNvPr>
          <p:cNvSpPr/>
          <p:nvPr/>
        </p:nvSpPr>
        <p:spPr>
          <a:xfrm>
            <a:off x="7036424" y="3223365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</a:rPr>
              <a:t>Couche intelligente ajouté </a:t>
            </a:r>
            <a:endParaRPr lang="fr-FR" sz="1100" noProof="0" dirty="0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07FF5960-32B2-BE88-A699-9605E11C752D}"/>
              </a:ext>
            </a:extLst>
          </p:cNvPr>
          <p:cNvSpPr/>
          <p:nvPr/>
        </p:nvSpPr>
        <p:spPr>
          <a:xfrm>
            <a:off x="5067578" y="3557705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B2A3B"/>
                </a:solidFill>
              </a:rPr>
              <a:t>Des fiches structurées : Problème → Preuve → Solution. Construites automatiquement à partir des issues résolues</a:t>
            </a:r>
            <a:endParaRPr lang="fr-FR" sz="1050" noProof="0" dirty="0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25EA5850-52FE-B2DB-F161-1A869B6EB2A9}"/>
              </a:ext>
            </a:extLst>
          </p:cNvPr>
          <p:cNvSpPr/>
          <p:nvPr/>
        </p:nvSpPr>
        <p:spPr>
          <a:xfrm>
            <a:off x="5067578" y="4268407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64748B"/>
                </a:solidFill>
              </a:rPr>
              <a:t>Source : Généré par pipeline</a:t>
            </a:r>
            <a:endParaRPr lang="fr-FR" sz="850" noProof="0" dirty="0"/>
          </a:p>
        </p:txBody>
      </p:sp>
      <p:pic>
        <p:nvPicPr>
          <p:cNvPr id="48" name="Graphic 35" descr="Exclamation mark with solid fill">
            <a:extLst>
              <a:ext uri="{FF2B5EF4-FFF2-40B4-BE49-F238E27FC236}">
                <a16:creationId xmlns:a16="http://schemas.microsoft.com/office/drawing/2014/main" id="{CCE1FCC2-29DF-3BD2-B1D7-6816BCE81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890" y="967662"/>
            <a:ext cx="219456" cy="219456"/>
          </a:xfrm>
          <a:prstGeom prst="rect">
            <a:avLst/>
          </a:prstGeom>
        </p:spPr>
      </p:pic>
      <p:sp>
        <p:nvSpPr>
          <p:cNvPr id="49" name="Plus Sign 4">
            <a:extLst>
              <a:ext uri="{FF2B5EF4-FFF2-40B4-BE49-F238E27FC236}">
                <a16:creationId xmlns:a16="http://schemas.microsoft.com/office/drawing/2014/main" id="{DE96F50F-A7BD-2B5C-766A-DF561C89D333}"/>
              </a:ext>
            </a:extLst>
          </p:cNvPr>
          <p:cNvSpPr/>
          <p:nvPr/>
        </p:nvSpPr>
        <p:spPr>
          <a:xfrm>
            <a:off x="4339436" y="2663036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0" name="TextBox 14">
            <a:extLst>
              <a:ext uri="{FF2B5EF4-FFF2-40B4-BE49-F238E27FC236}">
                <a16:creationId xmlns:a16="http://schemas.microsoft.com/office/drawing/2014/main" id="{A82AAC45-7687-7BB5-3C90-FEF5D9323610}"/>
              </a:ext>
            </a:extLst>
          </p:cNvPr>
          <p:cNvSpPr txBox="1"/>
          <p:nvPr/>
        </p:nvSpPr>
        <p:spPr>
          <a:xfrm>
            <a:off x="197886" y="4712109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1" u="sng" dirty="0">
                <a:effectLst/>
              </a:rPr>
              <a:t>Pour chaque série STM32Cube</a:t>
            </a:r>
            <a:r>
              <a:rPr lang="fr-FR" sz="1200" b="1" i="1" u="sng" dirty="0"/>
              <a:t> </a:t>
            </a:r>
            <a:r>
              <a:rPr lang="fr-FR" sz="1200" dirty="0"/>
              <a:t>: </a:t>
            </a:r>
            <a:r>
              <a:rPr lang="fr-FR" sz="1200" b="0" i="0" dirty="0">
                <a:effectLst/>
              </a:rPr>
              <a:t>nous unifions 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fr-FR" sz="1200" b="1" i="0" dirty="0">
                <a:effectLst/>
              </a:rPr>
              <a:t>,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 et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fr-FR" sz="1200" b="0" i="0" dirty="0">
                <a:effectLst/>
              </a:rPr>
              <a:t>afin de produire des </a:t>
            </a:r>
            <a:r>
              <a:rPr lang="fr-FR" sz="1200" b="1" dirty="0">
                <a:solidFill>
                  <a:srgbClr val="0D9589"/>
                </a:solidFill>
              </a:rPr>
              <a:t>d</a:t>
            </a:r>
            <a:r>
              <a:rPr lang="fr-FR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fr-FR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fr-FR" sz="1200" b="1" dirty="0">
                <a:solidFill>
                  <a:srgbClr val="0D9589"/>
                </a:solidFill>
              </a:rPr>
              <a:t> </a:t>
            </a:r>
            <a:r>
              <a:rPr lang="fr-FR" sz="1200" b="0" i="0" dirty="0">
                <a:effectLst/>
              </a:rPr>
              <a:t>traçables et actionnables.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donnée de qualité ?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355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nécessaire pour que le RAG réponde correctement.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15153" y="996696"/>
            <a:ext cx="8686800" cy="777240"/>
          </a:xfrm>
          <a:prstGeom prst="rect">
            <a:avLst/>
          </a:prstGeom>
          <a:solidFill>
            <a:srgbClr val="1A2B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15153" y="996696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98033" y="1024128"/>
            <a:ext cx="8366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est de qualité si elle est </a:t>
            </a:r>
            <a:r>
              <a:rPr lang="fr-FR" sz="11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structurée, complète, exacte, cohérente et exploitable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le moteur RAG. Dans notre contexte STM32, une donnée de mauvaise qualité injectée dans la Knowledge Base produit directement une </a:t>
            </a:r>
            <a:r>
              <a:rPr lang="fr-FR" sz="11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réponse a l’</a:t>
            </a:r>
            <a:r>
              <a:rPr lang="fr-FR" sz="110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</a:t>
            </a: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peu importe la puissance du modèle LLM.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1856232"/>
            <a:ext cx="86868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GIGO : "Garbage In, Garbage Out"</a:t>
            </a:r>
            <a:r>
              <a:rPr lang="fr-FR" sz="1000" noProof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LLM puissant avec de mauvaises données produit de mauvaises réponses. La qualité des données est la première responsabilité du pipeline.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201168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201168" y="2304288"/>
            <a:ext cx="1664208" cy="438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201168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fr-FR" sz="13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83464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17" name="Text 15"/>
          <p:cNvSpPr/>
          <p:nvPr/>
        </p:nvSpPr>
        <p:spPr>
          <a:xfrm>
            <a:off x="283464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champs attendus sont présents :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issue_title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github_url</a:t>
            </a:r>
            <a:endParaRPr lang="fr-FR" sz="800" noProof="0" dirty="0"/>
          </a:p>
        </p:txBody>
      </p:sp>
      <p:sp>
        <p:nvSpPr>
          <p:cNvPr id="18" name="Shape 16"/>
          <p:cNvSpPr/>
          <p:nvPr/>
        </p:nvSpPr>
        <p:spPr>
          <a:xfrm>
            <a:off x="265176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283464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20" name="Text 18"/>
          <p:cNvSpPr/>
          <p:nvPr/>
        </p:nvSpPr>
        <p:spPr>
          <a:xfrm>
            <a:off x="283464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vide, titre manquant</a:t>
            </a:r>
            <a:endParaRPr lang="fr-FR" sz="800" noProof="0" dirty="0"/>
          </a:p>
        </p:txBody>
      </p:sp>
      <p:sp>
        <p:nvSpPr>
          <p:cNvPr id="21" name="Shape 19"/>
          <p:cNvSpPr/>
          <p:nvPr/>
        </p:nvSpPr>
        <p:spPr>
          <a:xfrm>
            <a:off x="265176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83464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23" name="Text 21"/>
          <p:cNvSpPr/>
          <p:nvPr/>
        </p:nvSpPr>
        <p:spPr>
          <a:xfrm>
            <a:off x="283464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ne peut pas indexer le doc -&gt; réponse vide</a:t>
            </a:r>
            <a:endParaRPr lang="fr-FR" sz="800" noProof="0" dirty="0"/>
          </a:p>
        </p:txBody>
      </p:sp>
      <p:sp>
        <p:nvSpPr>
          <p:cNvPr id="24" name="Text 22"/>
          <p:cNvSpPr/>
          <p:nvPr/>
        </p:nvSpPr>
        <p:spPr>
          <a:xfrm>
            <a:off x="283464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Schema JSON : champs </a:t>
            </a:r>
            <a:r>
              <a:rPr lang="fr-FR" sz="750" b="1" noProof="0" dirty="0" err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r>
              <a:rPr lang="fr-FR" sz="7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vérifies</a:t>
            </a:r>
            <a:endParaRPr lang="fr-FR" sz="750" noProof="0" dirty="0"/>
          </a:p>
        </p:txBody>
      </p:sp>
      <p:sp>
        <p:nvSpPr>
          <p:cNvPr id="25" name="Shape 23"/>
          <p:cNvSpPr/>
          <p:nvPr/>
        </p:nvSpPr>
        <p:spPr>
          <a:xfrm>
            <a:off x="1956816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1956816" y="2304288"/>
            <a:ext cx="1664208" cy="438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1956816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304288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</a:t>
            </a:r>
            <a:endParaRPr lang="fr-FR" sz="13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20824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2039112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31" name="Text 29"/>
          <p:cNvSpPr/>
          <p:nvPr/>
        </p:nvSpPr>
        <p:spPr>
          <a:xfrm>
            <a:off x="2039112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correspondent a la réalité du ticket (layer,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component)</a:t>
            </a:r>
            <a:endParaRPr lang="fr-F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2020824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2039112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34" name="Text 32"/>
          <p:cNvSpPr/>
          <p:nvPr/>
        </p:nvSpPr>
        <p:spPr>
          <a:xfrm>
            <a:off x="2039112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layer=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HAL_Driver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alors que c est un bug BSP</a:t>
            </a:r>
            <a:endParaRPr lang="fr-FR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2020824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2039112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37" name="Text 35"/>
          <p:cNvSpPr/>
          <p:nvPr/>
        </p:nvSpPr>
        <p:spPr>
          <a:xfrm>
            <a:off x="2039112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oriente vers la mauvaise couche logicielle</a:t>
            </a:r>
            <a:endParaRPr lang="fr-FR" sz="800" noProof="0" dirty="0"/>
          </a:p>
        </p:txBody>
      </p:sp>
      <p:sp>
        <p:nvSpPr>
          <p:cNvPr id="38" name="Text 36"/>
          <p:cNvSpPr/>
          <p:nvPr/>
        </p:nvSpPr>
        <p:spPr>
          <a:xfrm>
            <a:off x="2039112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Enrichissement : classifier layer + </a:t>
            </a:r>
            <a:r>
              <a:rPr lang="fr-FR" sz="75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fr-FR" sz="750" noProof="0" dirty="0"/>
          </a:p>
        </p:txBody>
      </p:sp>
      <p:sp>
        <p:nvSpPr>
          <p:cNvPr id="39" name="Shape 37"/>
          <p:cNvSpPr/>
          <p:nvPr/>
        </p:nvSpPr>
        <p:spPr>
          <a:xfrm>
            <a:off x="3712464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3712464" y="2304288"/>
            <a:ext cx="1664208" cy="438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3712464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4059936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</a:t>
            </a:r>
            <a:endParaRPr lang="fr-FR" sz="13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776472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3794760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45" name="Text 43"/>
          <p:cNvSpPr/>
          <p:nvPr/>
        </p:nvSpPr>
        <p:spPr>
          <a:xfrm>
            <a:off x="3794760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bruit parasite : pas de HTML, pas de 'Hi @user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!'</a:t>
            </a:r>
            <a:endParaRPr lang="fr-FR" sz="800" noProof="0" dirty="0"/>
          </a:p>
        </p:txBody>
      </p:sp>
      <p:sp>
        <p:nvSpPr>
          <p:cNvPr id="46" name="Shape 44"/>
          <p:cNvSpPr/>
          <p:nvPr/>
        </p:nvSpPr>
        <p:spPr>
          <a:xfrm>
            <a:off x="3776472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3794760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48" name="Text 46"/>
          <p:cNvSpPr/>
          <p:nvPr/>
        </p:nvSpPr>
        <p:spPr>
          <a:xfrm>
            <a:off x="3794760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plein de balises HTML et de formules de politesse</a:t>
            </a:r>
            <a:endParaRPr lang="fr-FR" sz="800" noProof="0" dirty="0"/>
          </a:p>
        </p:txBody>
      </p:sp>
      <p:sp>
        <p:nvSpPr>
          <p:cNvPr id="49" name="Shape 47"/>
          <p:cNvSpPr/>
          <p:nvPr/>
        </p:nvSpPr>
        <p:spPr>
          <a:xfrm>
            <a:off x="3776472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3794760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51" name="Text 49"/>
          <p:cNvSpPr/>
          <p:nvPr/>
        </p:nvSpPr>
        <p:spPr>
          <a:xfrm>
            <a:off x="3794760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vectorise le bruit -&gt;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mauvais voisins</a:t>
            </a:r>
            <a:endParaRPr lang="fr-FR" sz="800" noProof="0" dirty="0"/>
          </a:p>
        </p:txBody>
      </p:sp>
      <p:sp>
        <p:nvSpPr>
          <p:cNvPr id="52" name="Text 50"/>
          <p:cNvSpPr/>
          <p:nvPr/>
        </p:nvSpPr>
        <p:spPr>
          <a:xfrm>
            <a:off x="3794760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fr-FR" sz="7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=True + filtre </a:t>
            </a:r>
            <a:r>
              <a:rPr lang="fr-FR" sz="7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looks_like_conversational_noise</a:t>
            </a:r>
            <a:r>
              <a:rPr lang="fr-FR" sz="7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fr-FR" sz="750" noProof="0" dirty="0"/>
          </a:p>
        </p:txBody>
      </p:sp>
      <p:sp>
        <p:nvSpPr>
          <p:cNvPr id="53" name="Shape 51"/>
          <p:cNvSpPr/>
          <p:nvPr/>
        </p:nvSpPr>
        <p:spPr>
          <a:xfrm>
            <a:off x="5468112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Shape 52"/>
          <p:cNvSpPr/>
          <p:nvPr/>
        </p:nvSpPr>
        <p:spPr>
          <a:xfrm>
            <a:off x="5468112" y="2304288"/>
            <a:ext cx="1664208" cy="438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5468112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15584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Cohérente</a:t>
            </a:r>
            <a:endParaRPr lang="fr-FR" sz="13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532120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Text 56"/>
          <p:cNvSpPr/>
          <p:nvPr/>
        </p:nvSpPr>
        <p:spPr>
          <a:xfrm>
            <a:off x="5550408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59" name="Text 57"/>
          <p:cNvSpPr/>
          <p:nvPr/>
        </p:nvSpPr>
        <p:spPr>
          <a:xfrm>
            <a:off x="5550408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métadonnées sont alignées : component,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layer compatibles entre eux</a:t>
            </a:r>
            <a:endParaRPr lang="fr-FR" sz="800" noProof="0" dirty="0"/>
          </a:p>
        </p:txBody>
      </p:sp>
      <p:sp>
        <p:nvSpPr>
          <p:cNvPr id="60" name="Shape 58"/>
          <p:cNvSpPr/>
          <p:nvPr/>
        </p:nvSpPr>
        <p:spPr>
          <a:xfrm>
            <a:off x="5532120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5550408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62" name="Text 60"/>
          <p:cNvSpPr/>
          <p:nvPr/>
        </p:nvSpPr>
        <p:spPr>
          <a:xfrm>
            <a:off x="5550408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component=SPI mais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périphérique SPI</a:t>
            </a:r>
            <a:endParaRPr lang="fr-FR" sz="800" noProof="0" dirty="0"/>
          </a:p>
        </p:txBody>
      </p:sp>
      <p:sp>
        <p:nvSpPr>
          <p:cNvPr id="63" name="Shape 61"/>
          <p:cNvSpPr/>
          <p:nvPr/>
        </p:nvSpPr>
        <p:spPr>
          <a:xfrm>
            <a:off x="5532120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62"/>
          <p:cNvSpPr/>
          <p:nvPr/>
        </p:nvSpPr>
        <p:spPr>
          <a:xfrm>
            <a:off x="5550408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65" name="Text 63"/>
          <p:cNvSpPr/>
          <p:nvPr/>
        </p:nvSpPr>
        <p:spPr>
          <a:xfrm>
            <a:off x="5550408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debug_checks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incohérents avec le vrai setup hardware</a:t>
            </a:r>
            <a:endParaRPr lang="fr-FR" sz="800" noProof="0" dirty="0"/>
          </a:p>
        </p:txBody>
      </p:sp>
      <p:sp>
        <p:nvSpPr>
          <p:cNvPr id="66" name="Text 64"/>
          <p:cNvSpPr/>
          <p:nvPr/>
        </p:nvSpPr>
        <p:spPr>
          <a:xfrm>
            <a:off x="5550408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Stats V2 : vérification croisée </a:t>
            </a:r>
            <a:r>
              <a:rPr lang="fr-FR" sz="750" b="1" noProof="0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750" b="1" noProof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component</a:t>
            </a:r>
            <a:endParaRPr lang="fr-FR" sz="750" noProof="0" dirty="0"/>
          </a:p>
        </p:txBody>
      </p:sp>
      <p:sp>
        <p:nvSpPr>
          <p:cNvPr id="67" name="Shape 65"/>
          <p:cNvSpPr/>
          <p:nvPr/>
        </p:nvSpPr>
        <p:spPr>
          <a:xfrm>
            <a:off x="7223760" y="2304288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Shape 66"/>
          <p:cNvSpPr/>
          <p:nvPr/>
        </p:nvSpPr>
        <p:spPr>
          <a:xfrm>
            <a:off x="7223760" y="2304288"/>
            <a:ext cx="1664208" cy="438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9" name="Text 67"/>
          <p:cNvSpPr/>
          <p:nvPr/>
        </p:nvSpPr>
        <p:spPr>
          <a:xfrm>
            <a:off x="7223760" y="23225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7571232" y="2386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</a:t>
            </a:r>
            <a:endParaRPr lang="fr-FR" sz="13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287768" y="2807208"/>
            <a:ext cx="1536192" cy="1828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7306056" y="281635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veut dire</a:t>
            </a:r>
            <a:endParaRPr lang="fr-FR" sz="700" noProof="0" dirty="0"/>
          </a:p>
        </p:txBody>
      </p:sp>
      <p:sp>
        <p:nvSpPr>
          <p:cNvPr id="73" name="Text 71"/>
          <p:cNvSpPr/>
          <p:nvPr/>
        </p:nvSpPr>
        <p:spPr>
          <a:xfrm>
            <a:off x="7306056" y="30083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technique suffisante : nom de fonction, périphérique, symptôme identifiable</a:t>
            </a:r>
            <a:endParaRPr lang="fr-FR" sz="800" noProof="0" dirty="0"/>
          </a:p>
        </p:txBody>
      </p:sp>
      <p:sp>
        <p:nvSpPr>
          <p:cNvPr id="74" name="Shape 72"/>
          <p:cNvSpPr/>
          <p:nvPr/>
        </p:nvSpPr>
        <p:spPr>
          <a:xfrm>
            <a:off x="7287768" y="3465576"/>
            <a:ext cx="1536192" cy="18288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Text 73"/>
          <p:cNvSpPr/>
          <p:nvPr/>
        </p:nvSpPr>
        <p:spPr>
          <a:xfrm>
            <a:off x="7306056" y="3474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qualité : exemple</a:t>
            </a:r>
            <a:endParaRPr lang="fr-FR" sz="700" noProof="0" dirty="0"/>
          </a:p>
        </p:txBody>
      </p:sp>
      <p:sp>
        <p:nvSpPr>
          <p:cNvPr id="76" name="Text 74"/>
          <p:cNvSpPr/>
          <p:nvPr/>
        </p:nvSpPr>
        <p:spPr>
          <a:xfrm>
            <a:off x="7306056" y="36758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 3 mots sans aucun terme technique</a:t>
            </a:r>
            <a:endParaRPr lang="fr-FR" sz="800" noProof="0" dirty="0"/>
          </a:p>
        </p:txBody>
      </p:sp>
      <p:sp>
        <p:nvSpPr>
          <p:cNvPr id="77" name="Shape 75"/>
          <p:cNvSpPr/>
          <p:nvPr/>
        </p:nvSpPr>
        <p:spPr>
          <a:xfrm>
            <a:off x="7287768" y="4041648"/>
            <a:ext cx="1536192" cy="1828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7306056" y="4050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RAG</a:t>
            </a:r>
            <a:endParaRPr lang="fr-FR" sz="700" noProof="0" dirty="0"/>
          </a:p>
        </p:txBody>
      </p:sp>
      <p:sp>
        <p:nvSpPr>
          <p:cNvPr id="79" name="Text 77"/>
          <p:cNvSpPr/>
          <p:nvPr/>
        </p:nvSpPr>
        <p:spPr>
          <a:xfrm>
            <a:off x="7306056" y="4251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TF-IDF trop bas -&gt; jamais retrouvée -&gt; invisible pour le RAG</a:t>
            </a:r>
            <a:endParaRPr lang="fr-FR" sz="800" noProof="0" dirty="0"/>
          </a:p>
        </p:txBody>
      </p:sp>
      <p:sp>
        <p:nvSpPr>
          <p:cNvPr id="80" name="Text 78"/>
          <p:cNvSpPr/>
          <p:nvPr/>
        </p:nvSpPr>
        <p:spPr>
          <a:xfrm>
            <a:off x="7306056" y="468172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fr-FR" sz="7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fr-FR" sz="7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rescue_applied</a:t>
            </a:r>
            <a:r>
              <a:rPr lang="fr-FR" sz="7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cas limites</a:t>
            </a:r>
            <a:endParaRPr lang="fr-FR" sz="7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5CE4-DA0C-33CA-A40A-8454A769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666ABA7-6181-E177-ECC4-41ABD90A77F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689AF-A9BE-2805-2184-9FA6A32D742C}"/>
              </a:ext>
            </a:extLst>
          </p:cNvPr>
          <p:cNvSpPr txBox="1"/>
          <p:nvPr/>
        </p:nvSpPr>
        <p:spPr>
          <a:xfrm>
            <a:off x="252548" y="122884"/>
            <a:ext cx="37936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bg1"/>
                </a:solidFill>
              </a:rPr>
              <a:t>Data Preprocessing (pour RAG)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1652F0D-4F90-BFA5-B0E0-BFAFA4244171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26D47D-9E9E-4792-D1A1-677BB1D8A9B8}"/>
              </a:ext>
            </a:extLst>
          </p:cNvPr>
          <p:cNvSpPr/>
          <p:nvPr/>
        </p:nvSpPr>
        <p:spPr>
          <a:xfrm>
            <a:off x="984313" y="1656370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157BF24-5DBC-8714-E149-2F8D73289D60}"/>
              </a:ext>
            </a:extLst>
          </p:cNvPr>
          <p:cNvSpPr/>
          <p:nvPr/>
        </p:nvSpPr>
        <p:spPr>
          <a:xfrm>
            <a:off x="4645900" y="997254"/>
            <a:ext cx="3310213" cy="1574496"/>
          </a:xfrm>
          <a:prstGeom prst="roundRect">
            <a:avLst>
              <a:gd name="adj" fmla="val 7500"/>
            </a:avLst>
          </a:prstGeom>
          <a:solidFill>
            <a:srgbClr val="FF000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F38BEE9-FC64-66FE-CBEF-98E88374495C}"/>
              </a:ext>
            </a:extLst>
          </p:cNvPr>
          <p:cNvSpPr/>
          <p:nvPr/>
        </p:nvSpPr>
        <p:spPr>
          <a:xfrm>
            <a:off x="5505478" y="979713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1319969-26F0-438C-1FC4-DB4FD41AF1A8}"/>
              </a:ext>
            </a:extLst>
          </p:cNvPr>
          <p:cNvSpPr/>
          <p:nvPr/>
        </p:nvSpPr>
        <p:spPr>
          <a:xfrm>
            <a:off x="847152" y="979713"/>
            <a:ext cx="3288493" cy="1592037"/>
          </a:xfrm>
          <a:prstGeom prst="roundRect">
            <a:avLst>
              <a:gd name="adj" fmla="val 7500"/>
            </a:avLst>
          </a:prstGeom>
          <a:solidFill>
            <a:srgbClr val="FF000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C4F51BF-FE07-29E9-33CD-B248B9CE2887}"/>
              </a:ext>
            </a:extLst>
          </p:cNvPr>
          <p:cNvSpPr/>
          <p:nvPr/>
        </p:nvSpPr>
        <p:spPr>
          <a:xfrm>
            <a:off x="1579313" y="1082901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critique  </a:t>
            </a:r>
            <a:endParaRPr lang="en-US" sz="12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811F9B9-E962-0813-4FB9-072EB4D9BFEB}"/>
              </a:ext>
            </a:extLst>
          </p:cNvPr>
          <p:cNvSpPr txBox="1"/>
          <p:nvPr/>
        </p:nvSpPr>
        <p:spPr>
          <a:xfrm>
            <a:off x="4810902" y="1517592"/>
            <a:ext cx="28599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dirty="0">
                <a:solidFill>
                  <a:schemeClr val="bg1"/>
                </a:solidFill>
              </a:rPr>
              <a:t>Transformation des données brutes en contenus structurés exploitables par un moteur RAG.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7BA5F6D-3A86-703F-D63B-6F61B7972306}"/>
              </a:ext>
            </a:extLst>
          </p:cNvPr>
          <p:cNvSpPr txBox="1"/>
          <p:nvPr/>
        </p:nvSpPr>
        <p:spPr>
          <a:xfrm>
            <a:off x="1019147" y="1619130"/>
            <a:ext cx="2894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dirty="0">
                <a:solidFill>
                  <a:schemeClr val="bg1"/>
                </a:solidFill>
              </a:rPr>
              <a:t> La qualité du </a:t>
            </a:r>
            <a:r>
              <a:rPr lang="fr-FR" sz="1400" dirty="0" err="1">
                <a:solidFill>
                  <a:schemeClr val="bg1"/>
                </a:solidFill>
              </a:rPr>
              <a:t>preprocessing</a:t>
            </a:r>
            <a:r>
              <a:rPr lang="fr-FR" sz="1400" dirty="0">
                <a:solidFill>
                  <a:schemeClr val="bg1"/>
                </a:solidFill>
              </a:rPr>
              <a:t> détermine directement la qualité du </a:t>
            </a:r>
            <a:r>
              <a:rPr lang="fr-FR" sz="1400" dirty="0" err="1">
                <a:solidFill>
                  <a:schemeClr val="bg1"/>
                </a:solidFill>
              </a:rPr>
              <a:t>retrieval</a:t>
            </a:r>
            <a:r>
              <a:rPr lang="fr-FR" sz="1400" dirty="0">
                <a:solidFill>
                  <a:schemeClr val="bg1"/>
                </a:solidFill>
              </a:rPr>
              <a:t> et donc des réponses.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DB690AB-A26F-3332-E20A-2A4A5169A8EF}"/>
              </a:ext>
            </a:extLst>
          </p:cNvPr>
          <p:cNvSpPr txBox="1"/>
          <p:nvPr/>
        </p:nvSpPr>
        <p:spPr>
          <a:xfrm>
            <a:off x="174171" y="2835547"/>
            <a:ext cx="87608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i="1" dirty="0"/>
              <a:t>• </a:t>
            </a:r>
            <a:r>
              <a:rPr lang="fr-FR" sz="1400" b="1" i="1" u="sng" dirty="0">
                <a:solidFill>
                  <a:srgbClr val="0D9488"/>
                </a:solidFill>
              </a:rPr>
              <a:t>Étapes standard</a:t>
            </a:r>
            <a:r>
              <a:rPr lang="fr-FR" sz="1400" i="1" dirty="0"/>
              <a:t> : </a:t>
            </a:r>
            <a:r>
              <a:rPr lang="fr-FR" sz="1400" dirty="0"/>
              <a:t>collecte → </a:t>
            </a:r>
            <a:r>
              <a:rPr lang="fr-FR" sz="1400" dirty="0" err="1"/>
              <a:t>cleaning</a:t>
            </a:r>
            <a:r>
              <a:rPr lang="fr-FR" sz="1400" dirty="0"/>
              <a:t> → normalisation → structuration → enrichissement → </a:t>
            </a:r>
            <a:r>
              <a:rPr lang="fr-FR" sz="1400" dirty="0" err="1"/>
              <a:t>chunking</a:t>
            </a:r>
            <a:r>
              <a:rPr lang="fr-FR" sz="1400" dirty="0"/>
              <a:t> → validation → export.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i="1" u="sng" dirty="0">
                <a:solidFill>
                  <a:srgbClr val="0D9488"/>
                </a:solidFill>
              </a:rPr>
              <a:t> </a:t>
            </a:r>
            <a:r>
              <a:rPr lang="fr-FR" sz="1400" b="1" i="1" u="sng" dirty="0" err="1">
                <a:solidFill>
                  <a:srgbClr val="0D9488"/>
                </a:solidFill>
              </a:rPr>
              <a:t>Cleaning</a:t>
            </a:r>
            <a:r>
              <a:rPr lang="fr-FR" sz="1400" b="1" i="1" u="sng" dirty="0">
                <a:solidFill>
                  <a:srgbClr val="0D9488"/>
                </a:solidFill>
              </a:rPr>
              <a:t> </a:t>
            </a:r>
            <a:r>
              <a:rPr lang="fr-FR" sz="1400" dirty="0"/>
              <a:t>: supprimer bruit (HTML, logs inutiles...), gérer images/liens, concaténer </a:t>
            </a:r>
            <a:r>
              <a:rPr lang="fr-FR" sz="1400" dirty="0" err="1"/>
              <a:t>issue+comments</a:t>
            </a:r>
            <a:r>
              <a:rPr lang="fr-FR" sz="1400" dirty="0"/>
              <a:t>, </a:t>
            </a:r>
            <a:r>
              <a:rPr lang="fr-FR" sz="1400" dirty="0" err="1"/>
              <a:t>ect</a:t>
            </a:r>
            <a:r>
              <a:rPr lang="fr-FR" sz="1400" dirty="0"/>
              <a:t> ..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dirty="0"/>
              <a:t> </a:t>
            </a:r>
            <a:r>
              <a:rPr lang="fr-FR" sz="1400" b="1" i="1" u="sng" dirty="0">
                <a:solidFill>
                  <a:srgbClr val="0D9488"/>
                </a:solidFill>
              </a:rPr>
              <a:t>Normalisation</a:t>
            </a:r>
            <a:r>
              <a:rPr lang="fr-FR" sz="1400" b="1" dirty="0"/>
              <a:t> </a:t>
            </a:r>
            <a:r>
              <a:rPr lang="fr-FR" sz="1400" dirty="0"/>
              <a:t>: uniformiser formats repo/</a:t>
            </a:r>
            <a:r>
              <a:rPr lang="fr-FR" sz="1400" dirty="0" err="1"/>
              <a:t>path</a:t>
            </a:r>
            <a:r>
              <a:rPr lang="fr-FR" sz="1400" dirty="0"/>
              <a:t>, dates, champs, vocabulaire technique (HAL, DMA, USB...).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dirty="0"/>
              <a:t> </a:t>
            </a:r>
            <a:r>
              <a:rPr lang="fr-FR" sz="1400" b="1" i="1" u="sng" dirty="0">
                <a:solidFill>
                  <a:srgbClr val="0D9488"/>
                </a:solidFill>
              </a:rPr>
              <a:t>Structuration</a:t>
            </a:r>
            <a:r>
              <a:rPr lang="fr-FR" sz="1400" b="1" dirty="0"/>
              <a:t> </a:t>
            </a:r>
            <a:r>
              <a:rPr lang="fr-FR" sz="1400" dirty="0"/>
              <a:t>: organiser l’information en sections (</a:t>
            </a:r>
            <a:r>
              <a:rPr lang="fr-FR" sz="1400" dirty="0" err="1"/>
              <a:t>Problem</a:t>
            </a:r>
            <a:r>
              <a:rPr lang="fr-FR" sz="1400" dirty="0"/>
              <a:t> / </a:t>
            </a:r>
            <a:r>
              <a:rPr lang="fr-FR" sz="1400" dirty="0" err="1"/>
              <a:t>Context</a:t>
            </a:r>
            <a:r>
              <a:rPr lang="fr-FR" sz="1400" dirty="0"/>
              <a:t> / Root cause / Fix / </a:t>
            </a:r>
            <a:r>
              <a:rPr lang="fr-FR" sz="1400" dirty="0" err="1"/>
              <a:t>Constraints</a:t>
            </a:r>
            <a:r>
              <a:rPr lang="fr-FR" sz="1400" dirty="0"/>
              <a:t>...).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i="1" u="sng" dirty="0">
                <a:solidFill>
                  <a:srgbClr val="0D9488"/>
                </a:solidFill>
              </a:rPr>
              <a:t> Enrichissement</a:t>
            </a:r>
            <a:r>
              <a:rPr lang="fr-FR" sz="1400" b="1" i="1" u="sng" dirty="0"/>
              <a:t> </a:t>
            </a:r>
            <a:r>
              <a:rPr lang="fr-FR" sz="1400" dirty="0"/>
              <a:t>: ajout </a:t>
            </a:r>
            <a:r>
              <a:rPr lang="fr-FR" sz="1400" dirty="0" err="1"/>
              <a:t>metadata</a:t>
            </a:r>
            <a:r>
              <a:rPr lang="fr-FR" sz="1400" dirty="0"/>
              <a:t> (</a:t>
            </a:r>
            <a:r>
              <a:rPr lang="fr-FR" sz="1400" dirty="0" err="1"/>
              <a:t>board</a:t>
            </a:r>
            <a:r>
              <a:rPr lang="fr-FR" sz="1400" dirty="0"/>
              <a:t>, component, layer, </a:t>
            </a:r>
            <a:r>
              <a:rPr lang="fr-FR" sz="1400" dirty="0" err="1"/>
              <a:t>severity</a:t>
            </a:r>
            <a:r>
              <a:rPr lang="fr-FR" sz="1400" dirty="0"/>
              <a:t>, </a:t>
            </a:r>
            <a:r>
              <a:rPr lang="fr-FR" sz="1400" dirty="0" err="1"/>
              <a:t>issue_kind</a:t>
            </a:r>
            <a:r>
              <a:rPr lang="fr-FR" sz="1400" dirty="0"/>
              <a:t>) + liens PR/commit</a:t>
            </a:r>
          </a:p>
          <a:p>
            <a:pPr>
              <a:defRPr sz="2000"/>
            </a:pPr>
            <a:r>
              <a:rPr lang="fr-FR" sz="1400" dirty="0"/>
              <a:t> → meilleure recherche.</a:t>
            </a:r>
          </a:p>
          <a:p>
            <a:pPr>
              <a:defRPr sz="2000"/>
            </a:pPr>
            <a:r>
              <a:rPr lang="fr-FR" sz="1400" dirty="0"/>
              <a:t>• </a:t>
            </a:r>
            <a:r>
              <a:rPr lang="fr-FR" sz="1400" b="1" i="1" u="sng" dirty="0">
                <a:solidFill>
                  <a:srgbClr val="0D9488"/>
                </a:solidFill>
              </a:rPr>
              <a:t>Validation</a:t>
            </a:r>
            <a:r>
              <a:rPr lang="fr-FR" sz="1400" dirty="0"/>
              <a:t> : contrôle schéma JSON + cohérence champs + benchmark (run 50Q) pour mesurer la qualité.</a:t>
            </a:r>
          </a:p>
          <a:p>
            <a:pPr>
              <a:defRPr sz="2000"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2661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— Vue d'ensemble</a:t>
            </a:r>
            <a:endParaRPr lang="en-US" sz="220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39E5F4D6-4815-87F9-EC7D-32EF10631D81}"/>
              </a:ext>
            </a:extLst>
          </p:cNvPr>
          <p:cNvSpPr/>
          <p:nvPr/>
        </p:nvSpPr>
        <p:spPr>
          <a:xfrm>
            <a:off x="624238" y="899008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0DAC3094-33D5-2016-7D0D-5CFFB78EF38A}"/>
              </a:ext>
            </a:extLst>
          </p:cNvPr>
          <p:cNvSpPr/>
          <p:nvPr/>
        </p:nvSpPr>
        <p:spPr>
          <a:xfrm>
            <a:off x="624237" y="899008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41E00BC4-4A57-D473-AE81-065220F72A42}"/>
              </a:ext>
            </a:extLst>
          </p:cNvPr>
          <p:cNvSpPr/>
          <p:nvPr/>
        </p:nvSpPr>
        <p:spPr>
          <a:xfrm>
            <a:off x="624238" y="8990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1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A0144828-1524-D908-6CE3-E9AADF3CB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50" y="967351"/>
            <a:ext cx="329184" cy="329184"/>
          </a:xfrm>
          <a:prstGeom prst="rect">
            <a:avLst/>
          </a:prstGeom>
        </p:spPr>
      </p:pic>
      <p:sp>
        <p:nvSpPr>
          <p:cNvPr id="59" name="Text 8">
            <a:extLst>
              <a:ext uri="{FF2B5EF4-FFF2-40B4-BE49-F238E27FC236}">
                <a16:creationId xmlns:a16="http://schemas.microsoft.com/office/drawing/2014/main" id="{1FAC4DF4-6D39-DF3B-29B2-A8C27FE18EBA}"/>
              </a:ext>
            </a:extLst>
          </p:cNvPr>
          <p:cNvSpPr/>
          <p:nvPr/>
        </p:nvSpPr>
        <p:spPr>
          <a:xfrm>
            <a:off x="829978" y="141554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Ingestion</a:t>
            </a:r>
            <a:endParaRPr lang="fr-FR" sz="1050" noProof="0" dirty="0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AFB5CA84-E8D5-C1BE-5279-AA0815E850A7}"/>
              </a:ext>
            </a:extLst>
          </p:cNvPr>
          <p:cNvSpPr/>
          <p:nvPr/>
        </p:nvSpPr>
        <p:spPr>
          <a:xfrm>
            <a:off x="823386" y="174900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Télécharger les données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brutes depuis GitHub</a:t>
            </a:r>
            <a:endParaRPr lang="fr-FR" sz="1000" noProof="0" dirty="0"/>
          </a:p>
        </p:txBody>
      </p:sp>
      <p:pic>
        <p:nvPicPr>
          <p:cNvPr id="61" name="Image 1" descr="preencoded.png">
            <a:extLst>
              <a:ext uri="{FF2B5EF4-FFF2-40B4-BE49-F238E27FC236}">
                <a16:creationId xmlns:a16="http://schemas.microsoft.com/office/drawing/2014/main" id="{B6163BA2-A7D1-FE74-883C-12B764C6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140" y="1939282"/>
            <a:ext cx="237744" cy="237744"/>
          </a:xfrm>
          <a:prstGeom prst="rect">
            <a:avLst/>
          </a:prstGeom>
        </p:spPr>
      </p:pic>
      <p:sp>
        <p:nvSpPr>
          <p:cNvPr id="62" name="Shape 10">
            <a:extLst>
              <a:ext uri="{FF2B5EF4-FFF2-40B4-BE49-F238E27FC236}">
                <a16:creationId xmlns:a16="http://schemas.microsoft.com/office/drawing/2014/main" id="{2476FB6C-63C5-75C1-EB0A-2E2ED5B0F15E}"/>
              </a:ext>
            </a:extLst>
          </p:cNvPr>
          <p:cNvSpPr/>
          <p:nvPr/>
        </p:nvSpPr>
        <p:spPr>
          <a:xfrm>
            <a:off x="2242724" y="906010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8DA46DA8-233E-BA3A-1D29-314E4A4D51EF}"/>
              </a:ext>
            </a:extLst>
          </p:cNvPr>
          <p:cNvSpPr/>
          <p:nvPr/>
        </p:nvSpPr>
        <p:spPr>
          <a:xfrm>
            <a:off x="2242724" y="906010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7B7FD63F-AA03-E2FC-E301-0745FB5E505B}"/>
              </a:ext>
            </a:extLst>
          </p:cNvPr>
          <p:cNvSpPr/>
          <p:nvPr/>
        </p:nvSpPr>
        <p:spPr>
          <a:xfrm>
            <a:off x="2242724" y="906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2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A4A8D472-F98E-8F22-8753-B74D118E5094}"/>
              </a:ext>
            </a:extLst>
          </p:cNvPr>
          <p:cNvSpPr/>
          <p:nvPr/>
        </p:nvSpPr>
        <p:spPr>
          <a:xfrm>
            <a:off x="2448801" y="138807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Cleaning</a:t>
            </a:r>
            <a:endParaRPr lang="fr-FR" sz="1050" noProof="0" dirty="0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41D5D9BA-FAF8-3EF4-71DC-30DD56D5D6E5}"/>
              </a:ext>
            </a:extLst>
          </p:cNvPr>
          <p:cNvSpPr/>
          <p:nvPr/>
        </p:nvSpPr>
        <p:spPr>
          <a:xfrm>
            <a:off x="2345011" y="1723834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enlever le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HTML, normaliser</a:t>
            </a:r>
            <a:endParaRPr lang="fr-FR" sz="1000" noProof="0" dirty="0"/>
          </a:p>
        </p:txBody>
      </p:sp>
      <p:pic>
        <p:nvPicPr>
          <p:cNvPr id="67" name="Image 3" descr="preencoded.png">
            <a:extLst>
              <a:ext uri="{FF2B5EF4-FFF2-40B4-BE49-F238E27FC236}">
                <a16:creationId xmlns:a16="http://schemas.microsoft.com/office/drawing/2014/main" id="{BCB24284-1DF3-1BDE-4226-443BEBA65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838" y="1927708"/>
            <a:ext cx="237744" cy="237744"/>
          </a:xfrm>
          <a:prstGeom prst="rect">
            <a:avLst/>
          </a:prstGeom>
        </p:spPr>
      </p:pic>
      <p:sp>
        <p:nvSpPr>
          <p:cNvPr id="68" name="Shape 15">
            <a:extLst>
              <a:ext uri="{FF2B5EF4-FFF2-40B4-BE49-F238E27FC236}">
                <a16:creationId xmlns:a16="http://schemas.microsoft.com/office/drawing/2014/main" id="{E19A6C4F-28BC-15DF-D4F1-85F08171E4F4}"/>
              </a:ext>
            </a:extLst>
          </p:cNvPr>
          <p:cNvSpPr/>
          <p:nvPr/>
        </p:nvSpPr>
        <p:spPr>
          <a:xfrm>
            <a:off x="3870422" y="894435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840A3260-9B20-4841-4520-45966E8482C9}"/>
              </a:ext>
            </a:extLst>
          </p:cNvPr>
          <p:cNvSpPr/>
          <p:nvPr/>
        </p:nvSpPr>
        <p:spPr>
          <a:xfrm>
            <a:off x="3870422" y="894436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B4B84DA6-BA9F-18F0-727B-B470A39AB905}"/>
              </a:ext>
            </a:extLst>
          </p:cNvPr>
          <p:cNvSpPr/>
          <p:nvPr/>
        </p:nvSpPr>
        <p:spPr>
          <a:xfrm>
            <a:off x="3870422" y="89443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3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71" name="Image 4" descr="preencoded.png">
            <a:extLst>
              <a:ext uri="{FF2B5EF4-FFF2-40B4-BE49-F238E27FC236}">
                <a16:creationId xmlns:a16="http://schemas.microsoft.com/office/drawing/2014/main" id="{20377042-8BD7-FE83-DE1B-ECF67032E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344" y="971670"/>
            <a:ext cx="329184" cy="329184"/>
          </a:xfrm>
          <a:prstGeom prst="rect">
            <a:avLst/>
          </a:prstGeom>
        </p:spPr>
      </p:pic>
      <p:sp>
        <p:nvSpPr>
          <p:cNvPr id="72" name="Text 18">
            <a:extLst>
              <a:ext uri="{FF2B5EF4-FFF2-40B4-BE49-F238E27FC236}">
                <a16:creationId xmlns:a16="http://schemas.microsoft.com/office/drawing/2014/main" id="{B9B52848-3DC5-6B24-81FC-20A554E96634}"/>
              </a:ext>
            </a:extLst>
          </p:cNvPr>
          <p:cNvSpPr/>
          <p:nvPr/>
        </p:nvSpPr>
        <p:spPr>
          <a:xfrm>
            <a:off x="3951962" y="1542106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Enrichment</a:t>
            </a:r>
            <a:endParaRPr lang="fr-FR" sz="105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(</a:t>
            </a:r>
            <a:r>
              <a:rPr lang="fr-FR" sz="900" b="1" noProof="0" dirty="0" err="1">
                <a:solidFill>
                  <a:srgbClr val="0D9488"/>
                </a:solidFill>
              </a:rPr>
              <a:t>Feature</a:t>
            </a:r>
            <a:endParaRPr lang="fr-FR" sz="90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fr-FR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D3CEC268-5B5A-7780-BD5E-060E242D49EE}"/>
              </a:ext>
            </a:extLst>
          </p:cNvPr>
          <p:cNvSpPr/>
          <p:nvPr/>
        </p:nvSpPr>
        <p:spPr>
          <a:xfrm>
            <a:off x="4045869" y="1948879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Transformer les données brutes en informations pertinentes</a:t>
            </a:r>
          </a:p>
        </p:txBody>
      </p:sp>
      <p:pic>
        <p:nvPicPr>
          <p:cNvPr id="74" name="Image 5" descr="preencoded.png">
            <a:extLst>
              <a:ext uri="{FF2B5EF4-FFF2-40B4-BE49-F238E27FC236}">
                <a16:creationId xmlns:a16="http://schemas.microsoft.com/office/drawing/2014/main" id="{8CFA40CA-AE4C-DF80-6BD3-C4C2FD8E2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276" y="1927707"/>
            <a:ext cx="237744" cy="237744"/>
          </a:xfrm>
          <a:prstGeom prst="rect">
            <a:avLst/>
          </a:prstGeom>
        </p:spPr>
      </p:pic>
      <p:sp>
        <p:nvSpPr>
          <p:cNvPr id="75" name="Shape 20">
            <a:extLst>
              <a:ext uri="{FF2B5EF4-FFF2-40B4-BE49-F238E27FC236}">
                <a16:creationId xmlns:a16="http://schemas.microsoft.com/office/drawing/2014/main" id="{6EFBD882-3A55-160D-437D-4345F834F19B}"/>
              </a:ext>
            </a:extLst>
          </p:cNvPr>
          <p:cNvSpPr/>
          <p:nvPr/>
        </p:nvSpPr>
        <p:spPr>
          <a:xfrm>
            <a:off x="5421860" y="894434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00AC5B90-00AB-A532-9B9E-99313135B66E}"/>
              </a:ext>
            </a:extLst>
          </p:cNvPr>
          <p:cNvSpPr/>
          <p:nvPr/>
        </p:nvSpPr>
        <p:spPr>
          <a:xfrm>
            <a:off x="5421860" y="894435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870EDD6D-525F-D202-E383-6719949222C1}"/>
              </a:ext>
            </a:extLst>
          </p:cNvPr>
          <p:cNvSpPr/>
          <p:nvPr/>
        </p:nvSpPr>
        <p:spPr>
          <a:xfrm>
            <a:off x="5421860" y="8944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4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55CA4369-6263-79B3-651E-12DC289941A9}"/>
              </a:ext>
            </a:extLst>
          </p:cNvPr>
          <p:cNvSpPr/>
          <p:nvPr/>
        </p:nvSpPr>
        <p:spPr>
          <a:xfrm>
            <a:off x="5608178" y="141795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Similarity</a:t>
            </a:r>
            <a:endParaRPr lang="fr-FR" sz="1050" noProof="0" dirty="0"/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21ED80D1-52F2-C9B5-DEA5-4571583215FC}"/>
              </a:ext>
            </a:extLst>
          </p:cNvPr>
          <p:cNvSpPr/>
          <p:nvPr/>
        </p:nvSpPr>
        <p:spPr>
          <a:xfrm>
            <a:off x="5624286" y="169239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Relier les issues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qui parlent du même bug</a:t>
            </a:r>
            <a:endParaRPr lang="fr-FR" sz="1000" noProof="0" dirty="0"/>
          </a:p>
        </p:txBody>
      </p:sp>
      <p:pic>
        <p:nvPicPr>
          <p:cNvPr id="80" name="Image 7" descr="preencoded.png">
            <a:extLst>
              <a:ext uri="{FF2B5EF4-FFF2-40B4-BE49-F238E27FC236}">
                <a16:creationId xmlns:a16="http://schemas.microsoft.com/office/drawing/2014/main" id="{D65FDF64-E252-28EE-DC3C-076BF5B39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679" y="1922646"/>
            <a:ext cx="237744" cy="237744"/>
          </a:xfrm>
          <a:prstGeom prst="rect">
            <a:avLst/>
          </a:prstGeom>
        </p:spPr>
      </p:pic>
      <p:sp>
        <p:nvSpPr>
          <p:cNvPr id="81" name="Shape 25">
            <a:extLst>
              <a:ext uri="{FF2B5EF4-FFF2-40B4-BE49-F238E27FC236}">
                <a16:creationId xmlns:a16="http://schemas.microsoft.com/office/drawing/2014/main" id="{4BEE8A97-FA44-8D1F-12DC-D4924BB8C8C7}"/>
              </a:ext>
            </a:extLst>
          </p:cNvPr>
          <p:cNvSpPr/>
          <p:nvPr/>
        </p:nvSpPr>
        <p:spPr>
          <a:xfrm>
            <a:off x="6977263" y="889374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2" name="Shape 26">
            <a:extLst>
              <a:ext uri="{FF2B5EF4-FFF2-40B4-BE49-F238E27FC236}">
                <a16:creationId xmlns:a16="http://schemas.microsoft.com/office/drawing/2014/main" id="{981FEA85-B1FD-144F-8138-F77ACED2AC69}"/>
              </a:ext>
            </a:extLst>
          </p:cNvPr>
          <p:cNvSpPr/>
          <p:nvPr/>
        </p:nvSpPr>
        <p:spPr>
          <a:xfrm>
            <a:off x="6977263" y="889374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3" name="Text 27">
            <a:extLst>
              <a:ext uri="{FF2B5EF4-FFF2-40B4-BE49-F238E27FC236}">
                <a16:creationId xmlns:a16="http://schemas.microsoft.com/office/drawing/2014/main" id="{675DC9DA-DFBD-03D4-3EB9-915D1DAB33A2}"/>
              </a:ext>
            </a:extLst>
          </p:cNvPr>
          <p:cNvSpPr/>
          <p:nvPr/>
        </p:nvSpPr>
        <p:spPr>
          <a:xfrm>
            <a:off x="6977263" y="88937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5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7E74F504-3538-B6F5-1A95-547080C49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209" y="985875"/>
            <a:ext cx="256032" cy="256032"/>
          </a:xfrm>
          <a:prstGeom prst="rect">
            <a:avLst/>
          </a:prstGeom>
        </p:spPr>
      </p:pic>
      <p:sp>
        <p:nvSpPr>
          <p:cNvPr id="85" name="Text 28">
            <a:extLst>
              <a:ext uri="{FF2B5EF4-FFF2-40B4-BE49-F238E27FC236}">
                <a16:creationId xmlns:a16="http://schemas.microsoft.com/office/drawing/2014/main" id="{FF914597-A2E2-CB03-FEAF-2DC38F37EE19}"/>
              </a:ext>
            </a:extLst>
          </p:cNvPr>
          <p:cNvSpPr/>
          <p:nvPr/>
        </p:nvSpPr>
        <p:spPr>
          <a:xfrm>
            <a:off x="7171318" y="142025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 err="1">
                <a:solidFill>
                  <a:srgbClr val="1B2A3B"/>
                </a:solidFill>
              </a:rPr>
              <a:t>Chunking</a:t>
            </a:r>
            <a:endParaRPr lang="fr-FR" sz="1050" noProof="0" dirty="0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E10FAB7C-BC25-1AED-FBB7-A5A36D48A8B1}"/>
              </a:ext>
            </a:extLst>
          </p:cNvPr>
          <p:cNvSpPr/>
          <p:nvPr/>
        </p:nvSpPr>
        <p:spPr>
          <a:xfrm>
            <a:off x="7160143" y="17454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Découper en morceaux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pour la KB</a:t>
            </a:r>
            <a:endParaRPr lang="fr-FR" sz="1000" noProof="0" dirty="0"/>
          </a:p>
        </p:txBody>
      </p:sp>
      <p:pic>
        <p:nvPicPr>
          <p:cNvPr id="101" name="Graphic 80" descr="Dice with solid fill">
            <a:extLst>
              <a:ext uri="{FF2B5EF4-FFF2-40B4-BE49-F238E27FC236}">
                <a16:creationId xmlns:a16="http://schemas.microsoft.com/office/drawing/2014/main" id="{D242FF07-B422-426B-CE3C-C7F18B28F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4041" y="921866"/>
            <a:ext cx="402338" cy="402338"/>
          </a:xfrm>
          <a:prstGeom prst="rect">
            <a:avLst/>
          </a:prstGeom>
        </p:spPr>
      </p:pic>
      <p:pic>
        <p:nvPicPr>
          <p:cNvPr id="102" name="Graphic 84" descr="Eraser with solid fill">
            <a:extLst>
              <a:ext uri="{FF2B5EF4-FFF2-40B4-BE49-F238E27FC236}">
                <a16:creationId xmlns:a16="http://schemas.microsoft.com/office/drawing/2014/main" id="{23D6F879-2562-0ECC-D7DF-930E10817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6858" y="971670"/>
            <a:ext cx="329184" cy="329184"/>
          </a:xfrm>
          <a:prstGeom prst="rect">
            <a:avLst/>
          </a:prstGeom>
        </p:spPr>
      </p:pic>
      <p:pic>
        <p:nvPicPr>
          <p:cNvPr id="103" name="Image 9" descr="preencoded.png">
            <a:extLst>
              <a:ext uri="{FF2B5EF4-FFF2-40B4-BE49-F238E27FC236}">
                <a16:creationId xmlns:a16="http://schemas.microsoft.com/office/drawing/2014/main" id="{00EBD40C-F97A-F64F-C124-C0810417D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026" y="4153996"/>
            <a:ext cx="237744" cy="237744"/>
          </a:xfrm>
          <a:prstGeom prst="rect">
            <a:avLst/>
          </a:prstGeom>
        </p:spPr>
      </p:pic>
      <p:sp>
        <p:nvSpPr>
          <p:cNvPr id="104" name="Shape 30">
            <a:extLst>
              <a:ext uri="{FF2B5EF4-FFF2-40B4-BE49-F238E27FC236}">
                <a16:creationId xmlns:a16="http://schemas.microsoft.com/office/drawing/2014/main" id="{234703B2-48A0-29D6-F7FE-9BF561235082}"/>
              </a:ext>
            </a:extLst>
          </p:cNvPr>
          <p:cNvSpPr/>
          <p:nvPr/>
        </p:nvSpPr>
        <p:spPr>
          <a:xfrm>
            <a:off x="3204610" y="3120724"/>
            <a:ext cx="1383932" cy="17539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AD9D3718-3777-D0B8-5102-F99C01CE4A08}"/>
              </a:ext>
            </a:extLst>
          </p:cNvPr>
          <p:cNvSpPr/>
          <p:nvPr/>
        </p:nvSpPr>
        <p:spPr>
          <a:xfrm>
            <a:off x="3204610" y="3120724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6" name="Text 32">
            <a:extLst>
              <a:ext uri="{FF2B5EF4-FFF2-40B4-BE49-F238E27FC236}">
                <a16:creationId xmlns:a16="http://schemas.microsoft.com/office/drawing/2014/main" id="{92E603E4-5D27-976F-67C0-2246547E82EF}"/>
              </a:ext>
            </a:extLst>
          </p:cNvPr>
          <p:cNvSpPr/>
          <p:nvPr/>
        </p:nvSpPr>
        <p:spPr>
          <a:xfrm>
            <a:off x="3204610" y="312072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6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107" name="Image 10" descr="preencoded.png">
            <a:extLst>
              <a:ext uri="{FF2B5EF4-FFF2-40B4-BE49-F238E27FC236}">
                <a16:creationId xmlns:a16="http://schemas.microsoft.com/office/drawing/2014/main" id="{5918438E-B8B7-7B84-0713-45520AC03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7768" y="3213711"/>
            <a:ext cx="263059" cy="263059"/>
          </a:xfrm>
          <a:prstGeom prst="rect">
            <a:avLst/>
          </a:prstGeom>
        </p:spPr>
      </p:pic>
      <p:sp>
        <p:nvSpPr>
          <p:cNvPr id="108" name="Text 33">
            <a:extLst>
              <a:ext uri="{FF2B5EF4-FFF2-40B4-BE49-F238E27FC236}">
                <a16:creationId xmlns:a16="http://schemas.microsoft.com/office/drawing/2014/main" id="{D02CB748-4591-12F1-3ADB-D58FAC7298A3}"/>
              </a:ext>
            </a:extLst>
          </p:cNvPr>
          <p:cNvSpPr/>
          <p:nvPr/>
        </p:nvSpPr>
        <p:spPr>
          <a:xfrm>
            <a:off x="3400409" y="369887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fr-FR" sz="900" b="1" noProof="0" dirty="0">
                <a:solidFill>
                  <a:srgbClr val="1B2A3B"/>
                </a:solidFill>
              </a:rPr>
              <a:t>(</a:t>
            </a:r>
            <a:r>
              <a:rPr lang="fr-FR" sz="900" b="1" noProof="0" dirty="0">
                <a:solidFill>
                  <a:srgbClr val="0D9488"/>
                </a:solidFill>
              </a:rPr>
              <a:t>Benchmark</a:t>
            </a:r>
            <a:r>
              <a:rPr lang="fr-FR" sz="900" b="1" noProof="0" dirty="0"/>
              <a:t>)</a:t>
            </a:r>
          </a:p>
        </p:txBody>
      </p:sp>
      <p:sp>
        <p:nvSpPr>
          <p:cNvPr id="109" name="Text 34">
            <a:extLst>
              <a:ext uri="{FF2B5EF4-FFF2-40B4-BE49-F238E27FC236}">
                <a16:creationId xmlns:a16="http://schemas.microsoft.com/office/drawing/2014/main" id="{32D1298F-AB87-0B51-B196-27D46445A6F7}"/>
              </a:ext>
            </a:extLst>
          </p:cNvPr>
          <p:cNvSpPr/>
          <p:nvPr/>
        </p:nvSpPr>
        <p:spPr>
          <a:xfrm>
            <a:off x="3418243" y="414318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Tester avec 50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questions de </a:t>
            </a:r>
            <a:r>
              <a:rPr lang="fr-FR" sz="1000" noProof="0" dirty="0" err="1">
                <a:solidFill>
                  <a:srgbClr val="64748B"/>
                </a:solidFill>
              </a:rPr>
              <a:t>reference</a:t>
            </a:r>
            <a:endParaRPr lang="fr-FR" sz="1000" noProof="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fr-FR" sz="1000" noProof="0" dirty="0"/>
          </a:p>
          <a:p>
            <a:pPr marL="0" indent="0" algn="ctr">
              <a:buNone/>
            </a:pPr>
            <a:endParaRPr lang="fr-FR" sz="1000" noProof="0" dirty="0"/>
          </a:p>
        </p:txBody>
      </p:sp>
      <p:pic>
        <p:nvPicPr>
          <p:cNvPr id="110" name="Image 11" descr="preencoded.png">
            <a:extLst>
              <a:ext uri="{FF2B5EF4-FFF2-40B4-BE49-F238E27FC236}">
                <a16:creationId xmlns:a16="http://schemas.microsoft.com/office/drawing/2014/main" id="{25124FE1-373C-77FA-0C6E-57F8FEA83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610" y="4153996"/>
            <a:ext cx="237744" cy="237744"/>
          </a:xfrm>
          <a:prstGeom prst="rect">
            <a:avLst/>
          </a:prstGeom>
        </p:spPr>
      </p:pic>
      <p:sp>
        <p:nvSpPr>
          <p:cNvPr id="111" name="Shape 35">
            <a:extLst>
              <a:ext uri="{FF2B5EF4-FFF2-40B4-BE49-F238E27FC236}">
                <a16:creationId xmlns:a16="http://schemas.microsoft.com/office/drawing/2014/main" id="{4D30A151-E02D-BEF1-1942-30FA92996388}"/>
              </a:ext>
            </a:extLst>
          </p:cNvPr>
          <p:cNvSpPr/>
          <p:nvPr/>
        </p:nvSpPr>
        <p:spPr>
          <a:xfrm>
            <a:off x="4751539" y="3116152"/>
            <a:ext cx="1367887" cy="17585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2" name="Shape 36">
            <a:extLst>
              <a:ext uri="{FF2B5EF4-FFF2-40B4-BE49-F238E27FC236}">
                <a16:creationId xmlns:a16="http://schemas.microsoft.com/office/drawing/2014/main" id="{291ACB70-0AB7-B818-0083-7A7B6861964E}"/>
              </a:ext>
            </a:extLst>
          </p:cNvPr>
          <p:cNvSpPr/>
          <p:nvPr/>
        </p:nvSpPr>
        <p:spPr>
          <a:xfrm>
            <a:off x="4751540" y="3116152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3" name="Text 37">
            <a:extLst>
              <a:ext uri="{FF2B5EF4-FFF2-40B4-BE49-F238E27FC236}">
                <a16:creationId xmlns:a16="http://schemas.microsoft.com/office/drawing/2014/main" id="{00FCBECC-F38F-5B96-F0C4-0264414F2300}"/>
              </a:ext>
            </a:extLst>
          </p:cNvPr>
          <p:cNvSpPr/>
          <p:nvPr/>
        </p:nvSpPr>
        <p:spPr>
          <a:xfrm>
            <a:off x="4751540" y="31161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0D9488"/>
                </a:solidFill>
              </a:rPr>
              <a:t>7</a:t>
            </a:r>
            <a:endParaRPr lang="fr-FR" sz="1400" noProof="0" dirty="0">
              <a:solidFill>
                <a:srgbClr val="0D9488"/>
              </a:solidFill>
            </a:endParaRPr>
          </a:p>
        </p:txBody>
      </p:sp>
      <p:pic>
        <p:nvPicPr>
          <p:cNvPr id="114" name="Image 12" descr="preencoded.png">
            <a:extLst>
              <a:ext uri="{FF2B5EF4-FFF2-40B4-BE49-F238E27FC236}">
                <a16:creationId xmlns:a16="http://schemas.microsoft.com/office/drawing/2014/main" id="{150376B4-E29F-B4DE-71BA-3D31992CD5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3907" y="3201221"/>
            <a:ext cx="288037" cy="288037"/>
          </a:xfrm>
          <a:prstGeom prst="rect">
            <a:avLst/>
          </a:prstGeom>
        </p:spPr>
      </p:pic>
      <p:sp>
        <p:nvSpPr>
          <p:cNvPr id="115" name="Text 38">
            <a:extLst>
              <a:ext uri="{FF2B5EF4-FFF2-40B4-BE49-F238E27FC236}">
                <a16:creationId xmlns:a16="http://schemas.microsoft.com/office/drawing/2014/main" id="{D6A3CA74-892E-E9E5-7884-1F81152D748B}"/>
              </a:ext>
            </a:extLst>
          </p:cNvPr>
          <p:cNvSpPr/>
          <p:nvPr/>
        </p:nvSpPr>
        <p:spPr>
          <a:xfrm>
            <a:off x="4823096" y="3844231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fr-FR" sz="800" b="1" noProof="0" dirty="0">
                <a:solidFill>
                  <a:srgbClr val="1B2A3B"/>
                </a:solidFill>
              </a:rPr>
              <a:t>(</a:t>
            </a:r>
            <a:r>
              <a:rPr lang="fr-FR" sz="800" b="1" noProof="0" dirty="0" err="1">
                <a:solidFill>
                  <a:srgbClr val="0D9488"/>
                </a:solidFill>
              </a:rPr>
              <a:t>resolver</a:t>
            </a:r>
            <a:r>
              <a:rPr lang="fr-FR" sz="800" b="1" noProof="0" dirty="0">
                <a:solidFill>
                  <a:srgbClr val="0D9488"/>
                </a:solidFill>
              </a:rPr>
              <a:t> cases, diagnostic </a:t>
            </a:r>
            <a:r>
              <a:rPr lang="fr-FR" sz="800" b="1" noProof="0" dirty="0" err="1">
                <a:solidFill>
                  <a:srgbClr val="0D9488"/>
                </a:solidFill>
              </a:rPr>
              <a:t>cards</a:t>
            </a:r>
            <a:r>
              <a:rPr lang="fr-FR" sz="800" b="1" noProof="0" dirty="0">
                <a:solidFill>
                  <a:srgbClr val="0D9488"/>
                </a:solidFill>
              </a:rPr>
              <a:t>, exports ST-</a:t>
            </a:r>
            <a:r>
              <a:rPr lang="fr-FR" sz="800" b="1" noProof="0" dirty="0" err="1">
                <a:solidFill>
                  <a:srgbClr val="0D9488"/>
                </a:solidFill>
              </a:rPr>
              <a:t>ready</a:t>
            </a:r>
            <a:r>
              <a:rPr lang="fr-FR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fr-FR" sz="1050" b="1" noProof="0" dirty="0">
              <a:solidFill>
                <a:srgbClr val="1B2A3B"/>
              </a:solidFill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028605EC-9825-055C-43F1-5C63BF867771}"/>
              </a:ext>
            </a:extLst>
          </p:cNvPr>
          <p:cNvSpPr/>
          <p:nvPr/>
        </p:nvSpPr>
        <p:spPr>
          <a:xfrm>
            <a:off x="4940586" y="40660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Livrer les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4748B"/>
                </a:solidFill>
              </a:rPr>
              <a:t>format ST-</a:t>
            </a:r>
            <a:r>
              <a:rPr lang="fr-FR" sz="1000" noProof="0" dirty="0" err="1">
                <a:solidFill>
                  <a:srgbClr val="64748B"/>
                </a:solidFill>
              </a:rPr>
              <a:t>ready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schémas JSON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vérifie que les données ont la bonne structure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96012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schéma JSON ?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schéma JSON est un contrat qui décrit la structure attendue d'un fichier de données : quels champs doivent exister, leurs types, si certains sont obligatoires. La bibliothèque </a:t>
            </a:r>
            <a:r>
              <a:rPr lang="fr-FR" sz="105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jsonschema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prend l'instance (le fichier de données réel) et le schéma, puis vérifie chaque règle. Si un champ obligatoire manque ou a le mauvais type →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ValidationError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Aucune erreur → données conformes.</a:t>
            </a:r>
            <a:endParaRPr lang="fr-FR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066544" y="2116836"/>
            <a:ext cx="2240280" cy="10287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066544" y="2121408"/>
            <a:ext cx="54864" cy="98755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185416" y="21014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docs_issues_v2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2185416" y="2378386"/>
            <a:ext cx="2322576" cy="3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issue GitHub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issue_number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issue_title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layer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github_url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4443984" y="2121408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443984" y="2121408"/>
            <a:ext cx="54864" cy="98755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0" y="2157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docs_files_v2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562856" y="245059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fichier du repo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example_name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2066544" y="3236976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066544" y="323697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2194560" y="3257471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chunks_issues_v2</a:t>
            </a:r>
            <a:endParaRPr lang="fr-F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2194560" y="3550079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d'issues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issue_number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héritées (layer…)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4443984" y="3236976"/>
            <a:ext cx="224028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443984" y="323697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0" y="33284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chunks_files_v2</a:t>
            </a:r>
            <a:endParaRPr lang="fr-FR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0" y="362102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fichiers :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child_text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228600" y="4315968"/>
            <a:ext cx="868680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65760" y="43525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Résultat : 4 fichiers validés,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 &gt; 95%  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“All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validations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,  Si un champ obligatoire manque → 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ValidationError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levée immédiatement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 données enrichies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calcule les distributions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65836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Counter() parcourt chaque document JSON et incrémente un compteur par valeur de métadonnée. Aucun ML ici , c'est du comptage pur. Cela permet de valider que l'enrichissement (labélisation layer,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component…) est cohérent et équilibré avant de passer à l'indexation.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1645920" cy="914400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fr-F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valides</a:t>
            </a:r>
            <a:endParaRPr lang="fr-F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2441448" y="181051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441448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4 707</a:t>
            </a:r>
            <a:endParaRPr lang="fr-FR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2441448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valides</a:t>
            </a: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54296" y="1810512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654296" y="1883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fr-FR" sz="2800" noProof="0" dirty="0"/>
          </a:p>
        </p:txBody>
      </p:sp>
      <p:sp>
        <p:nvSpPr>
          <p:cNvPr id="16" name="Text 14"/>
          <p:cNvSpPr/>
          <p:nvPr/>
        </p:nvSpPr>
        <p:spPr>
          <a:xfrm>
            <a:off x="4654296" y="23408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6867144" y="1810512"/>
            <a:ext cx="1645920" cy="914400"/>
          </a:xfrm>
          <a:prstGeom prst="rect">
            <a:avLst/>
          </a:prstGeom>
          <a:solidFill>
            <a:srgbClr val="E07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867144" y="19751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schémas</a:t>
            </a:r>
            <a:endParaRPr lang="fr-FR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867144" y="24094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métadonnées/doc</a:t>
            </a:r>
            <a:endParaRPr lang="fr-F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2816352"/>
            <a:ext cx="420624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228600" y="28163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V2 — STM32CubeH7</a:t>
            </a:r>
            <a:endParaRPr lang="fr-FR" sz="1200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228600" y="3163824"/>
          <a:ext cx="4206240" cy="1783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observées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HAL_Driver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BSP, Middlewares, CMSIS,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high, medium,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info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bug_report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question,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feature_request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config_error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NUCLEO-H743ZI, STM32H743I-EVAL, custom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components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DMA, UART, SPI, I2C, ADC, USB, FDCAN, LWIP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709160" y="2816352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4709160" y="28163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V2 — STM32CubeH7</a:t>
            </a:r>
            <a:endParaRPr lang="fr-FR" sz="1200" noProof="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/>
        </p:nvGraphicFramePr>
        <p:xfrm>
          <a:off x="4709160" y="3163824"/>
          <a:ext cx="4206240" cy="1783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observées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types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release_notes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src_c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src_h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NUCLEO-H743ZI, STM32H743I-EVAL, NUCLEO-H753ZI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components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HAL, DMA, SPI, UART, FDCAN, USB, ADC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sources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4 733 total → 4 707 valides (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=True)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=True si </a:t>
                      </a:r>
                      <a:r>
                        <a:rPr lang="fr-FR" sz="95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clean_text</a:t>
                      </a:r>
                      <a:r>
                        <a:rPr lang="fr-FR" sz="95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non vide &amp; bien formé</a:t>
                      </a:r>
                      <a:endParaRPr lang="fr-FR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TF-IDF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25196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1338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 d)</a:t>
            </a:r>
            <a:endParaRPr lang="fr-F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= Terme Fréquence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nb occurrences du terme t dans le document d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divisé par la longueur totale du doc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mesure l'importance locale du terme</a:t>
            </a:r>
            <a:endParaRPr lang="fr-FR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4690872" y="107899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690872" y="1078992"/>
            <a:ext cx="4251960" cy="34747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82312" y="11338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IDF(t)</a:t>
            </a:r>
            <a:endParaRPr lang="fr-F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782312" y="1481328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= Inverse Document Fréquence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log( N /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nb total de documents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= nb de docs contenant t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pénalise les termes trop fréquents ("the", "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340864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28600" y="2340864"/>
            <a:ext cx="42519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23957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</a:t>
            </a:r>
            <a:r>
              <a:rPr lang="fr-FR" sz="13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t,d</a:t>
            </a:r>
            <a:r>
              <a:rPr lang="fr-FR" sz="13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fr-FR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TF(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t,d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× IDF(t)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élevé si t est fréquent dans d</a:t>
            </a:r>
            <a:r>
              <a:rPr lang="fr-FR" sz="950" noProof="0" dirty="0"/>
              <a:t> 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rare dans le reste du corpus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Discriminant pour ce document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4690872" y="2340864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4690872" y="2340864"/>
            <a:ext cx="425196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82312" y="249859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Sim : </a:t>
            </a:r>
            <a:r>
              <a:rPr lang="fr-FR" sz="1050" noProof="0" dirty="0">
                <a:solidFill>
                  <a:schemeClr val="bg1"/>
                </a:solidFill>
              </a:rPr>
              <a:t>Elle mesure </a:t>
            </a:r>
            <a:r>
              <a:rPr lang="fr-FR" sz="1050" b="1" noProof="0" dirty="0">
                <a:solidFill>
                  <a:schemeClr val="bg1"/>
                </a:solidFill>
              </a:rPr>
              <a:t>à quel point deux vecteurs A et B se ressemblent</a:t>
            </a:r>
            <a:r>
              <a:rPr lang="fr-FR" sz="1050" noProof="0" dirty="0">
                <a:solidFill>
                  <a:schemeClr val="bg1"/>
                </a:solidFill>
              </a:rPr>
              <a:t>, en regardant </a:t>
            </a:r>
            <a:r>
              <a:rPr lang="fr-FR" sz="1050" b="1" noProof="0" dirty="0">
                <a:solidFill>
                  <a:schemeClr val="bg1"/>
                </a:solidFill>
              </a:rPr>
              <a:t>l’angle</a:t>
            </a:r>
            <a:r>
              <a:rPr lang="fr-FR" sz="1050" noProof="0" dirty="0">
                <a:solidFill>
                  <a:schemeClr val="bg1"/>
                </a:solidFill>
              </a:rPr>
              <a:t> entre eux.</a:t>
            </a:r>
          </a:p>
          <a:p>
            <a:pPr marL="0" indent="0">
              <a:buNone/>
            </a:pPr>
            <a:endParaRPr lang="fr-F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4800600" y="2820924"/>
            <a:ext cx="4069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(A,B) = (A·B) / (‖A‖ × ‖B‖)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[0, 1]  ,   1 = vecteurs identiques , 0 = documents très différents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la direction (pas la norme)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Indépendant de la longueur du doc</a:t>
            </a:r>
            <a:endParaRPr lang="fr-FR" sz="950" noProof="0" dirty="0"/>
          </a:p>
        </p:txBody>
      </p:sp>
      <p:sp>
        <p:nvSpPr>
          <p:cNvPr id="22" name="Shape 20"/>
          <p:cNvSpPr/>
          <p:nvPr/>
        </p:nvSpPr>
        <p:spPr>
          <a:xfrm>
            <a:off x="228600" y="3639311"/>
            <a:ext cx="4251960" cy="1394459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20040" y="36758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choisis</a:t>
            </a:r>
            <a:endParaRPr lang="fr-F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320040" y="398678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5 000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garde les 5000 termes les plus fréquents
</a:t>
            </a: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min_sim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0.40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Seuil empirique : en dessous, la similarité est du bruit (issues sans lien)
</a:t>
            </a:r>
            <a:r>
              <a:rPr lang="fr-FR" sz="95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r>
              <a:rPr lang="fr-FR" sz="95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voisins max par issue, suffisant pour enrichir le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sans surcharger</a:t>
            </a:r>
            <a:endParaRPr lang="fr-FR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206240" cy="139446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82312" y="36027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TF-IDF et pas </a:t>
            </a:r>
            <a:r>
              <a:rPr lang="fr-FR" sz="12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fr-F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800600" y="38953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aux modèles d'</a:t>
            </a:r>
            <a:r>
              <a:rPr lang="fr-FR" sz="950" b="1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fr-FR" sz="9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indisponibles en environnement ST). TF-IDF a été testé comme alternative :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Déterministe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même corpus → même résultat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Offline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aucun appel API, rapide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Interprétable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score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directement lisible
</a:t>
            </a:r>
            <a:r>
              <a:rPr lang="fr-FR" sz="9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Adapté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vocabulaire technique STM32 stable (HAL_, DMA…)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TF-IDF — Pipeline &amp; Complexité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issue valide ? 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749808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Qu'est-ce qu'une issue valide ? 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issue est valide (</a:t>
            </a:r>
            <a:r>
              <a:rPr lang="fr-FR" sz="100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</a:t>
            </a:r>
            <a:r>
              <a:rPr lang="fr-FR" sz="1000" b="1" noProof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si elle possède un texte technique exploitable après nettoyage : </a:t>
            </a:r>
            <a:r>
              <a:rPr lang="fr-FR" sz="1000" b="1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r>
              <a:rPr lang="fr-FR" sz="10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vide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de bruit pur ("Hi @user, 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"). Les issues filtrées (</a:t>
            </a:r>
            <a:r>
              <a:rPr lang="fr-F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=False) correspondent à des tickets de politesse, des doublons vides, ou des issues sans contenu technique. Seules les issues valides sont vectorisées par TF-IDF.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JSON</a:t>
            </a:r>
            <a:endParaRPr lang="fr-FR" sz="850" noProof="0" dirty="0"/>
          </a:p>
        </p:txBody>
      </p:sp>
      <p:sp>
        <p:nvSpPr>
          <p:cNvPr id="11" name="Text 9"/>
          <p:cNvSpPr/>
          <p:nvPr/>
        </p:nvSpPr>
        <p:spPr>
          <a:xfrm>
            <a:off x="22860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docs_issues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_*_v2.json</a:t>
            </a:r>
            <a:endParaRPr lang="fr-FR" sz="800" noProof="0" dirty="0"/>
          </a:p>
        </p:txBody>
      </p:sp>
      <p:sp>
        <p:nvSpPr>
          <p:cNvPr id="12" name="Shape 10"/>
          <p:cNvSpPr/>
          <p:nvPr/>
        </p:nvSpPr>
        <p:spPr>
          <a:xfrm>
            <a:off x="139903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146304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146304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146304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valides</a:t>
            </a:r>
            <a:endParaRPr lang="fr-FR" sz="850" noProof="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True seulement</a:t>
            </a:r>
            <a:endParaRPr lang="fr-FR" sz="800" noProof="0" dirty="0"/>
          </a:p>
        </p:txBody>
      </p:sp>
      <p:sp>
        <p:nvSpPr>
          <p:cNvPr id="17" name="Shape 15"/>
          <p:cNvSpPr/>
          <p:nvPr/>
        </p:nvSpPr>
        <p:spPr>
          <a:xfrm>
            <a:off x="263347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269748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269748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500" noProof="0" dirty="0"/>
          </a:p>
        </p:txBody>
      </p:sp>
      <p:sp>
        <p:nvSpPr>
          <p:cNvPr id="20" name="Text 18"/>
          <p:cNvSpPr/>
          <p:nvPr/>
        </p:nvSpPr>
        <p:spPr>
          <a:xfrm>
            <a:off x="269748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corpus</a:t>
            </a:r>
            <a:endParaRPr lang="fr-FR" sz="850" noProof="0" dirty="0"/>
          </a:p>
        </p:txBody>
      </p:sp>
      <p:sp>
        <p:nvSpPr>
          <p:cNvPr id="21" name="Text 19"/>
          <p:cNvSpPr/>
          <p:nvPr/>
        </p:nvSpPr>
        <p:spPr>
          <a:xfrm>
            <a:off x="269748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'\n' +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endParaRPr lang="fr-FR" sz="800" noProof="0" dirty="0"/>
          </a:p>
        </p:txBody>
      </p:sp>
      <p:sp>
        <p:nvSpPr>
          <p:cNvPr id="22" name="Shape 20"/>
          <p:cNvSpPr/>
          <p:nvPr/>
        </p:nvSpPr>
        <p:spPr>
          <a:xfrm>
            <a:off x="386791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393192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93192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393192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matrix</a:t>
            </a:r>
            <a:endParaRPr lang="fr-FR" sz="850" noProof="0" dirty="0"/>
          </a:p>
        </p:txBody>
      </p:sp>
      <p:sp>
        <p:nvSpPr>
          <p:cNvPr id="26" name="Text 24"/>
          <p:cNvSpPr/>
          <p:nvPr/>
        </p:nvSpPr>
        <p:spPr>
          <a:xfrm>
            <a:off x="393192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</a:p>
          <a:p>
            <a:pPr marL="0" indent="0" algn="ctr">
              <a:buNone/>
            </a:pP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[N × 5000]</a:t>
            </a:r>
            <a:endParaRPr lang="fr-FR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510235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516636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516636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500" noProof="0" dirty="0"/>
          </a:p>
        </p:txBody>
      </p:sp>
      <p:sp>
        <p:nvSpPr>
          <p:cNvPr id="30" name="Text 28"/>
          <p:cNvSpPr/>
          <p:nvPr/>
        </p:nvSpPr>
        <p:spPr>
          <a:xfrm>
            <a:off x="516636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matrix</a:t>
            </a:r>
            <a:endParaRPr lang="fr-FR" sz="850" noProof="0" dirty="0"/>
          </a:p>
        </p:txBody>
      </p:sp>
      <p:sp>
        <p:nvSpPr>
          <p:cNvPr id="31" name="Text 29"/>
          <p:cNvSpPr/>
          <p:nvPr/>
        </p:nvSpPr>
        <p:spPr>
          <a:xfrm>
            <a:off x="516636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→ [N × N]</a:t>
            </a:r>
            <a:endParaRPr lang="fr-FR" sz="800" noProof="0" dirty="0"/>
          </a:p>
        </p:txBody>
      </p:sp>
      <p:sp>
        <p:nvSpPr>
          <p:cNvPr id="32" name="Shape 30"/>
          <p:cNvSpPr/>
          <p:nvPr/>
        </p:nvSpPr>
        <p:spPr>
          <a:xfrm>
            <a:off x="633679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640080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640080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500" noProof="0" dirty="0"/>
          </a:p>
        </p:txBody>
      </p:sp>
      <p:sp>
        <p:nvSpPr>
          <p:cNvPr id="35" name="Text 33"/>
          <p:cNvSpPr/>
          <p:nvPr/>
        </p:nvSpPr>
        <p:spPr>
          <a:xfrm>
            <a:off x="640080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Voisins</a:t>
            </a:r>
            <a:endParaRPr lang="fr-FR" sz="850" noProof="0" dirty="0"/>
          </a:p>
        </p:txBody>
      </p:sp>
      <p:sp>
        <p:nvSpPr>
          <p:cNvPr id="36" name="Text 34"/>
          <p:cNvSpPr/>
          <p:nvPr/>
        </p:nvSpPr>
        <p:spPr>
          <a:xfrm>
            <a:off x="640080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</a:t>
            </a: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0.40</a:t>
            </a:r>
            <a:endParaRPr lang="fr-FR" sz="800" noProof="0" dirty="0"/>
          </a:p>
        </p:txBody>
      </p:sp>
      <p:sp>
        <p:nvSpPr>
          <p:cNvPr id="37" name="Shape 35"/>
          <p:cNvSpPr/>
          <p:nvPr/>
        </p:nvSpPr>
        <p:spPr>
          <a:xfrm>
            <a:off x="7571232" y="2322576"/>
            <a:ext cx="640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7635240" y="1920240"/>
            <a:ext cx="1170432" cy="804672"/>
          </a:xfrm>
          <a:prstGeom prst="rect">
            <a:avLst/>
          </a:prstGeom>
          <a:solidFill>
            <a:srgbClr val="1E5F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7635240" y="19202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fr-FR" sz="1500" noProof="0" dirty="0"/>
          </a:p>
        </p:txBody>
      </p:sp>
      <p:sp>
        <p:nvSpPr>
          <p:cNvPr id="40" name="Text 38"/>
          <p:cNvSpPr/>
          <p:nvPr/>
        </p:nvSpPr>
        <p:spPr>
          <a:xfrm>
            <a:off x="7635240" y="221284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sortie</a:t>
            </a:r>
            <a:endParaRPr lang="fr-FR" sz="850" noProof="0" dirty="0"/>
          </a:p>
        </p:txBody>
      </p:sp>
      <p:sp>
        <p:nvSpPr>
          <p:cNvPr id="41" name="Text 39"/>
          <p:cNvSpPr/>
          <p:nvPr/>
        </p:nvSpPr>
        <p:spPr>
          <a:xfrm>
            <a:off x="7635240" y="274320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fr-FR" sz="8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_v2_sim.json</a:t>
            </a:r>
            <a:endParaRPr lang="fr-FR" sz="800" noProof="0" dirty="0"/>
          </a:p>
        </p:txBody>
      </p:sp>
      <p:sp>
        <p:nvSpPr>
          <p:cNvPr id="46" name="Shape 43"/>
          <p:cNvSpPr/>
          <p:nvPr/>
        </p:nvSpPr>
        <p:spPr>
          <a:xfrm>
            <a:off x="2743201" y="3154680"/>
            <a:ext cx="4251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4"/>
          <p:cNvSpPr/>
          <p:nvPr/>
        </p:nvSpPr>
        <p:spPr>
          <a:xfrm>
            <a:off x="2743201" y="3154680"/>
            <a:ext cx="42519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5"/>
          <p:cNvSpPr/>
          <p:nvPr/>
        </p:nvSpPr>
        <p:spPr>
          <a:xfrm>
            <a:off x="2834641" y="31912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produit :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endParaRPr lang="fr-FR" sz="1300" noProof="0" dirty="0"/>
          </a:p>
        </p:txBody>
      </p:sp>
      <p:sp>
        <p:nvSpPr>
          <p:cNvPr id="49" name="Shape 46"/>
          <p:cNvSpPr/>
          <p:nvPr/>
        </p:nvSpPr>
        <p:spPr>
          <a:xfrm>
            <a:off x="2743201" y="3502152"/>
            <a:ext cx="4251960" cy="1549908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7"/>
          <p:cNvSpPr/>
          <p:nvPr/>
        </p:nvSpPr>
        <p:spPr>
          <a:xfrm>
            <a:off x="2788923" y="3570732"/>
            <a:ext cx="4251959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Extrait du JSON enrichi :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related_issue_ids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"stm32cubeh7::issue::487",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"stm32cubeh7::issue::312",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"stm32cubeh7::issue::201"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chaque issue connaît ses 3 plus</a:t>
            </a:r>
            <a:r>
              <a:rPr lang="fr-FR" sz="900" dirty="0"/>
              <a:t> 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proches voisins (</a:t>
            </a:r>
            <a:r>
              <a:rPr lang="fr-FR" sz="900" noProof="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≥ 0.40)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injecté dans la KB → le RAG</a:t>
            </a:r>
            <a:r>
              <a:rPr lang="fr-FR" sz="900" dirty="0"/>
              <a:t> </a:t>
            </a:r>
            <a:r>
              <a:rPr lang="fr-FR" sz="900" noProof="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croise les issues similaires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TF-IDF — Pourquoi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min_sim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0.40 ?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seuil : empirique, justifié par la distribution des scores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corpus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74980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valeur universelle pour un seuil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0.40 est un seuil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empirique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choisi après observation de la distribution réelle des scores sur le corpus STM32CubeH7. Sur du TF-IDF (contrairement aux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les scores sont naturellement plus bas car on compare des sacs de mots, pas du sens sémantique. Un score de 0.40 en TF-IDF représente déjà un fort chevauchement de vocabulaire technique.</a:t>
            </a:r>
            <a:endParaRPr lang="fr-FR" sz="1050" noProof="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1901952"/>
          <a:ext cx="5303520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18688" y="2212848"/>
            <a:ext cx="0" cy="1956816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3360420" y="2347250"/>
            <a:ext cx="1463040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8"/>
          <p:cNvSpPr/>
          <p:nvPr/>
        </p:nvSpPr>
        <p:spPr>
          <a:xfrm>
            <a:off x="3589020" y="2386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</a:t>
            </a:r>
            <a:r>
              <a:rPr lang="fr-FR" sz="9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min_sim</a:t>
            </a:r>
            <a:r>
              <a:rPr lang="fr-FR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0.40</a:t>
            </a:r>
            <a:endParaRPr lang="fr-FR" sz="950" noProof="0" dirty="0"/>
          </a:p>
        </p:txBody>
      </p:sp>
      <p:sp>
        <p:nvSpPr>
          <p:cNvPr id="12" name="Shape 9"/>
          <p:cNvSpPr/>
          <p:nvPr/>
        </p:nvSpPr>
        <p:spPr>
          <a:xfrm>
            <a:off x="1389888" y="2363724"/>
            <a:ext cx="1691640" cy="3017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0"/>
          <p:cNvSpPr/>
          <p:nvPr/>
        </p:nvSpPr>
        <p:spPr>
          <a:xfrm>
            <a:off x="1389888" y="2363724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— écarté</a:t>
            </a:r>
            <a:endParaRPr lang="fr-FR" sz="900" noProof="0" dirty="0"/>
          </a:p>
        </p:txBody>
      </p:sp>
      <p:sp>
        <p:nvSpPr>
          <p:cNvPr id="14" name="Shape 11"/>
          <p:cNvSpPr/>
          <p:nvPr/>
        </p:nvSpPr>
        <p:spPr>
          <a:xfrm>
            <a:off x="3589020" y="3427621"/>
            <a:ext cx="1828800" cy="3017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2"/>
          <p:cNvSpPr/>
          <p:nvPr/>
        </p:nvSpPr>
        <p:spPr>
          <a:xfrm>
            <a:off x="3589020" y="3427621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conservé</a:t>
            </a:r>
            <a:endParaRPr lang="fr-FR" sz="900" noProof="0" dirty="0"/>
          </a:p>
        </p:txBody>
      </p:sp>
      <p:sp>
        <p:nvSpPr>
          <p:cNvPr id="16" name="Shape 13"/>
          <p:cNvSpPr/>
          <p:nvPr/>
        </p:nvSpPr>
        <p:spPr>
          <a:xfrm>
            <a:off x="5669280" y="1901952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4"/>
          <p:cNvSpPr/>
          <p:nvPr/>
        </p:nvSpPr>
        <p:spPr>
          <a:xfrm>
            <a:off x="5669280" y="1901952"/>
            <a:ext cx="3246120" cy="31089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5"/>
          <p:cNvSpPr/>
          <p:nvPr/>
        </p:nvSpPr>
        <p:spPr>
          <a:xfrm>
            <a:off x="5760720" y="19385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0.00 – 0.15  (~78% des paires)</a:t>
            </a:r>
            <a:endParaRPr lang="fr-FR" sz="1000" noProof="0" dirty="0"/>
          </a:p>
        </p:txBody>
      </p:sp>
      <p:sp>
        <p:nvSpPr>
          <p:cNvPr id="19" name="Text 16"/>
          <p:cNvSpPr/>
          <p:nvPr/>
        </p:nvSpPr>
        <p:spPr>
          <a:xfrm>
            <a:off x="5760720" y="22494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lien réel. Issues partageant juste des termes très génériques : "HAL", "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"STM32". Score bas → bruit pur, écarté.</a:t>
            </a:r>
            <a:endParaRPr lang="fr-FR" sz="900" noProof="0" dirty="0"/>
          </a:p>
        </p:txBody>
      </p:sp>
      <p:sp>
        <p:nvSpPr>
          <p:cNvPr id="20" name="Shape 17"/>
          <p:cNvSpPr/>
          <p:nvPr/>
        </p:nvSpPr>
        <p:spPr>
          <a:xfrm>
            <a:off x="5669280" y="2880360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8"/>
          <p:cNvSpPr/>
          <p:nvPr/>
        </p:nvSpPr>
        <p:spPr>
          <a:xfrm>
            <a:off x="5669280" y="2880360"/>
            <a:ext cx="3246120" cy="310896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5760720" y="29169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0.15 – 0.40  (~17% des paires)</a:t>
            </a:r>
            <a:endParaRPr lang="fr-FR" sz="1000" noProof="0" dirty="0"/>
          </a:p>
        </p:txBody>
      </p:sp>
      <p:sp>
        <p:nvSpPr>
          <p:cNvPr id="23" name="Text 20"/>
          <p:cNvSpPr/>
          <p:nvPr/>
        </p:nvSpPr>
        <p:spPr>
          <a:xfrm>
            <a:off x="5760720" y="3227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domaine technique, mais pas le même problème. </a:t>
            </a:r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deux bugs SPI différents. Chevauchement lexical superficiel → trop vague pour être utile.</a:t>
            </a:r>
            <a:endParaRPr lang="fr-FR" sz="900" noProof="0" dirty="0"/>
          </a:p>
        </p:txBody>
      </p:sp>
      <p:sp>
        <p:nvSpPr>
          <p:cNvPr id="24" name="Shape 21"/>
          <p:cNvSpPr/>
          <p:nvPr/>
        </p:nvSpPr>
        <p:spPr>
          <a:xfrm>
            <a:off x="5669280" y="3858768"/>
            <a:ext cx="3246120" cy="9235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2"/>
          <p:cNvSpPr/>
          <p:nvPr/>
        </p:nvSpPr>
        <p:spPr>
          <a:xfrm>
            <a:off x="5669280" y="3858768"/>
            <a:ext cx="3246120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3"/>
          <p:cNvSpPr/>
          <p:nvPr/>
        </p:nvSpPr>
        <p:spPr>
          <a:xfrm>
            <a:off x="5760720" y="38953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0.40       (~5% des paires)</a:t>
            </a:r>
            <a:endParaRPr lang="fr-FR" sz="1000" noProof="0" dirty="0"/>
          </a:p>
        </p:txBody>
      </p:sp>
      <p:sp>
        <p:nvSpPr>
          <p:cNvPr id="27" name="Text 24"/>
          <p:cNvSpPr/>
          <p:nvPr/>
        </p:nvSpPr>
        <p:spPr>
          <a:xfrm>
            <a:off x="5760720" y="4206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réellement liées : même composant + même symptôme + vocabulaire technique commun.</a:t>
            </a:r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chevauchement → voisins conservés (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=3).</a:t>
            </a:r>
            <a:endParaRPr lang="fr-FR" sz="900" noProof="0" dirty="0"/>
          </a:p>
        </p:txBody>
      </p:sp>
      <p:sp>
        <p:nvSpPr>
          <p:cNvPr id="28" name="Shape 25"/>
          <p:cNvSpPr/>
          <p:nvPr/>
        </p:nvSpPr>
        <p:spPr>
          <a:xfrm>
            <a:off x="228600" y="4800600"/>
            <a:ext cx="8686800" cy="329184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6"/>
          <p:cNvSpPr/>
          <p:nvPr/>
        </p:nvSpPr>
        <p:spPr>
          <a:xfrm>
            <a:off x="365760" y="4818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(BERT, sentence-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les scores seraient naturellement plus élevés (0.7–0.9 pour des issues liées) car ils capturent le sens sémantique. TF-IDF compare des mots exacts → scores plus bas → seuil plus bas (0.40 au lieu de ~0.75).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TF-IDF Interactive — Validation Offline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Comment ça fonctionne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399032"/>
            <a:ext cx="8686800" cy="713232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d'uploader les données sur la plateforme ST, on veut valider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le système de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retrouve des documents pertinents sur des requêtes réelles. On tape une question en langage naturel → le système renvoie les 5 issues ou fichiers les plus proches avec un score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score &gt; 0.40 est considéré pertinent. C'est un test de qualité du pipeline d'indexation.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194560"/>
            <a:ext cx="868680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détaillé — même pipeline TF-IDF mais en mode requête interactive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28600" y="2606040"/>
            <a:ext cx="4251960" cy="292608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28600" y="26060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Issues (</a:t>
            </a:r>
            <a:r>
              <a:rPr lang="fr-FR" sz="10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898648"/>
            <a:ext cx="425196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" y="2542032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953512"/>
            <a:ext cx="4251960" cy="1011386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29900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[score=0.623] #487 — DMA SPI issue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layer=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=high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component=SPI,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=NUCLEO-H743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url=github.com/STM32CubeH7/issues/487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Fichiers (</a:t>
            </a:r>
            <a:r>
              <a:rPr lang="fr-FR" sz="10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898648"/>
            <a:ext cx="420624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2928498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4709160" y="2953511"/>
            <a:ext cx="4206240" cy="1011387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800600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4800600" y="32644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[score=0.541]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release_notes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Drivers/STM32H7xx_HAL_Driver/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Release_Notes.html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excerpt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STM32H7 HAL v1.11...</a:t>
            </a:r>
            <a:endParaRPr lang="fr-FR" sz="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Delivery —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: Besoin &amp; Définitions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Qu'est-ce qu'un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403154"/>
            <a:ext cx="8686800" cy="96012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3973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ingénieurs ST reçoivent des questions techniques sur les bugs STM32. Pour répondre, ils ont besoin de savoir si un bug GitHub est déjà résolu : est-ce qu'une PR a été mergée ? Un commit de fix existe-t-il ? Un </a:t>
            </a:r>
            <a:r>
              <a:rPr lang="fr-FR" sz="105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la réponse structurée à cette question : pour chaque issue GitHub, on crée une fiche qui indique le statut de résolution, les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liés, et les fichiers modifiés par le fix. Ces fiches sont injectées dans la Knowledge Base (KB) ST pour que le moteur RAG puisse citer les fixes lors d'une requête.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445569"/>
            <a:ext cx="2834640" cy="1429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445570"/>
            <a:ext cx="2834640" cy="402336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GitHub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200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décrivant un bug ou comportement anormal sur STM32Cube (repo GitHub ST).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: titre, description technique, labels, état (open/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0" y="2445570"/>
            <a:ext cx="2834640" cy="1429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0" y="2445570"/>
            <a:ext cx="2834640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2918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(Pull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32918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modification de code soumise sur GitHub. Si elle est mergée, elle constitue un fix officiel. </a:t>
            </a: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lit : titre, fichiers changés,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associés.</a:t>
            </a:r>
            <a:endParaRPr lang="fr-F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2445569"/>
            <a:ext cx="2834640" cy="144684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6172200" y="2445570"/>
            <a:ext cx="2834640" cy="402336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248214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6263640" y="290277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structurée ST-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liant une issue à ses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fix. 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: statut de résolution, niveau de confiance, fichiers impactés, texte prêt pour la KB.</a:t>
            </a:r>
            <a:endParaRPr lang="fr-FR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4919472"/>
            <a:ext cx="8686800" cy="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Delivery —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: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Équation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score est calculé, équation, </a:t>
            </a:r>
            <a:r>
              <a:rPr lang="fr-FR" sz="1100" noProof="0" dirty="0" err="1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match_rate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105156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 du </a:t>
            </a:r>
            <a:r>
              <a:rPr lang="fr-FR" sz="1300" b="1" noProof="0" dirty="0" err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link_score</a:t>
            </a:r>
            <a:endParaRPr lang="fr-F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link_score</a:t>
            </a:r>
            <a:r>
              <a:rPr lang="fr-FR" sz="12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 mergée confirmée (+0.5) + commit lié (+0.2) + labels techniques correspondants (+0.15) + cohérence titre issue/PR (+0.15)
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∈ [0, 1]  calculé par la couche de liaison </a:t>
            </a:r>
            <a:r>
              <a:rPr lang="fr-FR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issue↔PR↔commit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(étape </a:t>
            </a:r>
            <a:r>
              <a:rPr lang="fr-FR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r>
              <a:rPr lang="fr-FR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pipeline)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228600" y="2212848"/>
            <a:ext cx="2084832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301752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merged_fix</a:t>
            </a:r>
            <a:endParaRPr lang="fr-F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301752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0.8 – 1.0</a:t>
            </a:r>
            <a:endParaRPr lang="fr-FR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301752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mergée + commit confirmé.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intégré en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Recommandation principale.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2441448" y="2212848"/>
            <a:ext cx="2084832" cy="131673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441448" y="2212848"/>
            <a:ext cx="2084832" cy="41148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51460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candidate_fix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2514600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0.5 – 0.79</a:t>
            </a:r>
            <a:endParaRPr lang="fr-FR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251460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candidat fort, statut incertain.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sur branche isolée.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4654296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4654296" y="2212848"/>
            <a:ext cx="2084832" cy="411480"/>
          </a:xfrm>
          <a:prstGeom prst="rect">
            <a:avLst/>
          </a:prstGeom>
          <a:solidFill>
            <a:srgbClr val="E07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4727448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reference_only</a:t>
            </a:r>
            <a:endParaRPr lang="fr-F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727448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0.2 – 0.49</a:t>
            </a:r>
            <a:endParaRPr lang="fr-FR" sz="1050" noProof="0" dirty="0"/>
          </a:p>
        </p:txBody>
      </p:sp>
      <p:sp>
        <p:nvSpPr>
          <p:cNvPr id="23" name="Text 21"/>
          <p:cNvSpPr/>
          <p:nvPr/>
        </p:nvSpPr>
        <p:spPr>
          <a:xfrm>
            <a:off x="4727448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référence, peu de preuve.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 --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include-reference-only</a:t>
            </a:r>
            <a:endParaRPr lang="fr-FR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2084832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6867144" y="2212848"/>
            <a:ext cx="2084832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6940296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unlinked</a:t>
            </a:r>
            <a:endParaRPr lang="fr-FR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6940296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&lt; 0.2</a:t>
            </a:r>
            <a:endParaRPr lang="fr-FR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6940296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lien exploitable.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Écarté systématiquement.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2514600" y="3666219"/>
            <a:ext cx="4251960" cy="1316735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2601468" y="3703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est calculé </a:t>
            </a:r>
            <a:r>
              <a:rPr lang="fr-FR" sz="12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match_rate</a:t>
            </a:r>
            <a:r>
              <a:rPr lang="fr-FR" sz="12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fr-F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2606040" y="40279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match_rate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matched_docs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fr-FR" sz="1000" b="1" noProof="0" dirty="0" err="1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changed_files_total</a:t>
            </a:r>
            <a:r>
              <a:rPr lang="fr-FR" sz="1000" b="1" noProof="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commit lié à l'issue, on récupère la liste des fichiers modifiés (GitHub API). On essaie ensuite de faire correspondre chaque fichier avec les documents indexés dans </a:t>
            </a:r>
            <a:r>
              <a:rPr lang="fr-FR" sz="9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docs_files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 chemin normalisé). </a:t>
            </a:r>
          </a:p>
          <a:p>
            <a:pPr marL="0" indent="0">
              <a:buNone/>
            </a:pPr>
            <a:r>
              <a:rPr lang="fr-FR" sz="950" b="1" noProof="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match_rate</a:t>
            </a:r>
            <a:r>
              <a:rPr lang="fr-FR" sz="950" b="1" noProof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9/12 = 0.75</a:t>
            </a:r>
            <a:r>
              <a:rPr lang="fr-FR" sz="9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signifie que 9 des 12 fichiers modifiés sont connus dans notre base de fichiers.</a:t>
            </a:r>
            <a:endParaRPr lang="fr-FR" sz="1000" noProof="0" dirty="0"/>
          </a:p>
        </p:txBody>
      </p:sp>
      <p:sp>
        <p:nvSpPr>
          <p:cNvPr id="35" name="Shape 33"/>
          <p:cNvSpPr/>
          <p:nvPr/>
        </p:nvSpPr>
        <p:spPr>
          <a:xfrm>
            <a:off x="246888" y="4662990"/>
            <a:ext cx="8686800" cy="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356616" y="4745286"/>
            <a:ext cx="8467344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Delivery — Diagnostic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Besoin &amp; Définition</a:t>
            </a:r>
            <a:endParaRPr lang="fr-FR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C8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c'est ? À quoi ça sert ?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1115568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ingénieur ST reçoit une question du client : “Mon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bloque sur 2 bytes, pourquoi ?”. Il a besoin d'une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diagnostique structurée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prête à l'emploi, pas juste un lien vers un ticket GitHub. Une </a:t>
            </a:r>
            <a:r>
              <a:rPr lang="fr-FR" sz="105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fusionne l'issue GitHub + le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pour produire : le symptôme, les causes probables, les actions de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contournements, les faits confirmés et les liens de preuve , tout ça dans un format directement injectable dans la KB ST pour le moteur RAG.</a:t>
            </a:r>
            <a:endParaRPr lang="fr-FR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267712"/>
            <a:ext cx="425196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267712"/>
            <a:ext cx="4251960" cy="3657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2304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Diagnostic Card contient :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symptom_summary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du symptôme observé</a:t>
            </a:r>
            <a:endParaRPr lang="fr-F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likely_causes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probables (root cause)</a:t>
            </a:r>
            <a:endParaRPr lang="fr-F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" y="31181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confirmed_facts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vérifiés (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evidence_strength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commit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20040" y="33284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plausible_diagnosis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selon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layer+component+pattern</a:t>
            </a:r>
            <a:endParaRPr lang="fr-F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35387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debug_checks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de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ciblées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" y="3749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possible_workarounds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Contournements possibles</a:t>
            </a:r>
            <a:endParaRPr lang="fr-F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320040" y="39593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constraints_or_limits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validée : MCU série,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</a:t>
            </a:r>
            <a:endParaRPr lang="fr-F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320040" y="41696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evidence_refs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: issue, PR, commit</a:t>
            </a:r>
            <a:endParaRPr lang="fr-F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320040" y="437997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query_aliases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NL pour le </a:t>
            </a:r>
            <a:r>
              <a:rPr lang="fr-FR" sz="9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</a:t>
            </a:r>
            <a:endParaRPr lang="fr-FR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 + </a:t>
            </a:r>
            <a:r>
              <a:rPr lang="fr-FR" sz="900" b="1" noProof="0" dirty="0" err="1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api_tags</a:t>
            </a:r>
            <a:r>
              <a:rPr lang="fr-FR" sz="900" b="1" noProof="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HAL_* tags (max 24)</a:t>
            </a:r>
            <a:endParaRPr lang="fr-F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4709160" y="2267712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4709160" y="2267712"/>
            <a:ext cx="4206240" cy="36576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4800600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= Fusion Issue + </a:t>
            </a:r>
            <a:r>
              <a:rPr lang="fr-F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4800600" y="2706624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GitHub</a:t>
            </a:r>
            <a:endParaRPr lang="fr-F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914900" y="297082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issue_title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layer, </a:t>
            </a: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component, </a:t>
            </a: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st_ready_text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github_url</a:t>
            </a:r>
            <a:endParaRPr lang="fr-FR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6560820" y="309307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07B2A"/>
                </a:solidFill>
              </a:rPr>
              <a:t>+</a:t>
            </a:r>
            <a:endParaRPr lang="fr-FR" sz="2200" noProof="0" dirty="0"/>
          </a:p>
        </p:txBody>
      </p:sp>
      <p:sp>
        <p:nvSpPr>
          <p:cNvPr id="28" name="Shape 26"/>
          <p:cNvSpPr/>
          <p:nvPr/>
        </p:nvSpPr>
        <p:spPr>
          <a:xfrm>
            <a:off x="6903720" y="2706624"/>
            <a:ext cx="1737360" cy="96012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6903720" y="2706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6995160" y="297082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resolution_status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link_confidence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linked_pr_urls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linked_commits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files_evidence</a:t>
            </a:r>
            <a:endParaRPr lang="fr-FR" sz="800" noProof="0" dirty="0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fr-FR" sz="1100" b="1" noProof="0" dirty="0" err="1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fr-FR" sz="1100" b="1" noProof="0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fr-FR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800600" y="4069080"/>
            <a:ext cx="3977640" cy="71323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4892040" y="410565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 JSON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injectée dans la KB ST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optimisée pour </a:t>
            </a:r>
            <a:r>
              <a:rPr lang="fr-FR" sz="1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spécialisés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329184" y="868680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dédié à l'analyse et documentation du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2257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411480" y="23225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3500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de données et sorties JSON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29169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schémas de données, résultats de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348386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structuration / chunking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08760" y="40507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documentaire + lisibilité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54864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4809744" y="868680"/>
            <a:ext cx="405993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864608" y="8686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175564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4864608" y="17556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figures &amp; schémas extraits des PDFs techniques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64608" y="232257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4864608" y="23225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61888" y="23500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288950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4864608" y="28895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61888" y="29169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/ diagrammes des PDFs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345643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4864608" y="3456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61888" y="348386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textuelles techniques injectables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64608" y="402336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41"/>
          <p:cNvSpPr/>
          <p:nvPr/>
        </p:nvSpPr>
        <p:spPr>
          <a:xfrm>
            <a:off x="4864608" y="4023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61888" y="40507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perdre l'info dans les schémas PDF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983480"/>
            <a:ext cx="859536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44"/>
          <p:cNvSpPr/>
          <p:nvPr/>
        </p:nvSpPr>
        <p:spPr>
          <a:xfrm>
            <a:off x="4114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PDF multimodal 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883806" y="5029200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texte →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70791" y="5029200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pages images →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05073" y="5029200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figures →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38928" y="5029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61888" y="5029767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JSONL →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90660" y="5029200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JSON →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78193" y="5029200"/>
            <a:ext cx="132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Réinjection enrichi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F389B-02D4-14BC-358B-D24DB46E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6740BB-6BB9-ABA2-8DF6-ECE01B58D20B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2DB20B-6141-0A13-3645-0940ACFB40C5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26584A-F1A7-DF12-E04B-9410E630A2BD}"/>
              </a:ext>
            </a:extLst>
          </p:cNvPr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et benchmark </a:t>
            </a:r>
            <a:endParaRPr lang="en-US" sz="2200" dirty="0"/>
          </a:p>
        </p:txBody>
      </p:sp>
      <p:sp>
        <p:nvSpPr>
          <p:cNvPr id="54" name="G1">
            <a:extLst>
              <a:ext uri="{FF2B5EF4-FFF2-40B4-BE49-F238E27FC236}">
                <a16:creationId xmlns:a16="http://schemas.microsoft.com/office/drawing/2014/main" id="{5757CC26-09DA-3FD8-DAE7-BB995AF22F55}"/>
              </a:ext>
            </a:extLst>
          </p:cNvPr>
          <p:cNvSpPr/>
          <p:nvPr/>
        </p:nvSpPr>
        <p:spPr>
          <a:xfrm>
            <a:off x="1672000" y="1569883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Test 1</a:t>
            </a:r>
          </a:p>
          <a:p>
            <a:pPr algn="l">
              <a:buNone/>
            </a:pPr>
            <a:r>
              <a:rPr lang="en-US" sz="1100" b="1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dirty="0"/>
              <a:t>test_stats_issues_v2</a:t>
            </a:r>
          </a:p>
          <a:p>
            <a:pPr algn="l">
              <a:buNone/>
            </a:pPr>
            <a:r>
              <a:rPr lang="en-US" sz="850" b="0" dirty="0"/>
              <a:t>test_stats_files_v2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Distribution + couverture metadata</a:t>
            </a:r>
          </a:p>
        </p:txBody>
      </p:sp>
      <p:sp>
        <p:nvSpPr>
          <p:cNvPr id="55" name="G2">
            <a:extLst>
              <a:ext uri="{FF2B5EF4-FFF2-40B4-BE49-F238E27FC236}">
                <a16:creationId xmlns:a16="http://schemas.microsoft.com/office/drawing/2014/main" id="{E3AEAF18-E5C5-DE4B-DEF6-90C37DC1BE17}"/>
              </a:ext>
            </a:extLst>
          </p:cNvPr>
          <p:cNvSpPr/>
          <p:nvPr/>
        </p:nvSpPr>
        <p:spPr>
          <a:xfrm>
            <a:off x="4572000" y="1569883"/>
            <a:ext cx="2650000" cy="14000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FFC000"/>
                </a:solidFill>
              </a:rPr>
              <a:t>Test 2</a:t>
            </a:r>
          </a:p>
          <a:p>
            <a:pPr algn="l">
              <a:buNone/>
            </a:pPr>
            <a:r>
              <a:rPr lang="en-US" sz="1100" b="1" dirty="0">
                <a:solidFill>
                  <a:srgbClr val="FFC000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dirty="0"/>
              <a:t>test_tfidf_search_issues_v2</a:t>
            </a:r>
          </a:p>
          <a:p>
            <a:pPr algn="l">
              <a:buNone/>
            </a:pPr>
            <a:r>
              <a:rPr lang="en-US" sz="850" b="0" dirty="0"/>
              <a:t>test_tfidf_search_files_v2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Top-3 pertinence verifie offline</a:t>
            </a:r>
          </a:p>
        </p:txBody>
      </p:sp>
      <p:sp>
        <p:nvSpPr>
          <p:cNvPr id="56" name="G3">
            <a:extLst>
              <a:ext uri="{FF2B5EF4-FFF2-40B4-BE49-F238E27FC236}">
                <a16:creationId xmlns:a16="http://schemas.microsoft.com/office/drawing/2014/main" id="{F2B44A34-B146-FEA3-3EC7-0C1762B07164}"/>
              </a:ext>
            </a:extLst>
          </p:cNvPr>
          <p:cNvSpPr/>
          <p:nvPr/>
        </p:nvSpPr>
        <p:spPr>
          <a:xfrm>
            <a:off x="1672000" y="3310215"/>
            <a:ext cx="2650000" cy="1400000"/>
          </a:xfrm>
          <a:prstGeom prst="roundRect">
            <a:avLst>
              <a:gd name="adj" fmla="val 10000"/>
            </a:avLst>
          </a:prstGeom>
          <a:ln>
            <a:solidFill>
              <a:srgbClr val="93C5F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93C5FD"/>
                </a:solidFill>
              </a:rPr>
              <a:t>Test 3</a:t>
            </a:r>
          </a:p>
          <a:p>
            <a:pPr algn="l">
              <a:buNone/>
            </a:pPr>
            <a:r>
              <a:rPr lang="en-US" sz="1100" b="1" dirty="0">
                <a:solidFill>
                  <a:srgbClr val="93C5FD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dirty="0"/>
              <a:t>validate_schemas.py</a:t>
            </a:r>
          </a:p>
          <a:p>
            <a:pPr algn="l">
              <a:buNone/>
            </a:pPr>
            <a:r>
              <a:rPr lang="en-US" sz="850" b="0" dirty="0"/>
              <a:t>Taux cible : &gt;95%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Contrat doc/chunk verifie</a:t>
            </a:r>
          </a:p>
        </p:txBody>
      </p:sp>
      <p:sp>
        <p:nvSpPr>
          <p:cNvPr id="57" name="G4">
            <a:extLst>
              <a:ext uri="{FF2B5EF4-FFF2-40B4-BE49-F238E27FC236}">
                <a16:creationId xmlns:a16="http://schemas.microsoft.com/office/drawing/2014/main" id="{3EA51B73-822C-FD36-F6D7-FF97A0E02228}"/>
              </a:ext>
            </a:extLst>
          </p:cNvPr>
          <p:cNvSpPr/>
          <p:nvPr/>
        </p:nvSpPr>
        <p:spPr>
          <a:xfrm>
            <a:off x="4572000" y="3310215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0B0F0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3CB4E6"/>
                </a:solidFill>
              </a:rPr>
              <a:t>Test 4</a:t>
            </a:r>
          </a:p>
          <a:p>
            <a:pPr algn="l">
              <a:buNone/>
            </a:pPr>
            <a:r>
              <a:rPr lang="en-US" sz="1100" b="1" dirty="0">
                <a:solidFill>
                  <a:srgbClr val="3CB4E6"/>
                </a:solidFill>
              </a:rPr>
              <a:t>30Q + 50Q Live</a:t>
            </a:r>
          </a:p>
          <a:p>
            <a:pPr algn="l">
              <a:buNone/>
            </a:pPr>
            <a:r>
              <a:rPr lang="en-US" sz="850" b="0" dirty="0"/>
              <a:t>run_h7_50q_ab_test.ps1</a:t>
            </a:r>
          </a:p>
          <a:p>
            <a:pPr algn="l">
              <a:buNone/>
            </a:pPr>
            <a:r>
              <a:rPr lang="en-US" sz="850" b="0" dirty="0"/>
              <a:t>DMA,UART,I2C,USB,ADC,FDCAN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Benchmark manuel, zero biais</a:t>
            </a:r>
          </a:p>
        </p:txBody>
      </p:sp>
      <p:sp>
        <p:nvSpPr>
          <p:cNvPr id="58" name="flow">
            <a:extLst>
              <a:ext uri="{FF2B5EF4-FFF2-40B4-BE49-F238E27FC236}">
                <a16:creationId xmlns:a16="http://schemas.microsoft.com/office/drawing/2014/main" id="{8B99BFCE-443E-A4E8-F78B-D62364A6A592}"/>
              </a:ext>
            </a:extLst>
          </p:cNvPr>
          <p:cNvSpPr/>
          <p:nvPr/>
        </p:nvSpPr>
        <p:spPr>
          <a:xfrm>
            <a:off x="-1178000" y="949551"/>
            <a:ext cx="1150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i="1" dirty="0"/>
              <a:t>Test 1  →  Test 2  → Test 3  → Test 4  →  Upload KB</a:t>
            </a:r>
          </a:p>
        </p:txBody>
      </p:sp>
    </p:spTree>
    <p:extLst>
      <p:ext uri="{BB962C8B-B14F-4D97-AF65-F5344CB8AC3E}">
        <p14:creationId xmlns:p14="http://schemas.microsoft.com/office/powerpoint/2010/main" val="3926343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actuel — Indicateurs &amp; résultats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659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techniques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1965960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196596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473659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3659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de test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(jeu de référence)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6858000" y="868680"/>
            <a:ext cx="1965960" cy="1280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93115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3115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" y="23653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déjà été livré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" y="28043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466344" y="28043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2718539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: ingestion → delivery opérationnel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" y="318835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466344" y="31883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102587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fichiers + PRs/commits intégrés dans la KB 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" y="357240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466344" y="35724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5800" y="3486635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50 questions de test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cadré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" y="395645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466344" y="39564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" y="3870683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diagnostic cards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" y="434050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6" name="Text 54"/>
          <p:cNvSpPr/>
          <p:nvPr/>
        </p:nvSpPr>
        <p:spPr>
          <a:xfrm>
            <a:off x="466344" y="43405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" y="4254731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agents spécialisés définis et opérationnels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" y="47245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9" name="Text 57"/>
          <p:cNvSpPr/>
          <p:nvPr/>
        </p:nvSpPr>
        <p:spPr>
          <a:xfrm>
            <a:off x="466344" y="47245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5800" y="4638779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faire — Plan concret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9418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Critique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941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Stabiliser le runner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807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24 exceptions techniques (parsing JSON, timeouts, rate limit)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crash =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274320" y="2240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3134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Critique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2270219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 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837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(board/component/layer)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keywords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: USB / Ethernet / FDCAN / I2C / ADC / DMA — domaines encore faibles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29000" y="3685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Haut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Durcir le contrat de réponse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1239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+ preuve + action + niveau de confiance explicite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4709160" y="8686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70916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863840" y="9418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Haut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03520" y="941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resolver cases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3807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fr-F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liens issue ↔ PR ↔ commit exploitables</a:t>
            </a:r>
          </a:p>
        </p:txBody>
      </p:sp>
      <p:sp>
        <p:nvSpPr>
          <p:cNvPr id="33" name="Shape 31"/>
          <p:cNvSpPr/>
          <p:nvPr/>
        </p:nvSpPr>
        <p:spPr>
          <a:xfrm>
            <a:off x="4709160" y="22402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709160" y="22402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4709160" y="2240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863840" y="23134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Moyen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03520" y="2313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cycle 50Q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6380" y="2714119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comparer score min par question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303520" y="3685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périmètre repos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41239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+ autres séries après stabilisation H7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validation &amp; retours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4023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" y="1388049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493776" y="1388049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exception runner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691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d'exécution totale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" y="2192721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493776" y="2192721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176272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génériques &lt; 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retrieval acceptable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2997393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93776" y="299739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980944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minimum atteint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3969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Sources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citées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liens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valides</a:t>
            </a: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3802065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493776" y="380206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785616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53712" y="882396"/>
            <a:ext cx="420624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dirty="0"/>
          </a:p>
        </p:txBody>
      </p:sp>
      <p:sp>
        <p:nvSpPr>
          <p:cNvPr id="25" name="Shape 23"/>
          <p:cNvSpPr/>
          <p:nvPr/>
        </p:nvSpPr>
        <p:spPr>
          <a:xfrm>
            <a:off x="4537316" y="882396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4828032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retours de </a:t>
            </a:r>
            <a:r>
              <a:rPr lang="en-US" sz="1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la suite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36592" y="1389888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864608" y="1389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support les plus fréquents à couvrir en priorité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01168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4864608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STM32 où la réponse est la plus attendue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2633472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4864608" y="2633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réponse souhaité (diagnostic, fix, contexte...)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3255264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4864608" y="32552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détail acceptable pour usage interne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877056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34"/>
          <p:cNvSpPr/>
          <p:nvPr/>
        </p:nvSpPr>
        <p:spPr>
          <a:xfrm>
            <a:off x="4864608" y="38770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acceptables d'un tel assistant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7132320" y="2011680"/>
            <a:ext cx="3200400" cy="320040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 pipeline complet et opérationnel sur H7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Issues + fichiers + PRs/commits intégrés dans la KB 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18 diagnostic cards livrées, 50 questions de test cadré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Stabilisation runner + renforcement retrieval = prochaine étape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Objectif : assistant IA utile et traçable pour le support STM32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retours &amp;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4854</Words>
  <Application>Microsoft Office PowerPoint</Application>
  <PresentationFormat>Affichage à l'écran (16:9)</PresentationFormat>
  <Paragraphs>606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de Stage PFE — Pipeline STM32Cube pour RAG</dc:title>
  <dc:subject>PptxGenJS Presentation</dc:subject>
  <dc:creator>Stagiaire PFE — STMicroelectronics Tunis</dc:creator>
  <cp:lastModifiedBy>abir.gharbi</cp:lastModifiedBy>
  <cp:revision>4</cp:revision>
  <dcterms:created xsi:type="dcterms:W3CDTF">2026-05-01T18:31:44Z</dcterms:created>
  <dcterms:modified xsi:type="dcterms:W3CDTF">2026-05-13T23:58:09Z</dcterms:modified>
</cp:coreProperties>
</file>