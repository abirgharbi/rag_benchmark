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4"/>
  </p:notesMasterIdLst>
  <p:sldIdLst>
    <p:sldId id="262" r:id="rId5"/>
    <p:sldId id="290" r:id="rId6"/>
    <p:sldId id="291" r:id="rId7"/>
    <p:sldId id="320" r:id="rId8"/>
    <p:sldId id="289" r:id="rId9"/>
    <p:sldId id="323" r:id="rId10"/>
    <p:sldId id="294" r:id="rId11"/>
    <p:sldId id="295" r:id="rId12"/>
    <p:sldId id="306" r:id="rId13"/>
    <p:sldId id="307" r:id="rId14"/>
    <p:sldId id="317" r:id="rId15"/>
    <p:sldId id="296" r:id="rId16"/>
    <p:sldId id="322" r:id="rId17"/>
    <p:sldId id="321" r:id="rId18"/>
    <p:sldId id="314" r:id="rId19"/>
    <p:sldId id="297" r:id="rId20"/>
    <p:sldId id="299" r:id="rId21"/>
    <p:sldId id="302" r:id="rId22"/>
    <p:sldId id="303" r:id="rId23"/>
    <p:sldId id="308" r:id="rId24"/>
    <p:sldId id="309" r:id="rId25"/>
    <p:sldId id="312" r:id="rId26"/>
    <p:sldId id="313" r:id="rId27"/>
    <p:sldId id="301" r:id="rId28"/>
    <p:sldId id="304" r:id="rId29"/>
    <p:sldId id="316" r:id="rId30"/>
    <p:sldId id="310" r:id="rId31"/>
    <p:sldId id="311" r:id="rId32"/>
    <p:sldId id="343" r:id="rId33"/>
    <p:sldId id="344" r:id="rId34"/>
    <p:sldId id="345" r:id="rId35"/>
    <p:sldId id="346" r:id="rId36"/>
    <p:sldId id="318" r:id="rId37"/>
    <p:sldId id="319" r:id="rId38"/>
    <p:sldId id="315" r:id="rId39"/>
    <p:sldId id="305" r:id="rId40"/>
    <p:sldId id="341" r:id="rId41"/>
    <p:sldId id="292" r:id="rId42"/>
    <p:sldId id="26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91"/>
            <p14:sldId id="320"/>
            <p14:sldId id="289"/>
            <p14:sldId id="323"/>
            <p14:sldId id="294"/>
            <p14:sldId id="295"/>
            <p14:sldId id="306"/>
            <p14:sldId id="307"/>
            <p14:sldId id="317"/>
            <p14:sldId id="296"/>
            <p14:sldId id="322"/>
            <p14:sldId id="321"/>
            <p14:sldId id="314"/>
            <p14:sldId id="297"/>
            <p14:sldId id="299"/>
            <p14:sldId id="302"/>
            <p14:sldId id="303"/>
            <p14:sldId id="308"/>
            <p14:sldId id="309"/>
            <p14:sldId id="312"/>
            <p14:sldId id="313"/>
            <p14:sldId id="301"/>
            <p14:sldId id="304"/>
            <p14:sldId id="316"/>
            <p14:sldId id="310"/>
            <p14:sldId id="311"/>
            <p14:sldId id="343"/>
            <p14:sldId id="344"/>
            <p14:sldId id="345"/>
            <p14:sldId id="346"/>
            <p14:sldId id="318"/>
            <p14:sldId id="319"/>
            <p14:sldId id="315"/>
            <p14:sldId id="305"/>
            <p14:sldId id="341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0D9589"/>
    <a:srgbClr val="3CB4E6"/>
    <a:srgbClr val="22C55E"/>
    <a:srgbClr val="FFD200"/>
    <a:srgbClr val="1B2A3B"/>
    <a:srgbClr val="0D9488"/>
    <a:srgbClr val="FFFFFF"/>
    <a:srgbClr val="425A78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0458" autoAdjust="0"/>
  </p:normalViewPr>
  <p:slideViewPr>
    <p:cSldViewPr snapToGrid="0">
      <p:cViewPr>
        <p:scale>
          <a:sx n="73" d="100"/>
          <a:sy n="73" d="100"/>
        </p:scale>
        <p:origin x="106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EF5C-33DC-614F-035A-19AA495F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4979E-56F5-740E-4957-7CF7D6305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A021-4B77-681C-48F4-5F32EC82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Centralize:</a:t>
            </a:r>
            <a:r>
              <a:rPr lang="en-US" dirty="0"/>
              <a:t> all STM32Cube knowledge in one place </a:t>
            </a:r>
            <a:r>
              <a:rPr lang="en-US" b="1" dirty="0"/>
              <a:t>Structure:</a:t>
            </a:r>
            <a:r>
              <a:rPr lang="en-US" dirty="0"/>
              <a:t> data normalized, enriched, ready for retrieval </a:t>
            </a:r>
            <a:r>
              <a:rPr lang="en-US" b="1" dirty="0"/>
              <a:t>Answer:</a:t>
            </a:r>
            <a:r>
              <a:rPr lang="en-US" dirty="0"/>
              <a:t> technical questions in seconds with sources </a:t>
            </a:r>
            <a:r>
              <a:rPr lang="en-US" b="1" dirty="0"/>
              <a:t>Trace:</a:t>
            </a:r>
            <a:r>
              <a:rPr lang="en-US" dirty="0"/>
              <a:t> every answer back to issue, PR, commit, or doc </a:t>
            </a:r>
            <a:r>
              <a:rPr lang="en-US" b="1" dirty="0"/>
              <a:t>Learn:</a:t>
            </a:r>
            <a:r>
              <a:rPr lang="en-US" dirty="0"/>
              <a:t> from every resolved bug for the next ones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A6EF9-9D5B-59E5-E13E-02C639BBD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58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D570-E399-D10A-557D-F8437A75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981F-D793-376F-3C90-7F83FF0D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94583-72AC-46F3-8DF5-05D2C40B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8B9A-F898-F291-8667-C9674CF77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6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4D88-403A-B72F-F51E-076635A7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89011-22A9-F37A-8C20-F3BC62CC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D003E-FE44-9202-EF36-5C2EBFFA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18C9-1251-4476-A9AE-8AFDAB53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6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55BB-2E0D-CA24-94B8-3A453994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DC85A-339B-4BEF-347C-C3B286D0D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C564-8A93-DFED-C099-287188D5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5650-B236-2BE4-54F0-309106F7F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56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135-2108-F847-C2E3-C39B241C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D500E-AF6D-CF71-064B-179673102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E7A1-AD2A-0152-4D52-BA4419A68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BEA6A-6C02-C260-C42A-081901C0C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17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0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6FFF-38B4-FEE2-0890-236FF240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8667-0DE3-DCDD-2946-50E8D155D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D3E11-1F39-D872-F9EC-AB55CE9F3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E162-5708-F6BF-3822-2BFCBA76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05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369D-E199-06D4-7814-3BFCE801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BB910-24C5-F603-2DDE-E2C4E185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7C9D7-4734-911E-1955-476ED917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BC481-9C57-B0B8-EB39-A9FC13E6A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27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3D3D-EEEE-A0F2-806C-BE31BDB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EF0D7-E3B2-A2E3-1315-48196B4DD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74A9-0579-9149-07A9-B35D43A2E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A016-CE0D-E186-2D4D-F7CF7CB5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1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EDBE-CE08-F91B-4A09-352D1CE3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F313-31A9-32D1-F532-672D9FEC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D578C-8484-DD5B-3114-B3620054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2728-78C7-7679-A6BF-99DB3B927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1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 les données lisibles. L’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rend intelligentes pour la décision technique.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1CEB-7531-66C5-3A24-FF7BAAA3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BAA-0E29-4589-C183-7F9D75A2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160C0-8FEA-5E62-A695-185B3A209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F52F-5944-F1E0-9EA9-BB24B728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86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7CD-017E-F979-B34C-EC9E4B91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D0A41-E2EB-0701-98C8-E4ECE72D3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E765-359D-86F2-3361-2ACA2BBC7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70EE-F816-6146-8359-1C9E11F0F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158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E204-3E95-E0A1-838C-BFF09A9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E412-9F26-9AB0-14DA-429CB3FB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FCC2-98CE-A715-6404-875E434F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B2C-8D82-02BD-9329-CB44171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C833-F237-3800-4DB6-0E9788CD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87B9E-9869-28E5-B966-45725849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D3004-E6AE-89F5-DD12-2622C61D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8F543-413D-E697-2BF9-8063DA796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75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FB7-835B-3D96-FEE1-C4BF681A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62C57-1E03-7026-9743-C0833842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3DC4-3750-208A-7A47-6BC24BBF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CD15-6DD7-149B-291F-7FF4B7E4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46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7F87-A6B9-974F-49D7-63956B2D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78791-C636-8306-A397-40033078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037C0-AF0D-E800-791B-163F86B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4157-FCF8-9DFD-8D45-8FE5A7DB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7F87-A6B9-974F-49D7-63956B2D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78791-C636-8306-A397-40033078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037C0-AF0D-E800-791B-163F86B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4157-FCF8-9DFD-8D45-8FE5A7DB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0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‹N°›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‹N°›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9.svg"/><Relationship Id="rId5" Type="http://schemas.openxmlformats.org/officeDocument/2006/relationships/image" Target="../media/image14.png"/><Relationship Id="rId10" Type="http://schemas.openxmlformats.org/officeDocument/2006/relationships/image" Target="../media/image18.svg"/><Relationship Id="rId4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9.svg"/><Relationship Id="rId5" Type="http://schemas.openxmlformats.org/officeDocument/2006/relationships/image" Target="../media/image14.png"/><Relationship Id="rId10" Type="http://schemas.openxmlformats.org/officeDocument/2006/relationships/image" Target="../media/image18.svg"/><Relationship Id="rId4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9.svg"/><Relationship Id="rId5" Type="http://schemas.openxmlformats.org/officeDocument/2006/relationships/image" Target="../media/image14.png"/><Relationship Id="rId10" Type="http://schemas.openxmlformats.org/officeDocument/2006/relationships/image" Target="../media/image18.svg"/><Relationship Id="rId4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8.svg"/><Relationship Id="rId4" Type="http://schemas.openxmlformats.org/officeDocument/2006/relationships/image" Target="../media/image16.png"/><Relationship Id="rId9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2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16.png"/><Relationship Id="rId9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png"/><Relationship Id="rId10" Type="http://schemas.openxmlformats.org/officeDocument/2006/relationships/image" Target="../media/image28.svg"/><Relationship Id="rId4" Type="http://schemas.openxmlformats.org/officeDocument/2006/relationships/image" Target="../media/image16.png"/><Relationship Id="rId9" Type="http://schemas.openxmlformats.org/officeDocument/2006/relationships/image" Target="../media/image2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png"/><Relationship Id="rId10" Type="http://schemas.openxmlformats.org/officeDocument/2006/relationships/image" Target="../media/image28.svg"/><Relationship Id="rId4" Type="http://schemas.openxmlformats.org/officeDocument/2006/relationships/image" Target="../media/image16.png"/><Relationship Id="rId9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2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16.png"/><Relationship Id="rId9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2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16.png"/><Relationship Id="rId9" Type="http://schemas.openxmlformats.org/officeDocument/2006/relationships/image" Target="../media/image2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741491"/>
            <a:ext cx="5795963" cy="2702071"/>
          </a:xfrm>
        </p:spPr>
        <p:txBody>
          <a:bodyPr/>
          <a:lstStyle/>
          <a:p>
            <a:r>
              <a:rPr lang="en-US" sz="3200" noProof="0" dirty="0"/>
              <a:t>An AI Tool for STM32Cube</a:t>
            </a:r>
            <a:br>
              <a:rPr lang="en-US" sz="3200" noProof="0" dirty="0"/>
            </a:br>
            <a:r>
              <a:rPr lang="en-US" sz="3200" noProof="0" dirty="0"/>
              <a:t>Technical Support</a:t>
            </a:r>
            <a:br>
              <a:rPr lang="en-US" sz="3200" noProof="0" dirty="0"/>
            </a:br>
            <a:br>
              <a:rPr lang="en-US" noProof="0" dirty="0"/>
            </a:br>
            <a:r>
              <a:rPr lang="en-US" sz="1400" b="0" noProof="0" dirty="0">
                <a:solidFill>
                  <a:srgbClr val="FFD200"/>
                </a:solidFill>
              </a:rPr>
              <a:t>From raw GitHub data to precise technical answers:</a:t>
            </a:r>
            <a:br>
              <a:rPr lang="en-US" sz="1400" b="0" noProof="0" dirty="0">
                <a:solidFill>
                  <a:srgbClr val="FFD200"/>
                </a:solidFill>
              </a:rPr>
            </a:br>
            <a:r>
              <a:rPr lang="en-US" sz="1400" b="0" noProof="0" dirty="0">
                <a:solidFill>
                  <a:srgbClr val="FFD200"/>
                </a:solidFill>
              </a:rPr>
              <a:t>Understanding how it works </a:t>
            </a:r>
            <a:r>
              <a:rPr lang="en-US" sz="1400" b="0" dirty="0">
                <a:solidFill>
                  <a:srgbClr val="FFD200"/>
                </a:solidFill>
              </a:rPr>
              <a:t>, </a:t>
            </a:r>
            <a:r>
              <a:rPr lang="en-US" sz="1400" b="0" noProof="0" dirty="0">
                <a:solidFill>
                  <a:srgbClr val="FFD200"/>
                </a:solidFill>
              </a:rPr>
              <a:t>step by step.</a:t>
            </a:r>
            <a:br>
              <a:rPr lang="en-US" sz="1400" b="0" noProof="0" dirty="0">
                <a:solidFill>
                  <a:srgbClr val="FFD200"/>
                </a:solidFill>
              </a:rPr>
            </a:br>
            <a:br>
              <a:rPr lang="en-US" b="0" noProof="0" dirty="0"/>
            </a:br>
            <a:endParaRPr lang="en-US" noProof="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6614858" cy="1077764"/>
          </a:xfrm>
        </p:spPr>
        <p:txBody>
          <a:bodyPr/>
          <a:lstStyle/>
          <a:p>
            <a:r>
              <a:rPr lang="en-US" sz="1400" noProof="0" dirty="0"/>
              <a:t>Presented by: Abir GHARBI</a:t>
            </a:r>
          </a:p>
          <a:p>
            <a:r>
              <a:rPr lang="en-US" sz="1400" noProof="0" dirty="0"/>
              <a:t>Supervised by: Ali LABBENE &amp; Omar SAKET</a:t>
            </a:r>
          </a:p>
          <a:p>
            <a:r>
              <a:rPr lang="en-US" sz="1400" noProof="0" dirty="0"/>
              <a:t>PFE - 2026 | STMicroelectronics Tunis | </a:t>
            </a:r>
            <a:r>
              <a:rPr lang="en-US" sz="1400" noProof="0" dirty="0">
                <a:solidFill>
                  <a:srgbClr val="3CB4E6"/>
                </a:solidFill>
              </a:rPr>
              <a:t>Support &amp; Maintenance Team</a:t>
            </a:r>
          </a:p>
          <a:p>
            <a:endParaRPr lang="en-US" sz="1600" noProof="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201051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201051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8651216" y="22034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651216" y="79641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8 steps to understand the project</a:t>
            </a: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3660007" y="128689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53934799-B40F-4D42-B2C0-7094A4754C29}"/>
              </a:ext>
            </a:extLst>
          </p:cNvPr>
          <p:cNvSpPr/>
          <p:nvPr/>
        </p:nvSpPr>
        <p:spPr>
          <a:xfrm>
            <a:off x="1201051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6CA5BEBA-A1A5-0B7A-D552-E2C13E044A80}"/>
              </a:ext>
            </a:extLst>
          </p:cNvPr>
          <p:cNvSpPr/>
          <p:nvPr/>
        </p:nvSpPr>
        <p:spPr>
          <a:xfrm>
            <a:off x="1201051" y="1924049"/>
            <a:ext cx="388440" cy="749808"/>
          </a:xfrm>
          <a:prstGeom prst="rect">
            <a:avLst/>
          </a:prstGeom>
          <a:solidFill>
            <a:srgbClr val="3CB4E6"/>
          </a:solidFill>
          <a:ln>
            <a:solidFill>
              <a:srgbClr val="3CB4E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30924A1A-7560-AA40-3D09-15658A9F5156}"/>
              </a:ext>
            </a:extLst>
          </p:cNvPr>
          <p:cNvSpPr/>
          <p:nvPr/>
        </p:nvSpPr>
        <p:spPr>
          <a:xfrm>
            <a:off x="1690255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Why this project ?</a:t>
            </a:r>
            <a:endParaRPr lang="en-US" sz="1200" noProof="0" dirty="0"/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18E80990-CA75-1843-212E-AB9262C2DEDF}"/>
              </a:ext>
            </a:extLst>
          </p:cNvPr>
          <p:cNvSpPr/>
          <p:nvPr/>
        </p:nvSpPr>
        <p:spPr>
          <a:xfrm>
            <a:off x="1690255" y="32042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The daily problem it solves</a:t>
            </a:r>
            <a:endParaRPr lang="en-US" sz="900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1676539" y="37846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Where AI stands in here !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1676539" y="4113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Persona, Knowledge Base, Data Sources</a:t>
            </a: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1703971" y="201548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Meet the STM32Cube persona</a:t>
            </a:r>
            <a:endParaRPr lang="en-US" sz="1200" noProof="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1703971" y="23011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our project is building</a:t>
            </a: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201051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1676539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preprocessing pipeline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1676539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Ingest → Clean → Enrich → Deliver</a:t>
            </a: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6840914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7316402" y="19972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Results &amp; evaluation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7316402" y="23263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50Q benchmark 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noProof="0" dirty="0">
                <a:solidFill>
                  <a:srgbClr val="64748B"/>
                </a:solidFill>
              </a:rPr>
              <a:t>concrete numbers</a:t>
            </a: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840914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316402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Challenges encountered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316402" y="322249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6 concrete technical challenges</a:t>
            </a: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840914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316402" y="3789425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Next steps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316402" y="41186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remains and how to get there</a:t>
            </a: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840914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316402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316402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Open discussion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513AAA9E-DB8B-6BC0-E2F8-99FB521B4AC4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C16DE0E-4503-E3F3-F0C4-B36F653B340E}"/>
              </a:ext>
            </a:extLst>
          </p:cNvPr>
          <p:cNvSpPr/>
          <p:nvPr/>
        </p:nvSpPr>
        <p:spPr>
          <a:xfrm>
            <a:off x="2538913" y="2245136"/>
            <a:ext cx="7282161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A9E8CE6-47D8-1492-6DB9-6F24AA719661}"/>
              </a:ext>
            </a:extLst>
          </p:cNvPr>
          <p:cNvSpPr/>
          <p:nvPr/>
        </p:nvSpPr>
        <p:spPr>
          <a:xfrm>
            <a:off x="2534522" y="2245136"/>
            <a:ext cx="392832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3CB4E6"/>
                </a:solidFill>
              </a:rPr>
              <a:t>01</a:t>
            </a:r>
            <a:endParaRPr lang="en-US" sz="1300" noProof="0" dirty="0">
              <a:solidFill>
                <a:srgbClr val="3CB4E6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D2153B8-612A-18BD-6EF7-177AF25B92BD}"/>
              </a:ext>
            </a:extLst>
          </p:cNvPr>
          <p:cNvSpPr/>
          <p:nvPr/>
        </p:nvSpPr>
        <p:spPr>
          <a:xfrm>
            <a:off x="3014402" y="2318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Why this project?</a:t>
            </a:r>
            <a:endParaRPr lang="en-US" sz="1200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CB6C6C5-AD64-A445-B06D-E8086D196131}"/>
              </a:ext>
            </a:extLst>
          </p:cNvPr>
          <p:cNvSpPr/>
          <p:nvPr/>
        </p:nvSpPr>
        <p:spPr>
          <a:xfrm>
            <a:off x="3014402" y="2647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The daily problem it solves</a:t>
            </a:r>
            <a:endParaRPr lang="en-US" sz="900" noProof="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920F671-3938-19D3-89E3-ECE60601649D}"/>
              </a:ext>
            </a:extLst>
          </p:cNvPr>
          <p:cNvSpPr/>
          <p:nvPr/>
        </p:nvSpPr>
        <p:spPr>
          <a:xfrm>
            <a:off x="2534522" y="3141248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6823094-BF70-880E-1DA7-9E002A7230C3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151FE1D-207C-78C0-5CCA-EB2AB23E04FE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3CB4E6"/>
                </a:solidFill>
              </a:rPr>
              <a:t>02</a:t>
            </a:r>
            <a:endParaRPr lang="en-US" sz="1300" noProof="0" dirty="0">
              <a:solidFill>
                <a:srgbClr val="3CB4E6"/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DB5348A-F02A-7FC2-8321-7951EDBCEA3D}"/>
              </a:ext>
            </a:extLst>
          </p:cNvPr>
          <p:cNvSpPr/>
          <p:nvPr/>
        </p:nvSpPr>
        <p:spPr>
          <a:xfrm>
            <a:off x="3014402" y="3214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C'est quoi l'IA ici ?</a:t>
            </a:r>
            <a:endParaRPr lang="en-US" sz="1200" noProof="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A7B21B4-5984-B95A-6E70-BDA7F5B30E17}"/>
              </a:ext>
            </a:extLst>
          </p:cNvPr>
          <p:cNvSpPr/>
          <p:nvPr/>
        </p:nvSpPr>
        <p:spPr>
          <a:xfrm>
            <a:off x="3014402" y="3543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Persona · Knowledge Base · Data Sources</a:t>
            </a:r>
            <a:endParaRPr lang="en-US" sz="900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F3E78D2-0CD3-1745-DA6B-A5774AB4DCEC}"/>
              </a:ext>
            </a:extLst>
          </p:cNvPr>
          <p:cNvSpPr/>
          <p:nvPr/>
        </p:nvSpPr>
        <p:spPr>
          <a:xfrm>
            <a:off x="2538914" y="4037360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7F08179-5F0F-D3FE-CB6A-4C1F328C0554}"/>
              </a:ext>
            </a:extLst>
          </p:cNvPr>
          <p:cNvSpPr/>
          <p:nvPr/>
        </p:nvSpPr>
        <p:spPr>
          <a:xfrm>
            <a:off x="2534522" y="4037360"/>
            <a:ext cx="388440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C79DE27-FA02-2FC9-DA7C-1998F59F624B}"/>
              </a:ext>
            </a:extLst>
          </p:cNvPr>
          <p:cNvSpPr/>
          <p:nvPr/>
        </p:nvSpPr>
        <p:spPr>
          <a:xfrm>
            <a:off x="2538914" y="40373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3CB4E6"/>
                </a:solidFill>
              </a:rPr>
              <a:t>03</a:t>
            </a:r>
            <a:endParaRPr lang="en-US" sz="1300" noProof="0" dirty="0">
              <a:solidFill>
                <a:srgbClr val="3CB4E6"/>
              </a:solidFill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6A6619B-8674-BA64-3CE5-896A0EFF018F}"/>
              </a:ext>
            </a:extLst>
          </p:cNvPr>
          <p:cNvSpPr/>
          <p:nvPr/>
        </p:nvSpPr>
        <p:spPr>
          <a:xfrm>
            <a:off x="3014402" y="4110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Meet the STM32Cube persona</a:t>
            </a:r>
            <a:endParaRPr lang="en-US" sz="1200" noProof="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B50D910-75A8-1AED-946D-B2B206AD6D9F}"/>
              </a:ext>
            </a:extLst>
          </p:cNvPr>
          <p:cNvSpPr/>
          <p:nvPr/>
        </p:nvSpPr>
        <p:spPr>
          <a:xfrm>
            <a:off x="3014402" y="44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this project builds</a:t>
            </a:r>
            <a:endParaRPr lang="en-US" sz="900" noProof="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9C748F6-8BE4-78A2-1C71-100DE8CA8A16}"/>
              </a:ext>
            </a:extLst>
          </p:cNvPr>
          <p:cNvSpPr/>
          <p:nvPr/>
        </p:nvSpPr>
        <p:spPr>
          <a:xfrm>
            <a:off x="2547697" y="2245136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ST ChatGPT Platform,  Creating a Persona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6" y="718488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Not just a chatbot: a configurable AI assistant built on Knowledge Bases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5823828" y="1861660"/>
            <a:ext cx="5824437" cy="3507685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D9589"/>
                </a:solidFill>
              </a:rPr>
              <a:t>What is ST ChatGPT?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The ST ChatGPT platform allows teams to create specialized AI personas tailored to a specific domain or use case.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Key concept: the Persona</a:t>
            </a:r>
          </a:p>
          <a:p>
            <a:endParaRPr lang="en-US" sz="1100" b="1" noProof="0" dirty="0">
              <a:solidFill>
                <a:srgbClr val="0D9589"/>
              </a:solidFill>
            </a:endParaRPr>
          </a:p>
          <a:p>
            <a:r>
              <a:rPr lang="en-US" sz="1100" b="0" noProof="0" dirty="0">
                <a:solidFill>
                  <a:srgbClr val="334155"/>
                </a:solidFill>
              </a:rPr>
              <a:t>A persona is a configured AI assistant , it has a name, a system prompt, one or more Knowledge Bases, and associated data sources.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Personas already live at ST:</a:t>
            </a:r>
          </a:p>
          <a:p>
            <a:endParaRPr lang="en-US" sz="1100" b="1" noProof="0" dirty="0">
              <a:solidFill>
                <a:srgbClr val="0D9589"/>
              </a:solidFill>
            </a:endParaRPr>
          </a:p>
          <a:p>
            <a:r>
              <a:rPr lang="en-US" sz="1100" b="0" noProof="0" dirty="0">
                <a:solidFill>
                  <a:srgbClr val="334155"/>
                </a:solidFill>
              </a:rPr>
              <a:t>● Alfred : general ST assistant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Others : domain-specific across ST teams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→ </a:t>
            </a:r>
            <a:r>
              <a:rPr lang="en-US" sz="1100" b="1" noProof="0" dirty="0">
                <a:solidFill>
                  <a:srgbClr val="334155"/>
                </a:solidFill>
              </a:rPr>
              <a:t>This project creates a NEW persona specialized in STM32Cube technical support.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3D56D8-EB1B-12A0-51AB-76C107255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"/>
          <a:stretch>
            <a:fillRect/>
          </a:stretch>
        </p:blipFill>
        <p:spPr>
          <a:xfrm>
            <a:off x="413107" y="1706146"/>
            <a:ext cx="4917924" cy="3663199"/>
          </a:xfrm>
          <a:prstGeom prst="rect">
            <a:avLst/>
          </a:prstGeom>
        </p:spPr>
      </p:pic>
      <p:sp>
        <p:nvSpPr>
          <p:cNvPr id="3" name="Shape 6">
            <a:extLst>
              <a:ext uri="{FF2B5EF4-FFF2-40B4-BE49-F238E27FC236}">
                <a16:creationId xmlns:a16="http://schemas.microsoft.com/office/drawing/2014/main" id="{DF5870AA-C069-20D1-681B-546E1DA11FB0}"/>
              </a:ext>
            </a:extLst>
          </p:cNvPr>
          <p:cNvSpPr/>
          <p:nvPr/>
        </p:nvSpPr>
        <p:spPr>
          <a:xfrm>
            <a:off x="5816787" y="1861660"/>
            <a:ext cx="45719" cy="3507685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36C49D2-6982-5856-22BC-4C73226FED83}"/>
              </a:ext>
            </a:extLst>
          </p:cNvPr>
          <p:cNvSpPr/>
          <p:nvPr/>
        </p:nvSpPr>
        <p:spPr>
          <a:xfrm>
            <a:off x="340364" y="108430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6D9CE3-682B-2846-ACD8-7B2048B5A5E3}"/>
              </a:ext>
            </a:extLst>
          </p:cNvPr>
          <p:cNvSpPr txBox="1"/>
          <p:nvPr/>
        </p:nvSpPr>
        <p:spPr>
          <a:xfrm>
            <a:off x="2977173" y="5911857"/>
            <a:ext cx="794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noProof="0" dirty="0">
                <a:solidFill>
                  <a:srgbClr val="0D9589"/>
                </a:solidFill>
              </a:rPr>
              <a:t>Each persona = Knowledge Base + Data Sources + System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Meet the STM32Cube AI Persona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51962E-1811-D4DA-B3AD-57BB4B8BD20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Daily Problem in Technical Support 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E1E6DC5-0CC8-EA2E-99B1-16C6126DAF9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Before this project, finding technical information was time-consuming</a:t>
            </a:r>
            <a:endParaRPr lang="en-US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AE4DBE-2314-9AF0-2A70-5F77B01B4E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DDED8CA-EC39-1208-E0CD-1B7E80D72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4" t="33814" r="20427" b="28708"/>
          <a:stretch>
            <a:fillRect/>
          </a:stretch>
        </p:blipFill>
        <p:spPr>
          <a:xfrm>
            <a:off x="7621371" y="2005622"/>
            <a:ext cx="3142708" cy="124241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791C2F5-27A7-AA64-3FB0-5CCD03F0E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36" y="2860917"/>
            <a:ext cx="4951360" cy="32408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BFCEB4-85A2-65F2-75E2-25DB2BF779CD}"/>
              </a:ext>
            </a:extLst>
          </p:cNvPr>
          <p:cNvSpPr/>
          <p:nvPr/>
        </p:nvSpPr>
        <p:spPr>
          <a:xfrm>
            <a:off x="2487958" y="3248032"/>
            <a:ext cx="1393296" cy="6770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TN" dirty="0" err="1"/>
          </a:p>
        </p:txBody>
      </p:sp>
      <p:sp>
        <p:nvSpPr>
          <p:cNvPr id="5" name="Center">
            <a:extLst>
              <a:ext uri="{FF2B5EF4-FFF2-40B4-BE49-F238E27FC236}">
                <a16:creationId xmlns:a16="http://schemas.microsoft.com/office/drawing/2014/main" id="{FAEA4C1B-C57C-78B7-187E-768FA0A0A261}"/>
              </a:ext>
            </a:extLst>
          </p:cNvPr>
          <p:cNvSpPr>
            <a:spLocks noGrp="1"/>
          </p:cNvSpPr>
          <p:nvPr/>
        </p:nvSpPr>
        <p:spPr>
          <a:xfrm>
            <a:off x="851636" y="1560814"/>
            <a:ext cx="4880240" cy="1155610"/>
          </a:xfrm>
          <a:prstGeom prst="rect">
            <a:avLst/>
          </a:prstGeom>
          <a:noFill/>
          <a:ln w="19050">
            <a:solidFill>
              <a:srgbClr val="0D9589"/>
            </a:solidFill>
          </a:ln>
        </p:spPr>
        <p:txBody>
          <a:bodyPr wrap="square" lIns="274638" tIns="274638" rIns="274638" bIns="274638"/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The idea behind this project</a:t>
            </a:r>
          </a:p>
          <a:p>
            <a:endParaRPr lang="en-US" sz="1000" dirty="0"/>
          </a:p>
          <a:p>
            <a:r>
              <a:rPr lang="en-US" sz="1200" b="0" noProof="0" dirty="0"/>
              <a:t>ST already has personas: Alfred, </a:t>
            </a:r>
            <a:r>
              <a:rPr lang="en-US" sz="1200" dirty="0"/>
              <a:t>Trinity</a:t>
            </a:r>
            <a:r>
              <a:rPr lang="en-US" sz="1200" b="0" noProof="0" dirty="0"/>
              <a:t>, and others, each specialized for a domain.</a:t>
            </a:r>
          </a:p>
          <a:p>
            <a:endParaRPr lang="en-US" sz="1000" dirty="0"/>
          </a:p>
          <a:p>
            <a:r>
              <a:rPr lang="en-US" sz="1100" b="0" i="1" noProof="0" dirty="0">
                <a:solidFill>
                  <a:srgbClr val="FFD200"/>
                </a:solidFill>
              </a:rPr>
              <a:t>.</a:t>
            </a:r>
          </a:p>
        </p:txBody>
      </p:sp>
      <p:sp>
        <p:nvSpPr>
          <p:cNvPr id="8" name="Center">
            <a:extLst>
              <a:ext uri="{FF2B5EF4-FFF2-40B4-BE49-F238E27FC236}">
                <a16:creationId xmlns:a16="http://schemas.microsoft.com/office/drawing/2014/main" id="{A164DBC8-7C3A-8052-14D5-6FDE2528F6CF}"/>
              </a:ext>
            </a:extLst>
          </p:cNvPr>
          <p:cNvSpPr>
            <a:spLocks noGrp="1"/>
          </p:cNvSpPr>
          <p:nvPr/>
        </p:nvSpPr>
        <p:spPr>
          <a:xfrm>
            <a:off x="6900276" y="3586543"/>
            <a:ext cx="4768263" cy="1442658"/>
          </a:xfrm>
          <a:prstGeom prst="rect">
            <a:avLst/>
          </a:prstGeom>
          <a:noFill/>
          <a:ln w="19050">
            <a:solidFill>
              <a:srgbClr val="FFD200"/>
            </a:solidFill>
          </a:ln>
        </p:spPr>
        <p:txBody>
          <a:bodyPr wrap="square" lIns="274638" tIns="274638" rIns="274638" bIns="274638"/>
          <a:lstStyle/>
          <a:p>
            <a:r>
              <a:rPr lang="en-US" sz="1600" b="1" noProof="0" dirty="0">
                <a:solidFill>
                  <a:srgbClr val="FFD200"/>
                </a:solidFill>
              </a:rPr>
              <a:t>A persona that knows STM32Cube.</a:t>
            </a:r>
          </a:p>
          <a:p>
            <a:endParaRPr lang="en-US" sz="1000" dirty="0"/>
          </a:p>
          <a:p>
            <a:r>
              <a:rPr lang="en-US" sz="1200" b="0" noProof="0" dirty="0"/>
              <a:t>A persona that has read 300+ issues, 5,000+ technical files, and every resolved PR. That can answer in seconds what took 30-60 minutes to find manually.</a:t>
            </a:r>
          </a:p>
          <a:p>
            <a:endParaRPr lang="en-US" sz="1000" dirty="0"/>
          </a:p>
        </p:txBody>
      </p:sp>
      <p:pic>
        <p:nvPicPr>
          <p:cNvPr id="9" name="Graphic 4" descr="Arrow Right with solid fill">
            <a:extLst>
              <a:ext uri="{FF2B5EF4-FFF2-40B4-BE49-F238E27FC236}">
                <a16:creationId xmlns:a16="http://schemas.microsoft.com/office/drawing/2014/main" id="{EDDC2F10-6C2D-401E-58E9-9CB267719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81090" flipV="1">
            <a:off x="5972313" y="2587116"/>
            <a:ext cx="1130324" cy="6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4C59-FDC3-2BDE-07C0-186D21C0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9B95-50B2-CC68-F4B7-BD8EDFF9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Why this project?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7BBE91-8617-EC87-BD5D-ADD085E93B2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Daily Support Problem 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0385A16-4C7C-9261-2A6E-E28EE8E690B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Technical info exists , but it's scattered</a:t>
            </a:r>
            <a:endParaRPr lang="en-US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ED1D3D2-0B48-9B6D-F306-C26EA525AA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CC8BF856-E425-AAB5-B960-9D7C35BBA628}"/>
              </a:ext>
            </a:extLst>
          </p:cNvPr>
          <p:cNvSpPr/>
          <p:nvPr/>
        </p:nvSpPr>
        <p:spPr>
          <a:xfrm>
            <a:off x="1381838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7A792D4E-7BBB-C454-AD92-E2524A075434}"/>
              </a:ext>
            </a:extLst>
          </p:cNvPr>
          <p:cNvSpPr/>
          <p:nvPr/>
        </p:nvSpPr>
        <p:spPr>
          <a:xfrm>
            <a:off x="1381838" y="215423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6A33DDAA-5371-B5E9-3F64-8350A3F57311}"/>
              </a:ext>
            </a:extLst>
          </p:cNvPr>
          <p:cNvSpPr/>
          <p:nvPr/>
        </p:nvSpPr>
        <p:spPr>
          <a:xfrm>
            <a:off x="1473278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 noProof="0" dirty="0">
                <a:solidFill>
                  <a:srgbClr val="FFFFFF"/>
                </a:solidFill>
              </a:rPr>
              <a:t>Before this project</a:t>
            </a:r>
            <a:endParaRPr lang="en-US" sz="1300" noProof="0" dirty="0"/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C8F9075C-BF8B-5EC1-6173-352DB1FE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2775409"/>
            <a:ext cx="188100" cy="188100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C5407319-1C8B-617B-1045-487E70DA683F}"/>
              </a:ext>
            </a:extLst>
          </p:cNvPr>
          <p:cNvSpPr/>
          <p:nvPr/>
        </p:nvSpPr>
        <p:spPr>
          <a:xfrm>
            <a:off x="1857326" y="271961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A customer reports a DMA bug on STM32H7</a:t>
            </a:r>
            <a:endParaRPr lang="en-US" sz="1100" noProof="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73754468-1022-388F-891F-29832C39CB11}"/>
              </a:ext>
            </a:extLst>
          </p:cNvPr>
          <p:cNvSpPr/>
          <p:nvPr/>
        </p:nvSpPr>
        <p:spPr>
          <a:xfrm>
            <a:off x="1857326" y="314938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Engineer searches GitHub: 300+ issues to scan</a:t>
            </a:r>
            <a:endParaRPr lang="en-US" sz="1100" noProof="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008F96C0-3375-1367-469D-7C2E816D3077}"/>
              </a:ext>
            </a:extLst>
          </p:cNvPr>
          <p:cNvSpPr/>
          <p:nvPr/>
        </p:nvSpPr>
        <p:spPr>
          <a:xfrm>
            <a:off x="1857326" y="357915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Searches the docs: 5,000+ technical files</a:t>
            </a:r>
            <a:endParaRPr lang="en-US" sz="1100" noProof="0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EF1FCC1A-2C83-1784-6824-7BF90230E806}"/>
              </a:ext>
            </a:extLst>
          </p:cNvPr>
          <p:cNvSpPr/>
          <p:nvPr/>
        </p:nvSpPr>
        <p:spPr>
          <a:xfrm>
            <a:off x="1857326" y="400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Takes 30–60 min just to check if the bug is known</a:t>
            </a:r>
            <a:endParaRPr lang="en-US" sz="1100" noProof="0" dirty="0"/>
          </a:p>
        </p:txBody>
      </p:sp>
      <p:pic>
        <p:nvPicPr>
          <p:cNvPr id="72" name="Image 5" descr="preencoded.png">
            <a:extLst>
              <a:ext uri="{FF2B5EF4-FFF2-40B4-BE49-F238E27FC236}">
                <a16:creationId xmlns:a16="http://schemas.microsoft.com/office/drawing/2014/main" id="{D1837122-6F6C-AFD6-7B14-E5EE0625E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55" y="4620189"/>
            <a:ext cx="217157" cy="217157"/>
          </a:xfrm>
          <a:prstGeom prst="rect">
            <a:avLst/>
          </a:prstGeom>
        </p:spPr>
      </p:pic>
      <p:sp>
        <p:nvSpPr>
          <p:cNvPr id="73" name="Text 13">
            <a:extLst>
              <a:ext uri="{FF2B5EF4-FFF2-40B4-BE49-F238E27FC236}">
                <a16:creationId xmlns:a16="http://schemas.microsoft.com/office/drawing/2014/main" id="{1F3D3CD5-33E3-D1DE-78E1-A006CB619C59}"/>
              </a:ext>
            </a:extLst>
          </p:cNvPr>
          <p:cNvSpPr/>
          <p:nvPr/>
        </p:nvSpPr>
        <p:spPr>
          <a:xfrm>
            <a:off x="1892996" y="458612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The information existed , it was just scattered</a:t>
            </a:r>
            <a:endParaRPr lang="en-US" sz="1100" noProof="0" dirty="0"/>
          </a:p>
        </p:txBody>
      </p:sp>
      <p:sp>
        <p:nvSpPr>
          <p:cNvPr id="74" name="Shape 14">
            <a:extLst>
              <a:ext uri="{FF2B5EF4-FFF2-40B4-BE49-F238E27FC236}">
                <a16:creationId xmlns:a16="http://schemas.microsoft.com/office/drawing/2014/main" id="{8DA141FB-8120-7F25-BD18-253CA596022E}"/>
              </a:ext>
            </a:extLst>
          </p:cNvPr>
          <p:cNvSpPr/>
          <p:nvPr/>
        </p:nvSpPr>
        <p:spPr>
          <a:xfrm>
            <a:off x="6624863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5" name="Shape 15">
            <a:extLst>
              <a:ext uri="{FF2B5EF4-FFF2-40B4-BE49-F238E27FC236}">
                <a16:creationId xmlns:a16="http://schemas.microsoft.com/office/drawing/2014/main" id="{9BD8F2EB-26A2-4A34-A83E-E250AEB39E72}"/>
              </a:ext>
            </a:extLst>
          </p:cNvPr>
          <p:cNvSpPr/>
          <p:nvPr/>
        </p:nvSpPr>
        <p:spPr>
          <a:xfrm>
            <a:off x="6624863" y="215423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F65B7521-650D-0678-E5E2-823A1703058A}"/>
              </a:ext>
            </a:extLst>
          </p:cNvPr>
          <p:cNvSpPr/>
          <p:nvPr/>
        </p:nvSpPr>
        <p:spPr>
          <a:xfrm>
            <a:off x="6716303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✅ This project's objective</a:t>
            </a:r>
            <a:endParaRPr lang="en-US" sz="1300" noProof="0" dirty="0"/>
          </a:p>
        </p:txBody>
      </p:sp>
      <p:pic>
        <p:nvPicPr>
          <p:cNvPr id="77" name="Image 6" descr="preencoded.png">
            <a:extLst>
              <a:ext uri="{FF2B5EF4-FFF2-40B4-BE49-F238E27FC236}">
                <a16:creationId xmlns:a16="http://schemas.microsoft.com/office/drawing/2014/main" id="{3E53CE7E-2AD6-852F-797A-9309E7800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2831697"/>
            <a:ext cx="188100" cy="188100"/>
          </a:xfrm>
          <a:prstGeom prst="rect">
            <a:avLst/>
          </a:prstGeom>
        </p:spPr>
      </p:pic>
      <p:sp>
        <p:nvSpPr>
          <p:cNvPr id="78" name="Text 17">
            <a:extLst>
              <a:ext uri="{FF2B5EF4-FFF2-40B4-BE49-F238E27FC236}">
                <a16:creationId xmlns:a16="http://schemas.microsoft.com/office/drawing/2014/main" id="{FFEE26DC-8480-4FFB-5B96-9AAB73D82750}"/>
              </a:ext>
            </a:extLst>
          </p:cNvPr>
          <p:cNvSpPr/>
          <p:nvPr/>
        </p:nvSpPr>
        <p:spPr>
          <a:xfrm>
            <a:off x="7133125" y="275251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noProof="0" dirty="0">
                <a:solidFill>
                  <a:srgbClr val="0D9488"/>
                </a:solidFill>
              </a:rPr>
              <a:t>Centralize : </a:t>
            </a:r>
            <a:r>
              <a:rPr lang="en-US" sz="1100" noProof="0" dirty="0">
                <a:solidFill>
                  <a:srgbClr val="1B2A3B"/>
                </a:solidFill>
              </a:rPr>
              <a:t>all STM32Cube knowledge in one placet</a:t>
            </a:r>
            <a:endParaRPr lang="en-US" sz="1100" noProof="0" dirty="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032524E0-41DD-C300-E2F6-9FF5CCF430C9}"/>
              </a:ext>
            </a:extLst>
          </p:cNvPr>
          <p:cNvSpPr/>
          <p:nvPr/>
        </p:nvSpPr>
        <p:spPr>
          <a:xfrm>
            <a:off x="7133125" y="327372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Structure : </a:t>
            </a:r>
            <a:r>
              <a:rPr lang="en-US" sz="1100" noProof="0" dirty="0">
                <a:solidFill>
                  <a:srgbClr val="1B2A3B"/>
                </a:solidFill>
              </a:rPr>
              <a:t>data normalized, enriched, ready for retrieval</a:t>
            </a:r>
            <a:endParaRPr lang="en-US" sz="1100" noProof="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75884DD8-FD91-F6B7-2FDD-4F09DFF3D555}"/>
              </a:ext>
            </a:extLst>
          </p:cNvPr>
          <p:cNvSpPr/>
          <p:nvPr/>
        </p:nvSpPr>
        <p:spPr>
          <a:xfrm>
            <a:off x="7133125" y="379493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Answer : </a:t>
            </a:r>
            <a:r>
              <a:rPr lang="en-US" sz="1100" noProof="0" dirty="0">
                <a:solidFill>
                  <a:srgbClr val="1B2A3B"/>
                </a:solidFill>
              </a:rPr>
              <a:t>technical questions in seconds with sources </a:t>
            </a:r>
            <a:endParaRPr lang="en-US" sz="1100" noProof="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03A7B315-36B1-B042-184F-858A1D963B9A}"/>
              </a:ext>
            </a:extLst>
          </p:cNvPr>
          <p:cNvSpPr/>
          <p:nvPr/>
        </p:nvSpPr>
        <p:spPr>
          <a:xfrm>
            <a:off x="7133125" y="43161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Trace : </a:t>
            </a:r>
            <a:r>
              <a:rPr lang="en-US" sz="1100" noProof="0" dirty="0">
                <a:solidFill>
                  <a:srgbClr val="1B2A3B"/>
                </a:solidFill>
              </a:rPr>
              <a:t>every answer back to issue, PR, commit, or doc</a:t>
            </a:r>
            <a:endParaRPr lang="en-US" sz="1100" noProof="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8AD70C8B-903F-E4C8-0ED6-C348AA40B989}"/>
              </a:ext>
            </a:extLst>
          </p:cNvPr>
          <p:cNvSpPr/>
          <p:nvPr/>
        </p:nvSpPr>
        <p:spPr>
          <a:xfrm>
            <a:off x="7133125" y="483734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Learn : </a:t>
            </a:r>
            <a:r>
              <a:rPr lang="en-US" sz="1100" noProof="0" dirty="0">
                <a:solidFill>
                  <a:srgbClr val="1B2A3B"/>
                </a:solidFill>
              </a:rPr>
              <a:t>from every resolved bug for the next ones</a:t>
            </a:r>
            <a:endParaRPr lang="en-US" sz="1100" noProof="0" dirty="0"/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5B34FB45-95FE-CA1E-EE22-D14FAEF22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64" y="3199030"/>
            <a:ext cx="188100" cy="188100"/>
          </a:xfrm>
          <a:prstGeom prst="rect">
            <a:avLst/>
          </a:prstGeom>
        </p:spPr>
      </p:pic>
      <p:pic>
        <p:nvPicPr>
          <p:cNvPr id="89" name="Image 0" descr="preencoded.png">
            <a:extLst>
              <a:ext uri="{FF2B5EF4-FFF2-40B4-BE49-F238E27FC236}">
                <a16:creationId xmlns:a16="http://schemas.microsoft.com/office/drawing/2014/main" id="{56E51B47-8622-3F22-EF48-DCB93DCE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013" y="3616970"/>
            <a:ext cx="188100" cy="188100"/>
          </a:xfrm>
          <a:prstGeom prst="rect">
            <a:avLst/>
          </a:prstGeom>
        </p:spPr>
      </p:pic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E3571077-BCD2-2366-8E2A-A9A92CA79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4063751"/>
            <a:ext cx="188100" cy="188100"/>
          </a:xfrm>
          <a:prstGeom prst="rect">
            <a:avLst/>
          </a:prstGeom>
        </p:spPr>
      </p:pic>
      <p:pic>
        <p:nvPicPr>
          <p:cNvPr id="92" name="Image 6" descr="preencoded.png">
            <a:extLst>
              <a:ext uri="{FF2B5EF4-FFF2-40B4-BE49-F238E27FC236}">
                <a16:creationId xmlns:a16="http://schemas.microsoft.com/office/drawing/2014/main" id="{F48C18E9-291C-DD28-010F-1E862C81D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3295934"/>
            <a:ext cx="188100" cy="188100"/>
          </a:xfrm>
          <a:prstGeom prst="rect">
            <a:avLst/>
          </a:prstGeom>
        </p:spPr>
      </p:pic>
      <p:pic>
        <p:nvPicPr>
          <p:cNvPr id="93" name="Image 6" descr="preencoded.png">
            <a:extLst>
              <a:ext uri="{FF2B5EF4-FFF2-40B4-BE49-F238E27FC236}">
                <a16:creationId xmlns:a16="http://schemas.microsoft.com/office/drawing/2014/main" id="{4A1CFD88-1CFA-A2C4-E14A-413DCF90C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3875651"/>
            <a:ext cx="188100" cy="188100"/>
          </a:xfrm>
          <a:prstGeom prst="rect">
            <a:avLst/>
          </a:prstGeom>
        </p:spPr>
      </p:pic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1D88C528-EF2F-1BFE-9E22-74BA0B54B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4395824"/>
            <a:ext cx="188100" cy="188100"/>
          </a:xfrm>
          <a:prstGeom prst="rect">
            <a:avLst/>
          </a:prstGeom>
        </p:spPr>
      </p:pic>
      <p:pic>
        <p:nvPicPr>
          <p:cNvPr id="95" name="Image 6" descr="preencoded.png">
            <a:extLst>
              <a:ext uri="{FF2B5EF4-FFF2-40B4-BE49-F238E27FC236}">
                <a16:creationId xmlns:a16="http://schemas.microsoft.com/office/drawing/2014/main" id="{CC0FA10E-BB9D-9FEB-BF42-A1F323459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4930324"/>
            <a:ext cx="188100" cy="1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77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E538-A456-35E0-F4D9-6FE9229F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E993-A2E8-1465-209B-79CDBA61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Where AI stands in here 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D0934-FC75-C263-F19E-E9546DA8293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No magic — organized retrieval from structured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6C9AB0E-5BC5-29EC-6D9A-B00461F6249E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Understanding what the STM32Cube persona actually does</a:t>
            </a:r>
            <a:endParaRPr lang="en-US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829B853-4C45-6953-1216-C7DF112C884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AD1D205-2676-8D4F-3EF7-AA1D88C3FF16}"/>
              </a:ext>
            </a:extLst>
          </p:cNvPr>
          <p:cNvSpPr/>
          <p:nvPr/>
        </p:nvSpPr>
        <p:spPr>
          <a:xfrm>
            <a:off x="1322971" y="1665975"/>
            <a:ext cx="9546057" cy="98755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18FC2E3-1F4F-64D5-FAEA-E6D31D39F812}"/>
              </a:ext>
            </a:extLst>
          </p:cNvPr>
          <p:cNvSpPr/>
          <p:nvPr/>
        </p:nvSpPr>
        <p:spPr>
          <a:xfrm>
            <a:off x="1322971" y="1665975"/>
            <a:ext cx="72633" cy="98755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E865E9A-9BF3-4BF6-95ED-59F0EABD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73" y="1715318"/>
            <a:ext cx="352789" cy="310896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5B252642-AC16-CA5C-A22D-04631076DE09}"/>
              </a:ext>
            </a:extLst>
          </p:cNvPr>
          <p:cNvSpPr/>
          <p:nvPr/>
        </p:nvSpPr>
        <p:spPr>
          <a:xfrm>
            <a:off x="1917332" y="1702551"/>
            <a:ext cx="2075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F59E0B"/>
                </a:solidFill>
              </a:rPr>
              <a:t>Analogy</a:t>
            </a:r>
            <a:endParaRPr lang="en-US" sz="1000" noProof="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463B47C-07B2-84D3-CA88-B6835A24BC01}"/>
              </a:ext>
            </a:extLst>
          </p:cNvPr>
          <p:cNvSpPr/>
          <p:nvPr/>
        </p:nvSpPr>
        <p:spPr>
          <a:xfrm>
            <a:off x="1623486" y="2014935"/>
            <a:ext cx="87159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Imaginez un ingénieur senior avec 10 ans d'expérience STM32. Il a lu toutes les issues, tous les fichiers, tous les </a:t>
            </a:r>
            <a:r>
              <a:rPr lang="en-US" sz="1100" noProof="0" dirty="0" err="1">
                <a:solidFill>
                  <a:srgbClr val="1B2A3B"/>
                </a:solidFill>
              </a:rPr>
              <a:t>PRs</a:t>
            </a:r>
            <a:r>
              <a:rPr lang="en-US" sz="1100" noProof="0" dirty="0">
                <a:solidFill>
                  <a:srgbClr val="1B2A3B"/>
                </a:solidFill>
              </a:rPr>
              <a:t>. Quand vous lui posez une question, il cherche dans sa mémoire et vous donne la réponse avec les sources. L'outil fait exactement ça , mais automatiquement.</a:t>
            </a:r>
            <a:endParaRPr lang="en-US" sz="1100" noProof="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4C28755-DB4F-27BD-5A17-CC1BB896987B}"/>
              </a:ext>
            </a:extLst>
          </p:cNvPr>
          <p:cNvSpPr/>
          <p:nvPr/>
        </p:nvSpPr>
        <p:spPr>
          <a:xfrm>
            <a:off x="1678959" y="3013165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2356146-53B7-73A4-C188-48A7922356BE}"/>
              </a:ext>
            </a:extLst>
          </p:cNvPr>
          <p:cNvSpPr/>
          <p:nvPr/>
        </p:nvSpPr>
        <p:spPr>
          <a:xfrm>
            <a:off x="1678959" y="3013164"/>
            <a:ext cx="2697480" cy="4023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A58D1A5-84E6-2A9A-5A9A-E6036160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63" y="3105381"/>
            <a:ext cx="237744" cy="237744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745D125A-304A-F722-8E10-0C28EFDA21F1}"/>
              </a:ext>
            </a:extLst>
          </p:cNvPr>
          <p:cNvSpPr/>
          <p:nvPr/>
        </p:nvSpPr>
        <p:spPr>
          <a:xfrm>
            <a:off x="2127015" y="3049741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AI (LLM)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431F647-8786-A6B7-09F9-72C2BD644C84}"/>
              </a:ext>
            </a:extLst>
          </p:cNvPr>
          <p:cNvSpPr/>
          <p:nvPr/>
        </p:nvSpPr>
        <p:spPr>
          <a:xfrm>
            <a:off x="2107703" y="3250909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noProof="0" dirty="0">
                <a:solidFill>
                  <a:srgbClr val="425A78"/>
                </a:solidFill>
              </a:rPr>
              <a:t>Large </a:t>
            </a:r>
            <a:r>
              <a:rPr lang="en-US" sz="750" i="1" noProof="0" dirty="0" err="1">
                <a:solidFill>
                  <a:srgbClr val="425A78"/>
                </a:solidFill>
              </a:rPr>
              <a:t>Language</a:t>
            </a:r>
            <a:r>
              <a:rPr lang="en-US" sz="750" i="1" noProof="0" dirty="0">
                <a:solidFill>
                  <a:srgbClr val="425A78"/>
                </a:solidFill>
              </a:rPr>
              <a:t> Model</a:t>
            </a:r>
            <a:endParaRPr lang="en-US" sz="750" noProof="0" dirty="0">
              <a:solidFill>
                <a:srgbClr val="425A78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5864171-1F54-1688-BC2A-73043BA04CA1}"/>
              </a:ext>
            </a:extLst>
          </p:cNvPr>
          <p:cNvSpPr/>
          <p:nvPr/>
        </p:nvSpPr>
        <p:spPr>
          <a:xfrm>
            <a:off x="1788687" y="3415501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Un programme entraîné sur des milliards de textes. Il comprend le langage naturel et génère des réponses cohérentes. </a:t>
            </a:r>
          </a:p>
          <a:p>
            <a:pPr marL="0" indent="0">
              <a:buNone/>
            </a:pPr>
            <a:endParaRPr lang="en-US" sz="950" noProof="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Ici c'est le moteur de ST </a:t>
            </a:r>
            <a:r>
              <a:rPr lang="en-US" sz="950" noProof="0" dirty="0" err="1">
                <a:solidFill>
                  <a:srgbClr val="1B2A3B"/>
                </a:solidFill>
              </a:rPr>
              <a:t>ChatGPT</a:t>
            </a:r>
            <a:r>
              <a:rPr lang="en-US" sz="950" noProof="0" dirty="0">
                <a:solidFill>
                  <a:srgbClr val="1B2A3B"/>
                </a:solidFill>
              </a:rPr>
              <a:t>.</a:t>
            </a:r>
            <a:endParaRPr lang="en-US" sz="950" noProof="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C0A64A0-5D01-652C-2536-82E2BF93C173}"/>
              </a:ext>
            </a:extLst>
          </p:cNvPr>
          <p:cNvSpPr/>
          <p:nvPr/>
        </p:nvSpPr>
        <p:spPr>
          <a:xfrm>
            <a:off x="1752111" y="5134573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D082E55-DDCE-6C89-3AA4-77D224E5903E}"/>
              </a:ext>
            </a:extLst>
          </p:cNvPr>
          <p:cNvSpPr/>
          <p:nvPr/>
        </p:nvSpPr>
        <p:spPr>
          <a:xfrm>
            <a:off x="1770399" y="514371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Like a brain that understands questions</a:t>
            </a:r>
            <a:endParaRPr lang="en-US" sz="900" noProof="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B5F5369-73EF-CCF0-81AD-DA1F8DC6777D}"/>
              </a:ext>
            </a:extLst>
          </p:cNvPr>
          <p:cNvSpPr/>
          <p:nvPr/>
        </p:nvSpPr>
        <p:spPr>
          <a:xfrm>
            <a:off x="4787919" y="3016593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3031BB8-2A09-320F-D2E7-95FC1A35ED63}"/>
              </a:ext>
            </a:extLst>
          </p:cNvPr>
          <p:cNvSpPr/>
          <p:nvPr/>
        </p:nvSpPr>
        <p:spPr>
          <a:xfrm>
            <a:off x="4787919" y="3016593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95C22DF-1B16-48FB-038A-F1B733E2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647" y="3080601"/>
            <a:ext cx="237744" cy="237744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4CA894F-F916-6500-87F8-F55CD454FF72}"/>
              </a:ext>
            </a:extLst>
          </p:cNvPr>
          <p:cNvSpPr/>
          <p:nvPr/>
        </p:nvSpPr>
        <p:spPr>
          <a:xfrm>
            <a:off x="5199399" y="3053169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KB (Knowledge Base)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867D7C-D7F3-73DB-A2FC-A2AA47A0A74B}"/>
              </a:ext>
            </a:extLst>
          </p:cNvPr>
          <p:cNvSpPr/>
          <p:nvPr/>
        </p:nvSpPr>
        <p:spPr>
          <a:xfrm>
            <a:off x="5199399" y="3254337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noProof="0" dirty="0">
                <a:solidFill>
                  <a:srgbClr val="425A78"/>
                </a:solidFill>
              </a:rPr>
              <a:t>Base de connaissances</a:t>
            </a:r>
            <a:endParaRPr lang="en-US" sz="750" noProof="0" dirty="0">
              <a:solidFill>
                <a:srgbClr val="425A78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B93881-BA31-EE40-7510-28A866E170B6}"/>
              </a:ext>
            </a:extLst>
          </p:cNvPr>
          <p:cNvSpPr/>
          <p:nvPr/>
        </p:nvSpPr>
        <p:spPr>
          <a:xfrm>
            <a:off x="4897647" y="3418929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C'est la bibliothèque de l'outil. Toute l'info STM32 y est stockée sous forme de petits morceaux de texte indexés. </a:t>
            </a:r>
          </a:p>
          <a:p>
            <a:pPr marL="0" indent="0">
              <a:buNone/>
            </a:pPr>
            <a:endParaRPr lang="en-US" sz="950" noProof="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L'outil y cherche avant de répondre.</a:t>
            </a:r>
            <a:endParaRPr lang="en-US" sz="950" noProof="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BCE532-EF36-B10D-8032-308321F8E998}"/>
              </a:ext>
            </a:extLst>
          </p:cNvPr>
          <p:cNvSpPr/>
          <p:nvPr/>
        </p:nvSpPr>
        <p:spPr>
          <a:xfrm>
            <a:off x="4861071" y="5138001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535604-EA9E-62B2-F5FA-1828CD2FF5ED}"/>
              </a:ext>
            </a:extLst>
          </p:cNvPr>
          <p:cNvSpPr/>
          <p:nvPr/>
        </p:nvSpPr>
        <p:spPr>
          <a:xfrm>
            <a:off x="4879359" y="514714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 Like an ultra-organized, searchable library</a:t>
            </a:r>
            <a:endParaRPr lang="en-US" sz="900" noProof="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152664-7152-9295-DF54-7951146ACF9D}"/>
              </a:ext>
            </a:extLst>
          </p:cNvPr>
          <p:cNvSpPr/>
          <p:nvPr/>
        </p:nvSpPr>
        <p:spPr>
          <a:xfrm>
            <a:off x="7896879" y="3011812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0DBFFD-5F44-C334-CB34-81269815BCF2}"/>
              </a:ext>
            </a:extLst>
          </p:cNvPr>
          <p:cNvSpPr/>
          <p:nvPr/>
        </p:nvSpPr>
        <p:spPr>
          <a:xfrm>
            <a:off x="7896879" y="3011812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66567D39-F4EE-25E3-C811-97BE2134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607" y="3075820"/>
            <a:ext cx="237744" cy="237744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E5F1B35-0E0C-0A22-E680-A2714E9F8522}"/>
              </a:ext>
            </a:extLst>
          </p:cNvPr>
          <p:cNvSpPr/>
          <p:nvPr/>
        </p:nvSpPr>
        <p:spPr>
          <a:xfrm>
            <a:off x="8308359" y="30483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RAG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7B3D871-62F6-AE9B-9A8C-D7E8ED57B70A}"/>
              </a:ext>
            </a:extLst>
          </p:cNvPr>
          <p:cNvSpPr/>
          <p:nvPr/>
        </p:nvSpPr>
        <p:spPr>
          <a:xfrm>
            <a:off x="8308359" y="32495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noProof="0" dirty="0" err="1">
                <a:solidFill>
                  <a:srgbClr val="425A78"/>
                </a:solidFill>
              </a:rPr>
              <a:t>Retrieval-Augmented</a:t>
            </a:r>
            <a:r>
              <a:rPr lang="en-US" sz="750" i="1" noProof="0" dirty="0">
                <a:solidFill>
                  <a:srgbClr val="425A78"/>
                </a:solidFill>
              </a:rPr>
              <a:t> </a:t>
            </a:r>
            <a:r>
              <a:rPr lang="en-US" sz="750" i="1" noProof="0" dirty="0" err="1">
                <a:solidFill>
                  <a:srgbClr val="425A78"/>
                </a:solidFill>
              </a:rPr>
              <a:t>Generation</a:t>
            </a:r>
            <a:endParaRPr lang="en-US" sz="750" noProof="0" dirty="0">
              <a:solidFill>
                <a:srgbClr val="425A78"/>
              </a:solidFill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378D2B7-DC0F-71C8-F21E-D6B69D0EF13A}"/>
              </a:ext>
            </a:extLst>
          </p:cNvPr>
          <p:cNvSpPr/>
          <p:nvPr/>
        </p:nvSpPr>
        <p:spPr>
          <a:xfrm>
            <a:off x="8006607" y="3414148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C'est la technique qui combine KB + LLM. Quand une question arrive : </a:t>
            </a:r>
          </a:p>
          <a:p>
            <a:pPr marL="0" indent="0">
              <a:buNone/>
            </a:pPr>
            <a:endParaRPr lang="en-US" sz="950" noProof="0" dirty="0">
              <a:solidFill>
                <a:srgbClr val="1B2A3B"/>
              </a:solidFill>
            </a:endParaRPr>
          </a:p>
          <a:p>
            <a:pPr marL="228600" indent="-228600">
              <a:buAutoNum type="arabicParenR"/>
            </a:pPr>
            <a:r>
              <a:rPr lang="en-US" sz="950" noProof="0" dirty="0">
                <a:solidFill>
                  <a:srgbClr val="1B2A3B"/>
                </a:solidFill>
              </a:rPr>
              <a:t>Chercher les passages pertinents dans la KB</a:t>
            </a:r>
          </a:p>
          <a:p>
            <a:pPr marL="228600" indent="-228600">
              <a:buAutoNum type="arabicParenR"/>
            </a:pPr>
            <a:r>
              <a:rPr lang="en-US" sz="950" noProof="0" dirty="0">
                <a:solidFill>
                  <a:srgbClr val="1B2A3B"/>
                </a:solidFill>
              </a:rPr>
              <a:t>Les donner au LLM pour qu'il formule la réponse.</a:t>
            </a:r>
            <a:endParaRPr lang="en-US" sz="950" noProof="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382E257-A46C-28CA-9E1B-67ADD9BB63FD}"/>
              </a:ext>
            </a:extLst>
          </p:cNvPr>
          <p:cNvSpPr/>
          <p:nvPr/>
        </p:nvSpPr>
        <p:spPr>
          <a:xfrm>
            <a:off x="7970031" y="5133220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7E182EE-D3EE-33E2-A71E-E2D57FB491E1}"/>
              </a:ext>
            </a:extLst>
          </p:cNvPr>
          <p:cNvSpPr/>
          <p:nvPr/>
        </p:nvSpPr>
        <p:spPr>
          <a:xfrm>
            <a:off x="7988319" y="51423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 Retrieve first — answer second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79048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68FC6BD5-FCDE-B024-BAC9-35D7FAB0883A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239C5B1F-2064-D1B1-9A51-131102510CA9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DB630E7-F076-96CB-5F62-A6B1F3F7AD8F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Retourne les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(morceaux) pertinents</a:t>
            </a:r>
            <a:endParaRPr lang="en-US" sz="85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D2B433B7-7870-A4C4-5D2C-E8E905355F57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84A4209F-ABD1-5B70-A44A-11F08F97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018B1A51-54FA-49F0-9F46-2FB75E5BFDA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sp>
        <p:nvSpPr>
          <p:cNvPr id="87" name="Shape 20">
            <a:extLst>
              <a:ext uri="{FF2B5EF4-FFF2-40B4-BE49-F238E27FC236}">
                <a16:creationId xmlns:a16="http://schemas.microsoft.com/office/drawing/2014/main" id="{4B84709A-2FCA-92CB-AD8D-84D98B661D8D}"/>
              </a:ext>
            </a:extLst>
          </p:cNvPr>
          <p:cNvSpPr/>
          <p:nvPr/>
        </p:nvSpPr>
        <p:spPr>
          <a:xfrm>
            <a:off x="1964215" y="4381743"/>
            <a:ext cx="8412480" cy="135331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Shape 21">
            <a:extLst>
              <a:ext uri="{FF2B5EF4-FFF2-40B4-BE49-F238E27FC236}">
                <a16:creationId xmlns:a16="http://schemas.microsoft.com/office/drawing/2014/main" id="{C2D31CA8-C600-4482-5053-958C61305F6E}"/>
              </a:ext>
            </a:extLst>
          </p:cNvPr>
          <p:cNvSpPr/>
          <p:nvPr/>
        </p:nvSpPr>
        <p:spPr>
          <a:xfrm>
            <a:off x="1964215" y="4381743"/>
            <a:ext cx="6400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CAAEEA6D-9AD9-5009-5D28-72AABC91E671}"/>
              </a:ext>
            </a:extLst>
          </p:cNvPr>
          <p:cNvSpPr/>
          <p:nvPr/>
        </p:nvSpPr>
        <p:spPr>
          <a:xfrm>
            <a:off x="2165383" y="445489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My role in this project:</a:t>
            </a:r>
            <a:endParaRPr lang="en-US" sz="1100" noProof="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D9D7649B-5E54-4C44-8A5D-49736D437AD9}"/>
              </a:ext>
            </a:extLst>
          </p:cNvPr>
          <p:cNvSpPr/>
          <p:nvPr/>
        </p:nvSpPr>
        <p:spPr>
          <a:xfrm>
            <a:off x="2165383" y="4710927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1B2A3B"/>
                </a:solidFill>
              </a:rPr>
              <a:t>Mon rôle </a:t>
            </a:r>
            <a:r>
              <a:rPr lang="en-US" sz="1100" noProof="0" dirty="0">
                <a:solidFill>
                  <a:srgbClr val="1B2A3B"/>
                </a:solidFill>
              </a:rPr>
              <a:t>= préparer les données qui alimentent la Knowledge Base. </a:t>
            </a:r>
          </a:p>
          <a:p>
            <a:pPr marL="0" indent="0">
              <a:buNone/>
            </a:pPr>
            <a:endParaRPr lang="en-US" sz="1100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Si les données sont mauvaises → les réponses sont Mauvaises </a:t>
            </a:r>
            <a:r>
              <a:rPr lang="en-US" sz="1100" b="1" dirty="0">
                <a:solidFill>
                  <a:srgbClr val="1B2A3B"/>
                </a:solidFill>
              </a:rPr>
              <a:t>,</a:t>
            </a:r>
            <a:r>
              <a:rPr lang="en-US" sz="1100" noProof="0" dirty="0">
                <a:solidFill>
                  <a:srgbClr val="1B2A3B"/>
                </a:solidFill>
              </a:rPr>
              <a:t> Si les données sont bonnes → les réponses sont bonnes.</a:t>
            </a:r>
            <a:endParaRPr lang="en-US" sz="110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D033DC7-71B5-563E-2187-950B93145BD0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16D3-CCBF-38B1-53F3-0687DA8F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EBE0-126C-1CBA-56FA-CD7B1A8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B500F-F3E9-AF5F-2A10-1AF2F968030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85645FE-4855-DDDE-ECBD-B0D7ABE0B5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477C8A6-C1DC-BDAC-C17F-E142693DBE9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E973CB62-249E-9AE8-0A56-A2A6EC0C046A}"/>
              </a:ext>
            </a:extLst>
          </p:cNvPr>
          <p:cNvSpPr/>
          <p:nvPr/>
        </p:nvSpPr>
        <p:spPr>
          <a:xfrm>
            <a:off x="980352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3234C0C4-1E53-2CB1-65D9-DC5DB707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24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2A8385-ED45-11C2-0283-53E3C5905DEB}"/>
              </a:ext>
            </a:extLst>
          </p:cNvPr>
          <p:cNvSpPr/>
          <p:nvPr/>
        </p:nvSpPr>
        <p:spPr>
          <a:xfrm>
            <a:off x="870624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AB2B0FF-6CD1-51A8-478C-7AA85F187496}"/>
              </a:ext>
            </a:extLst>
          </p:cNvPr>
          <p:cNvSpPr/>
          <p:nvPr/>
        </p:nvSpPr>
        <p:spPr>
          <a:xfrm>
            <a:off x="852336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AF114404-8EF4-C421-6A6F-7702E949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12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635BDB13-25D2-13A0-FAFE-A775663941CF}"/>
              </a:ext>
            </a:extLst>
          </p:cNvPr>
          <p:cNvSpPr/>
          <p:nvPr/>
        </p:nvSpPr>
        <p:spPr>
          <a:xfrm>
            <a:off x="2699424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F85215D-AEBE-14D5-9E41-1CAA5865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896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0B0BB1D6-D911-19AB-070C-8B8ADBBC6FAD}"/>
              </a:ext>
            </a:extLst>
          </p:cNvPr>
          <p:cNvSpPr/>
          <p:nvPr/>
        </p:nvSpPr>
        <p:spPr>
          <a:xfrm>
            <a:off x="2589696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F8C61C5-65CD-F42D-188C-4BA1622BC6A9}"/>
              </a:ext>
            </a:extLst>
          </p:cNvPr>
          <p:cNvSpPr/>
          <p:nvPr/>
        </p:nvSpPr>
        <p:spPr>
          <a:xfrm>
            <a:off x="2571408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286EB5D5-912A-C530-1290-29E7DE36622A}"/>
              </a:ext>
            </a:extLst>
          </p:cNvPr>
          <p:cNvSpPr/>
          <p:nvPr/>
        </p:nvSpPr>
        <p:spPr>
          <a:xfrm>
            <a:off x="5211751" y="18622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4DA8C1C0-EC66-C157-0939-128A1FA8D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128" y="23764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2314E98-4191-EB94-EA3C-1C00E43DFFE7}"/>
              </a:ext>
            </a:extLst>
          </p:cNvPr>
          <p:cNvSpPr/>
          <p:nvPr/>
        </p:nvSpPr>
        <p:spPr>
          <a:xfrm>
            <a:off x="5352617" y="35962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Knowledge Base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F9F42FC3-F2EE-CC7F-26AB-D67A9D87ABED}"/>
              </a:ext>
            </a:extLst>
          </p:cNvPr>
          <p:cNvSpPr/>
          <p:nvPr/>
        </p:nvSpPr>
        <p:spPr>
          <a:xfrm>
            <a:off x="8194128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22626C0A-D1D9-BBCF-1658-8DF6F7A4D6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976" y="25103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E876A4D8-1799-E6F5-FF75-5D529FF705C9}"/>
              </a:ext>
            </a:extLst>
          </p:cNvPr>
          <p:cNvSpPr/>
          <p:nvPr/>
        </p:nvSpPr>
        <p:spPr>
          <a:xfrm>
            <a:off x="8084400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(IA)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7B7AD945-19F6-3A97-69FB-DCC434D3502E}"/>
              </a:ext>
            </a:extLst>
          </p:cNvPr>
          <p:cNvSpPr/>
          <p:nvPr/>
        </p:nvSpPr>
        <p:spPr>
          <a:xfrm>
            <a:off x="8066112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1CCD4A03-9A87-392C-7133-9D059293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936" y="26241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0CB74876-A2D5-7E42-A392-C8C041EA8A21}"/>
              </a:ext>
            </a:extLst>
          </p:cNvPr>
          <p:cNvSpPr/>
          <p:nvPr/>
        </p:nvSpPr>
        <p:spPr>
          <a:xfrm>
            <a:off x="9913200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D53C1194-7F34-1D33-979F-D179340CB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0672" y="25327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722954A6-D1C8-C8EC-D965-FA6F7412ABB9}"/>
              </a:ext>
            </a:extLst>
          </p:cNvPr>
          <p:cNvSpPr/>
          <p:nvPr/>
        </p:nvSpPr>
        <p:spPr>
          <a:xfrm>
            <a:off x="9803472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0D719CB-4547-95DF-B0C4-9018352E11BB}"/>
              </a:ext>
            </a:extLst>
          </p:cNvPr>
          <p:cNvSpPr/>
          <p:nvPr/>
        </p:nvSpPr>
        <p:spPr>
          <a:xfrm>
            <a:off x="9785184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57C76BA-4267-6AFC-EF01-4AE402359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5912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A1C21865-B72D-085A-E41F-214E517C1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1237" y="25489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ADFAC7A5-4053-7C73-E0E4-4749C1B77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4733" y="25483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FC5B523C-7E00-8A41-5CF7-8B60A4C72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4874" y="25561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A1ECE936-3598-9636-A572-AB63043C6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276496" y="3913770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1D639DE2-782C-9AE5-33EB-D76C3AB4B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30821" y="392050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B729FD1F-434A-4989-796E-22A3D497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18354" y="41442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75B9C40-85C9-2C33-0C43-80F792BE9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400" y="4931495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F1BD914-3546-B9FD-9542-83297947A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277" y="4940435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C2814380-0532-1C70-FBD2-6A6747283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154" y="4940435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10F35-8BC4-470C-20B6-CE2C0C185686}"/>
              </a:ext>
            </a:extLst>
          </p:cNvPr>
          <p:cNvSpPr txBox="1"/>
          <p:nvPr/>
        </p:nvSpPr>
        <p:spPr>
          <a:xfrm>
            <a:off x="1547423" y="54019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3ED0E-415F-F792-A36C-5DA595029DEA}"/>
              </a:ext>
            </a:extLst>
          </p:cNvPr>
          <p:cNvSpPr txBox="1"/>
          <p:nvPr/>
        </p:nvSpPr>
        <p:spPr>
          <a:xfrm>
            <a:off x="2908834" y="54306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635AC-61EC-65D2-92AC-72C4822D3112}"/>
              </a:ext>
            </a:extLst>
          </p:cNvPr>
          <p:cNvSpPr txBox="1"/>
          <p:nvPr/>
        </p:nvSpPr>
        <p:spPr>
          <a:xfrm>
            <a:off x="4226750" y="5445283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Source</a:t>
            </a:r>
          </a:p>
        </p:txBody>
      </p:sp>
    </p:spTree>
    <p:extLst>
      <p:ext uri="{BB962C8B-B14F-4D97-AF65-F5344CB8AC3E}">
        <p14:creationId xmlns:p14="http://schemas.microsoft.com/office/powerpoint/2010/main" val="1110088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5EA8-89C0-AEDF-50D5-946605FB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1FF-A544-E13E-08A1-A1DDDDAF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A93FCA-6720-C11A-90ED-F2FD08199F0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629FAA2-D9AB-DB3B-B2BC-90757FA7351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A36BCF7-3284-EF46-C6F8-5CE8A1E1717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9DDCB1B-85E0-B8CC-3F34-A0B2165F0E99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78E06A0B-147A-84D2-F99E-7521FA75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B83DB45-D7CC-DEF2-701F-60046AFE37E2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00FA1D1-3097-3BA2-4C2E-532118C1D4E6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F31EB45F-F0FF-BC47-BF7D-74BB16A1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0153DABC-6D99-D8C1-40A7-19F2370CA3B2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AB666079-4E86-F8E2-CA5B-5D1D561CB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1954190D-72F1-489B-F6F1-CF5F0987CCC8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4C71FF-2EC4-EEF0-D854-74C0D9028F4E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51ECB7D0-0C5B-A182-61FB-2712EB5646F2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5FC73932-A96B-DA3A-917B-3B4278585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7889A76-66F9-7551-CC2D-E557A649DD04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Knowledge Base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16FA73E7-E519-5592-2E11-1949700FC3A2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AC3C325-D26F-4406-8878-9EB06921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958F7C8D-0935-8493-EDF9-8429357D9DC7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(IA)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C7B9D4C-3E69-F278-F5B3-E45B33C90213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653912DE-1B3B-464C-7170-ECCA34FB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A7B298F1-0A01-56FC-75A9-9743DC2F1569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D82401C-F340-1104-1EA5-874284AC2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397A2CF-6A55-826B-F71C-B5E6BCD909FB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61310CC-7339-34E2-207A-2FE112D81B7B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688DB70-6315-1738-54F7-56459612A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00726431-E27C-2D4E-FDB4-9DF93F1D7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C28B2E3D-5D16-C708-FC45-BBE9BF5D7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52893BF4-0754-27CD-043B-4AA6FF7B2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15BA171C-9520-CCFB-057D-E1ECFC48A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34CBCBC1-4FAA-2593-4F60-7D97FBACE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F359C9A-8E23-4A7B-7EC3-66A90496A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2DFB4DA-094F-6912-E607-527A8D3C9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944E92C4-BBF8-F06D-199D-10BB41AE0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FB4D387A-B30A-76FD-9FF0-6964B9574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52D358-11CB-B6C5-4E94-3C3579A1E1CC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784DF-CE05-3CE4-F433-2DCDA04E1F5E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CA3CC-D953-D763-CC8F-2270938A36F7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CB61EF-CDEB-497D-84E8-201B455BED8C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9D273DD-891B-54DA-6272-03CFF514C596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2DEA4D4A-027D-4616-5115-C83CE45E9884}"/>
              </a:ext>
            </a:extLst>
          </p:cNvPr>
          <p:cNvSpPr/>
          <p:nvPr/>
        </p:nvSpPr>
        <p:spPr>
          <a:xfrm>
            <a:off x="4787932" y="6088400"/>
            <a:ext cx="2704111" cy="619377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36E1A88-BCA3-BB70-1232-EAF84E858953}"/>
              </a:ext>
            </a:extLst>
          </p:cNvPr>
          <p:cNvSpPr/>
          <p:nvPr/>
        </p:nvSpPr>
        <p:spPr>
          <a:xfrm>
            <a:off x="4906151" y="639974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364CF-D2F5-687C-94A7-D72B24CB026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5B00D-D308-7854-ABF8-E79A826E8400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32793-75D4-449B-BD08-EB26B9A950B8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C8B573-2663-8B56-85C6-97D136EC42A9}"/>
              </a:ext>
            </a:extLst>
          </p:cNvPr>
          <p:cNvSpPr txBox="1"/>
          <p:nvPr/>
        </p:nvSpPr>
        <p:spPr>
          <a:xfrm>
            <a:off x="2951052" y="6127333"/>
            <a:ext cx="627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Files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3782702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68EA-D995-174E-E93F-D774631C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AF99-3107-EE01-17A8-FC208FEA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5889F-17B9-2B99-3D55-9CBCFBCFAB79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DF38217-E603-2AD6-D773-33A7A473248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57FC4-FCB4-85B8-B99A-E44E1858FE6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8B778E2-5319-F560-BE73-5CD2737FFF72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B440416D-2EC3-8B58-1AED-7F8C59A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1C8DD-6561-145F-9CFD-F4E21894D20A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49680F9C-4E7B-8BD8-4F28-BFBEB2D12725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409BCBBF-5731-34BA-F12E-C52B2A9E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CA8509C1-302F-9FD7-59BC-A94C08BF92ED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ECED980-445A-E068-B020-9D6C60F3A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392F7C4-EE6D-10A9-CBE4-2A81A793D58D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8EF1592F-8B71-A846-AD18-3E39D5A93748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EA43E94-496C-74BC-2928-568F4E08B1FE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0C1C69AC-D617-7DE9-6713-8528674B3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39D1F67-D200-98D4-4EFB-8F81C5CC4CD0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Knowledge Base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A050824-F4E5-F29D-8916-504002A0A8D0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654539F-7F8A-4E04-3562-10F57E3C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160CD224-3876-D624-B757-27F59B64DC50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(IA)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58A8EA28-D41A-EFD9-1BF6-E9C9D5A6F6C8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C335893A-FA3F-D82F-ED4A-3AA5809BF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C3507DDA-7962-F3EC-41B2-AA2449C4EED6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CF696B6-E0F5-179C-F541-78B865D07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E8EBF1A2-52D3-C64A-CDE5-EDBA57AA5E0D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4137C6B6-4B21-E095-9176-247B627620E0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51A0D5DA-9989-DC83-6F53-F28592A1E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5DF4138B-20C8-28AE-237F-E32ADCF00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1E76444-86F2-F779-A750-1C60A0BCA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816732BC-DFBB-5018-3FE8-24432E716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BE8392F9-4E07-9295-0A65-28E723108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A55CE50E-0A75-B9C0-5D21-4B33A61C7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36F51641-33ED-E09F-6402-D14DF6415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02FB492-73F5-43F7-7F58-E1F6A3189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F0211807-CFD8-DFEA-B7FD-92C9FF4DB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D4F46B3-8B8A-7330-CA8C-E440335A3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8F1DE8-C9E1-6005-7F8C-E1E9ED3A3BE5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8CA6F-7C51-9B13-656D-B88167247029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B8680-FCB6-57CD-C4A9-5808D2901DC2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>
                <a:solidFill>
                  <a:srgbClr val="1B2A3B"/>
                </a:solidFill>
              </a:rPr>
              <a:t>Data Source</a:t>
            </a: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55FA72-C5C9-1BDA-2548-877EAE2AD51F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0A362B6-48EA-7FD6-E54F-19AC9CBD9EBA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47990E2-79CE-CD1E-3A7B-5F7282654101}"/>
              </a:ext>
            </a:extLst>
          </p:cNvPr>
          <p:cNvSpPr/>
          <p:nvPr/>
        </p:nvSpPr>
        <p:spPr>
          <a:xfrm>
            <a:off x="4787932" y="6088400"/>
            <a:ext cx="2704111" cy="598555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EBB02AC-F664-6ABF-FB4F-BFB19F5162BC}"/>
              </a:ext>
            </a:extLst>
          </p:cNvPr>
          <p:cNvSpPr/>
          <p:nvPr/>
        </p:nvSpPr>
        <p:spPr>
          <a:xfrm>
            <a:off x="4906151" y="641587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9080E-D27D-5C29-E13F-72A74936733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D6689-BEBD-2F13-1A1B-374E4CB2B55B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61474-68BA-4C26-A447-6F7775CA190D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0F46C-201E-577B-0BCC-6E736F50F622}"/>
              </a:ext>
            </a:extLst>
          </p:cNvPr>
          <p:cNvSpPr txBox="1"/>
          <p:nvPr/>
        </p:nvSpPr>
        <p:spPr>
          <a:xfrm>
            <a:off x="5523733" y="6113228"/>
            <a:ext cx="1186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Files</a:t>
            </a:r>
            <a:endParaRPr lang="en-US" sz="1400" noProof="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941DDFF-55A3-5A4C-4DC5-A456D6CCE61D}"/>
              </a:ext>
            </a:extLst>
          </p:cNvPr>
          <p:cNvSpPr/>
          <p:nvPr/>
        </p:nvSpPr>
        <p:spPr>
          <a:xfrm>
            <a:off x="7637801" y="5995463"/>
            <a:ext cx="249389" cy="775379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6C642AA-7E81-7077-F21B-6792A0BE72A3}"/>
              </a:ext>
            </a:extLst>
          </p:cNvPr>
          <p:cNvSpPr/>
          <p:nvPr/>
        </p:nvSpPr>
        <p:spPr>
          <a:xfrm>
            <a:off x="8128388" y="6034172"/>
            <a:ext cx="989486" cy="652783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A9289-AA1C-EBDF-3BAF-F7EA05934E86}"/>
              </a:ext>
            </a:extLst>
          </p:cNvPr>
          <p:cNvSpPr txBox="1"/>
          <p:nvPr/>
        </p:nvSpPr>
        <p:spPr>
          <a:xfrm>
            <a:off x="8361860" y="6236893"/>
            <a:ext cx="63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FFFFFF"/>
                </a:solidFill>
              </a:rPr>
              <a:t>Docs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0489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Data Sources Used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611BE2-F6D1-2BF0-092B-48F3FFFB4846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Where does the information come from?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Everything extracted from GitHub STM32Cube public repos — nothing fabricated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636341" y="156081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636341" y="156081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075253" y="162482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GitHub 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885C3D9-4F7D-7FD6-0BB8-63C7E59E294B}"/>
              </a:ext>
            </a:extLst>
          </p:cNvPr>
          <p:cNvSpPr/>
          <p:nvPr/>
        </p:nvSpPr>
        <p:spPr>
          <a:xfrm>
            <a:off x="4855029" y="159739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/>
              <a:t>300+ issues</a:t>
            </a:r>
            <a:endParaRPr lang="en-US" sz="1100" noProof="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764357" y="230632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User-reported bugs: title, body, comments, labels, state (open/resolved), github_url, timestamps </a:t>
            </a:r>
            <a:endParaRPr lang="en-US" sz="1050" noProof="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746069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noProof="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263205" y="157798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263205" y="157798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933" y="1641993"/>
            <a:ext cx="256032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702117" y="164199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496D5A4-12B4-174C-1483-EDEA8A0A8E41}"/>
              </a:ext>
            </a:extLst>
          </p:cNvPr>
          <p:cNvSpPr/>
          <p:nvPr/>
        </p:nvSpPr>
        <p:spPr>
          <a:xfrm>
            <a:off x="9481893" y="161456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/>
              <a:t>5,000+ files</a:t>
            </a:r>
            <a:endParaRPr lang="en-US" sz="1100" noProof="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ADB5E2-5692-9B2C-F2D3-A73AC645981C}"/>
              </a:ext>
            </a:extLst>
          </p:cNvPr>
          <p:cNvSpPr/>
          <p:nvPr/>
        </p:nvSpPr>
        <p:spPr>
          <a:xfrm>
            <a:off x="6368873" y="2211904"/>
            <a:ext cx="4114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noProof="0" dirty="0">
                <a:solidFill>
                  <a:srgbClr val="1B2A3B"/>
                </a:solidFill>
              </a:rPr>
              <a:t>Des sources techniques</a:t>
            </a:r>
            <a:r>
              <a:rPr lang="en-US" sz="1050" noProof="0" dirty="0">
                <a:solidFill>
                  <a:srgbClr val="1B2A3B"/>
                </a:solidFill>
              </a:rPr>
              <a:t>: drivers, middlewares, utilities, components, src/</a:t>
            </a:r>
            <a:r>
              <a:rPr lang="en-US" sz="1050" noProof="0" dirty="0" err="1">
                <a:solidFill>
                  <a:srgbClr val="1B2A3B"/>
                </a:solidFill>
              </a:rPr>
              <a:t>inc</a:t>
            </a:r>
            <a:r>
              <a:rPr lang="en-US" sz="1050" noProof="0" dirty="0">
                <a:solidFill>
                  <a:srgbClr val="1B2A3B"/>
                </a:solidFill>
              </a:rPr>
              <a:t>, </a:t>
            </a:r>
            <a:r>
              <a:rPr lang="en-US" sz="1050" noProof="0" dirty="0" err="1">
                <a:solidFill>
                  <a:srgbClr val="1B2A3B"/>
                </a:solidFill>
              </a:rPr>
              <a:t>include</a:t>
            </a:r>
            <a:r>
              <a:rPr lang="en-US" sz="1050" noProof="0" dirty="0">
                <a:solidFill>
                  <a:srgbClr val="1B2A3B"/>
                </a:solidFill>
              </a:rPr>
              <a:t>/source, BSP </a:t>
            </a:r>
            <a:r>
              <a:rPr lang="en-US" sz="1050" noProof="0" dirty="0" err="1">
                <a:solidFill>
                  <a:srgbClr val="1B2A3B"/>
                </a:solidFill>
              </a:rPr>
              <a:t>board</a:t>
            </a:r>
            <a:r>
              <a:rPr lang="en-US" sz="1050" noProof="0" dirty="0">
                <a:solidFill>
                  <a:srgbClr val="1B2A3B"/>
                </a:solidFill>
              </a:rPr>
              <a:t>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noProof="0" dirty="0">
                <a:solidFill>
                  <a:srgbClr val="1B2A3B"/>
                </a:solidFill>
              </a:rPr>
              <a:t>Des docs techniques</a:t>
            </a:r>
            <a:r>
              <a:rPr lang="en-US" sz="1050" noProof="0" dirty="0">
                <a:solidFill>
                  <a:srgbClr val="1B2A3B"/>
                </a:solidFill>
              </a:rPr>
              <a:t>: release notes, </a:t>
            </a:r>
            <a:r>
              <a:rPr lang="en-US" sz="1050" noProof="0" dirty="0" err="1">
                <a:solidFill>
                  <a:srgbClr val="1B2A3B"/>
                </a:solidFill>
              </a:rPr>
              <a:t>readme</a:t>
            </a:r>
            <a:r>
              <a:rPr lang="en-US" sz="1050" noProof="0" dirty="0">
                <a:solidFill>
                  <a:srgbClr val="1B2A3B"/>
                </a:solidFill>
              </a:rPr>
              <a:t> projet, documentation PDF.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noProof="0" dirty="0">
                <a:solidFill>
                  <a:srgbClr val="1B2A3B"/>
                </a:solidFill>
              </a:rPr>
              <a:t>Des fichiers de configuration/</a:t>
            </a:r>
            <a:r>
              <a:rPr lang="en-US" sz="1050" b="1" noProof="0" dirty="0" err="1">
                <a:solidFill>
                  <a:srgbClr val="1B2A3B"/>
                </a:solidFill>
              </a:rPr>
              <a:t>metadata</a:t>
            </a:r>
            <a:r>
              <a:rPr lang="en-US" sz="1050" b="1" noProof="0" dirty="0">
                <a:solidFill>
                  <a:srgbClr val="1B2A3B"/>
                </a:solidFill>
              </a:rPr>
              <a:t> utiles au contexte</a:t>
            </a:r>
            <a:r>
              <a:rPr lang="en-US" sz="1050" noProof="0" dirty="0">
                <a:solidFill>
                  <a:srgbClr val="1B2A3B"/>
                </a:solidFill>
              </a:rPr>
              <a:t>: package.xml, </a:t>
            </a:r>
            <a:r>
              <a:rPr lang="en-US" sz="1050" noProof="0" dirty="0" err="1">
                <a:solidFill>
                  <a:srgbClr val="1B2A3B"/>
                </a:solidFill>
              </a:rPr>
              <a:t>sbom</a:t>
            </a:r>
            <a:r>
              <a:rPr lang="en-US" sz="1050" noProof="0" dirty="0">
                <a:solidFill>
                  <a:srgbClr val="1B2A3B"/>
                </a:solidFill>
              </a:rPr>
              <a:t>, </a:t>
            </a:r>
            <a:r>
              <a:rPr lang="en-US" sz="1050" noProof="0" dirty="0" err="1">
                <a:solidFill>
                  <a:srgbClr val="1B2A3B"/>
                </a:solidFill>
              </a:rPr>
              <a:t>security</a:t>
            </a:r>
            <a:r>
              <a:rPr lang="en-US" sz="1050" noProof="0" dirty="0">
                <a:solidFill>
                  <a:srgbClr val="1B2A3B"/>
                </a:solidFill>
              </a:rPr>
              <a:t>, etc.</a:t>
            </a:r>
            <a:endParaRPr lang="en-US" sz="1050" noProof="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370451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noProof="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636341" y="3802217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636341" y="3802217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69" y="3866225"/>
            <a:ext cx="21031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075253" y="386622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 err="1">
                <a:solidFill>
                  <a:srgbClr val="0D9488"/>
                </a:solidFill>
              </a:rPr>
              <a:t>PRs</a:t>
            </a:r>
            <a:r>
              <a:rPr lang="en-US" sz="1200" b="1" noProof="0" dirty="0">
                <a:solidFill>
                  <a:srgbClr val="0D9488"/>
                </a:solidFill>
              </a:rPr>
              <a:t> &amp; </a:t>
            </a:r>
            <a:r>
              <a:rPr lang="en-US" sz="1200" b="1" noProof="0" dirty="0" err="1">
                <a:solidFill>
                  <a:srgbClr val="0D9488"/>
                </a:solidFill>
              </a:rPr>
              <a:t>Commits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374533" y="3902279"/>
            <a:ext cx="1380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 err="1">
                <a:solidFill>
                  <a:schemeClr val="bg1"/>
                </a:solidFill>
              </a:rPr>
              <a:t>Resolver</a:t>
            </a:r>
            <a:r>
              <a:rPr lang="en-US" sz="1100" b="1" noProof="0" dirty="0">
                <a:solidFill>
                  <a:schemeClr val="bg1"/>
                </a:solidFill>
              </a:rPr>
              <a:t> Cases</a:t>
            </a:r>
          </a:p>
          <a:p>
            <a:pPr marL="0" indent="0" algn="ctr">
              <a:buNone/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764357" y="4241129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Quand un bug est résolu, on retrouve le PR et le commit qui apportent la correction confirmée</a:t>
            </a:r>
            <a:endParaRPr lang="en-US" sz="1050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764357" y="515552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noProof="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7001256" y="3966809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7001256" y="3966809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984" y="4030817"/>
            <a:ext cx="237744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7440168" y="403081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noProof="0" dirty="0" err="1">
                <a:solidFill>
                  <a:srgbClr val="0D9589"/>
                </a:solidFill>
              </a:rPr>
              <a:t>iagnostic</a:t>
            </a:r>
            <a:r>
              <a:rPr lang="en-US" sz="1200" b="1" noProof="0" dirty="0">
                <a:solidFill>
                  <a:srgbClr val="0D9589"/>
                </a:solidFill>
              </a:rPr>
              <a:t> </a:t>
            </a:r>
            <a:r>
              <a:rPr lang="en-US" sz="1200" b="1" noProof="0" dirty="0" err="1">
                <a:solidFill>
                  <a:srgbClr val="0D9589"/>
                </a:solidFill>
              </a:rPr>
              <a:t>cards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9124840" y="3994241"/>
            <a:ext cx="1983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FFFFFF"/>
                </a:solidFill>
              </a:rPr>
              <a:t>Intelligent synthesis layer </a:t>
            </a:r>
            <a:endParaRPr lang="en-US" sz="11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7129272" y="4405721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Des fiches structurées : Problème → Preuve → Solution. Construites automatiquement à partir des issues résolues</a:t>
            </a:r>
            <a:endParaRPr lang="en-US" sz="105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7129272" y="532012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noProof="0" dirty="0">
                <a:solidFill>
                  <a:srgbClr val="64748B"/>
                </a:solidFill>
              </a:rPr>
              <a:t>Source : Généré par pipeline</a:t>
            </a:r>
            <a:endParaRPr lang="en-US" sz="850" noProof="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7191" y="1617667"/>
            <a:ext cx="219456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6456676" y="4556771"/>
            <a:ext cx="416564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261717" y="5866682"/>
            <a:ext cx="11479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dirty="0">
                <a:effectLst/>
              </a:rPr>
              <a:t>Pour chaque série STM32Cube</a:t>
            </a:r>
            <a:r>
              <a:rPr lang="en-US" sz="1200" b="1" i="1" u="sng" dirty="0"/>
              <a:t> </a:t>
            </a:r>
            <a:r>
              <a:rPr lang="en-US" sz="1200" dirty="0"/>
              <a:t>: </a:t>
            </a:r>
            <a:r>
              <a:rPr lang="en-US" sz="1200" b="0" i="0" dirty="0">
                <a:effectLst/>
              </a:rPr>
              <a:t>nous unifions 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dirty="0">
                <a:effectLst/>
              </a:rPr>
              <a:t>,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PRs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et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commits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</a:t>
            </a:r>
            <a:r>
              <a:rPr lang="en-US" sz="1200" b="0" i="0" dirty="0">
                <a:effectLst/>
              </a:rPr>
              <a:t>afin de produire des </a:t>
            </a: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iagnostic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cards</a:t>
            </a:r>
            <a:r>
              <a:rPr lang="en-US" sz="1200" b="1" dirty="0">
                <a:solidFill>
                  <a:srgbClr val="0D9589"/>
                </a:solidFill>
              </a:rPr>
              <a:t> </a:t>
            </a:r>
            <a:r>
              <a:rPr lang="en-US" sz="1200" b="0" i="0" dirty="0">
                <a:effectLst/>
              </a:rPr>
              <a:t>traçables et actionnables.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How the Persona Works , RAG Behind the Scenes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noProof="0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11" name="Col11"/>
          <p:cNvSpPr>
            <a:spLocks noGrp="1"/>
          </p:cNvSpPr>
          <p:nvPr/>
        </p:nvSpPr>
        <p:spPr>
          <a:xfrm>
            <a:off x="5054871" y="3004504"/>
            <a:ext cx="5900000" cy="2799708"/>
          </a:xfrm>
          <a:prstGeom prst="rect">
            <a:avLst/>
          </a:prstGeom>
          <a:solidFill>
            <a:srgbClr val="3CB4E6"/>
          </a:solidFill>
          <a:ln w="12700">
            <a:solidFill>
              <a:schemeClr val="tx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chemeClr val="bg1"/>
                </a:solidFill>
              </a:rPr>
              <a:t>Why Data Quality is Critical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b="0" noProof="0" dirty="0">
                <a:solidFill>
                  <a:schemeClr val="bg1"/>
                </a:solidFill>
              </a:rPr>
              <a:t>The retrieval engine is a black box — ST controls it.</a:t>
            </a:r>
          </a:p>
          <a:p>
            <a:r>
              <a:rPr lang="en-US" sz="1100" b="0" noProof="0" dirty="0">
                <a:solidFill>
                  <a:schemeClr val="bg1"/>
                </a:solidFill>
              </a:rPr>
              <a:t>We cannot tune the ranking or the embedding model directly.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b="0" noProof="0" dirty="0">
                <a:solidFill>
                  <a:schemeClr val="bg1"/>
                </a:solidFill>
              </a:rPr>
              <a:t>The ONLY lever we have is data quality: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b="0" noProof="0" dirty="0">
                <a:solidFill>
                  <a:schemeClr val="bg1"/>
                </a:solidFill>
              </a:rPr>
              <a:t>● Clean text → better semantic matching</a:t>
            </a:r>
          </a:p>
          <a:p>
            <a:r>
              <a:rPr lang="en-US" sz="1100" b="0" noProof="0" dirty="0">
                <a:solidFill>
                  <a:schemeClr val="bg1"/>
                </a:solidFill>
              </a:rPr>
              <a:t>● Rich metadata (component, layer, severity) → better filtering</a:t>
            </a:r>
          </a:p>
          <a:p>
            <a:r>
              <a:rPr lang="en-US" sz="1100" b="0" noProof="0" dirty="0">
                <a:solidFill>
                  <a:schemeClr val="bg1"/>
                </a:solidFill>
              </a:rPr>
              <a:t>● Correct chunk size → coherent context windows</a:t>
            </a:r>
          </a:p>
          <a:p>
            <a:r>
              <a:rPr lang="en-US" sz="1100" b="0" noProof="0" dirty="0">
                <a:solidFill>
                  <a:schemeClr val="bg1"/>
                </a:solidFill>
              </a:rPr>
              <a:t>● Structured st_ready_text → better lexical anchors</a:t>
            </a:r>
          </a:p>
          <a:p>
            <a:r>
              <a:rPr lang="en-US" sz="1100" b="0" noProof="0" dirty="0">
                <a:solidFill>
                  <a:schemeClr val="bg1"/>
                </a:solidFill>
              </a:rPr>
              <a:t>● Resolver cases + diagnostic cards → actionable answers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b="0" noProof="0" dirty="0">
                <a:solidFill>
                  <a:schemeClr val="bg1"/>
                </a:solidFill>
              </a:rPr>
              <a:t>Bad data in → vague answers out.</a:t>
            </a:r>
          </a:p>
          <a:p>
            <a:r>
              <a:rPr lang="en-US" sz="1100" b="0" noProof="0" dirty="0">
                <a:solidFill>
                  <a:schemeClr val="bg1"/>
                </a:solidFill>
              </a:rPr>
              <a:t>Good data in → precise, traceable answers out.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9230F7F-240A-371B-B932-EB6DC6BE8C18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Getting Better Answers — How to Query the Persona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91420" y="693607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noProof="0" dirty="0">
                <a:solidFill>
                  <a:srgbClr val="475569"/>
                </a:solidFill>
              </a:rPr>
              <a:t>Context-rich questions produce context-rich answers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240841" y="2395299"/>
            <a:ext cx="5400000" cy="2915031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What to specify when asking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For best results, always specify: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● The STM32 series (H7, H5, L4, G0…)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The exact MCU or board if known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The peripheral involved (DMA, UART, I2C, USB…)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The HAL API or function name if applicable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The observed symptom or error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The context: bug, config issue, regression, compilation error…</a:t>
            </a:r>
          </a:p>
        </p:txBody>
      </p:sp>
      <p:sp>
        <p:nvSpPr>
          <p:cNvPr id="11" name="Col11"/>
          <p:cNvSpPr>
            <a:spLocks noGrp="1"/>
          </p:cNvSpPr>
          <p:nvPr/>
        </p:nvSpPr>
        <p:spPr>
          <a:xfrm>
            <a:off x="5948364" y="2395299"/>
            <a:ext cx="5900000" cy="291503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16A34A"/>
                </a:solidFill>
              </a:rPr>
              <a:t>Vague vs Precise — Example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❌ Vague question: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"DMA does not work"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Result: generic answer, low relevance, no specific source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✅ Precise question: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"On STM32H743, ADC DMA circular mode gives inconsistent values after enabling 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D-Cache. What should I check?"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Result: specific issue retrieved, with relevant HAL context, PR/commit link if available, and concrete debug steps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The more context you give, the more the persona can retrieve and the better the answer.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D42BD5C-02C7-6395-1E5D-061CE9DE2252}"/>
              </a:ext>
            </a:extLst>
          </p:cNvPr>
          <p:cNvSpPr/>
          <p:nvPr/>
        </p:nvSpPr>
        <p:spPr>
          <a:xfrm>
            <a:off x="242477" y="11594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E8EC-6725-B812-07CA-DA78708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DF4F4E0C-444F-4A83-209A-FCE792445C4A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5E9D87-3D04-3DC6-B788-E1F18ECCA0E6}"/>
              </a:ext>
            </a:extLst>
          </p:cNvPr>
          <p:cNvSpPr/>
          <p:nvPr/>
        </p:nvSpPr>
        <p:spPr>
          <a:xfrm>
            <a:off x="6272348" y="332194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noProof="0" dirty="0">
                <a:solidFill>
                  <a:schemeClr val="bg1"/>
                </a:solidFill>
              </a:rPr>
              <a:t>Demo </a:t>
            </a:r>
            <a:endParaRPr lang="en-US" sz="3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04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6E2BB4-3A74-734F-992B-A45CEAF3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944E1B14-2F43-7013-FC9B-E15CBEC07036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92DBF96-3CFC-7100-0F1C-137E9CC06227}"/>
              </a:ext>
            </a:extLst>
          </p:cNvPr>
          <p:cNvSpPr/>
          <p:nvPr/>
        </p:nvSpPr>
        <p:spPr>
          <a:xfrm>
            <a:off x="2443517" y="2308935"/>
            <a:ext cx="674934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29EBE51-9B74-1781-F663-0BBADBE07A54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EF90521-22A7-55C9-BCAB-F79D7DA20D83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D200"/>
                </a:solidFill>
              </a:rPr>
              <a:t>04</a:t>
            </a:r>
            <a:endParaRPr lang="en-US" sz="1300" noProof="0" dirty="0">
              <a:solidFill>
                <a:srgbClr val="FFD200"/>
              </a:solidFill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778DFA1-FB36-0E13-94AC-1E1BC946F67D}"/>
              </a:ext>
            </a:extLst>
          </p:cNvPr>
          <p:cNvSpPr/>
          <p:nvPr/>
        </p:nvSpPr>
        <p:spPr>
          <a:xfrm>
            <a:off x="2919006" y="238208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preprocessing pipeline</a:t>
            </a:r>
            <a:endParaRPr lang="en-US" sz="1200" noProof="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308305-95F7-67D0-243A-2CFF4903414F}"/>
              </a:ext>
            </a:extLst>
          </p:cNvPr>
          <p:cNvSpPr/>
          <p:nvPr/>
        </p:nvSpPr>
        <p:spPr>
          <a:xfrm>
            <a:off x="2919006" y="271127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Ingest → Clean → Enrich → Deliver</a:t>
            </a:r>
            <a:endParaRPr lang="en-US" sz="900" noProof="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26AD415-0EC3-10B8-A1FA-AA83D7169841}"/>
              </a:ext>
            </a:extLst>
          </p:cNvPr>
          <p:cNvSpPr/>
          <p:nvPr/>
        </p:nvSpPr>
        <p:spPr>
          <a:xfrm>
            <a:off x="2443518" y="3229338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92A4B02-FA61-C7E0-EE14-D1EDC2F4C9A8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7BB5506-B2D6-9DF4-E2D2-3EAB588A1119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D200"/>
                </a:solidFill>
              </a:rPr>
              <a:t>05</a:t>
            </a:r>
            <a:endParaRPr lang="en-US" sz="1300" noProof="0" dirty="0">
              <a:solidFill>
                <a:srgbClr val="FFD200"/>
              </a:solidFill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0DD4B799-71DD-5B6B-2A43-7D4DC945280A}"/>
              </a:ext>
            </a:extLst>
          </p:cNvPr>
          <p:cNvSpPr/>
          <p:nvPr/>
        </p:nvSpPr>
        <p:spPr>
          <a:xfrm>
            <a:off x="2919006" y="330249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Results &amp; evaluation</a:t>
            </a:r>
            <a:endParaRPr lang="en-US" sz="1200" noProof="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6ECAD78-AEE5-B7FD-97A5-C86E78186D07}"/>
              </a:ext>
            </a:extLst>
          </p:cNvPr>
          <p:cNvSpPr/>
          <p:nvPr/>
        </p:nvSpPr>
        <p:spPr>
          <a:xfrm>
            <a:off x="2919006" y="363167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50Q benchmark — concrete numbers</a:t>
            </a:r>
            <a:endParaRPr lang="en-US" sz="900" noProof="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9A16864-CB5F-4087-13A5-A1CC5AE2D882}"/>
              </a:ext>
            </a:extLst>
          </p:cNvPr>
          <p:cNvSpPr/>
          <p:nvPr/>
        </p:nvSpPr>
        <p:spPr>
          <a:xfrm>
            <a:off x="2443518" y="4125450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B88C35B5-DAE4-2B6A-0896-1CFA8CEBCEDD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4B1F353A-C478-0FE7-9B1F-99C86E5739EB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D200"/>
                </a:solidFill>
              </a:rPr>
              <a:t>06</a:t>
            </a:r>
            <a:endParaRPr lang="en-US" sz="1300" noProof="0" dirty="0">
              <a:solidFill>
                <a:srgbClr val="FFD200"/>
              </a:solidFill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1E78B5-5D49-E36C-355E-192CF0A9BE72}"/>
              </a:ext>
            </a:extLst>
          </p:cNvPr>
          <p:cNvSpPr/>
          <p:nvPr/>
        </p:nvSpPr>
        <p:spPr>
          <a:xfrm>
            <a:off x="2919006" y="419860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Challenges &amp; Next Steps</a:t>
            </a:r>
            <a:endParaRPr lang="en-US" sz="1200" noProof="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D05D817-BCC5-0E32-C3E2-1B0FCA4785FD}"/>
              </a:ext>
            </a:extLst>
          </p:cNvPr>
          <p:cNvSpPr/>
          <p:nvPr/>
        </p:nvSpPr>
        <p:spPr>
          <a:xfrm>
            <a:off x="2919006" y="452778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works, what needs fixing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90905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A4F7-282C-D8B1-176D-B5B76710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C027-7C89-EB0C-ADBB-22840CE6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082AA2-1B5E-CEC2-F623-9205CD4F88B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4F95609-DDA8-99E6-8E13-B834A9821CB8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7BD6489-902C-6299-BD43-0E6BF1EC192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C7C5F01-A9D8-A3E5-B8F6-B2646561AC30}"/>
              </a:ext>
            </a:extLst>
          </p:cNvPr>
          <p:cNvSpPr/>
          <p:nvPr/>
        </p:nvSpPr>
        <p:spPr>
          <a:xfrm>
            <a:off x="477788" y="2724216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22E9BFE-B252-E683-496C-D031961B9A2B}"/>
              </a:ext>
            </a:extLst>
          </p:cNvPr>
          <p:cNvSpPr/>
          <p:nvPr/>
        </p:nvSpPr>
        <p:spPr>
          <a:xfrm>
            <a:off x="477787" y="2724216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071B4B-6180-80C3-5B86-1E17784FCD32}"/>
              </a:ext>
            </a:extLst>
          </p:cNvPr>
          <p:cNvSpPr/>
          <p:nvPr/>
        </p:nvSpPr>
        <p:spPr>
          <a:xfrm>
            <a:off x="477788" y="27242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E9CFF07-E568-D922-A8F7-E28728EB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00" y="2792559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8BE547BF-64B4-244E-82A0-15612166EC2F}"/>
              </a:ext>
            </a:extLst>
          </p:cNvPr>
          <p:cNvSpPr/>
          <p:nvPr/>
        </p:nvSpPr>
        <p:spPr>
          <a:xfrm>
            <a:off x="683528" y="324075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6B83818-7A4F-2973-683B-71D12FC91262}"/>
              </a:ext>
            </a:extLst>
          </p:cNvPr>
          <p:cNvSpPr/>
          <p:nvPr/>
        </p:nvSpPr>
        <p:spPr>
          <a:xfrm>
            <a:off x="676936" y="35742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EADBA9F-A310-6A3A-396D-2ACA95A0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690" y="3764490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48823561-F228-1E40-2C04-18716BA5331E}"/>
              </a:ext>
            </a:extLst>
          </p:cNvPr>
          <p:cNvSpPr/>
          <p:nvPr/>
        </p:nvSpPr>
        <p:spPr>
          <a:xfrm>
            <a:off x="2096274" y="2731218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F74D7B7-CCCA-7B97-AC77-2699A436DA94}"/>
              </a:ext>
            </a:extLst>
          </p:cNvPr>
          <p:cNvSpPr/>
          <p:nvPr/>
        </p:nvSpPr>
        <p:spPr>
          <a:xfrm>
            <a:off x="2096274" y="2731218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BA18520-AA1A-88C3-0497-F8D2DF2A6036}"/>
              </a:ext>
            </a:extLst>
          </p:cNvPr>
          <p:cNvSpPr/>
          <p:nvPr/>
        </p:nvSpPr>
        <p:spPr>
          <a:xfrm>
            <a:off x="2096274" y="27312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E77FFD-EC9B-7EE8-579C-9BA68EDB2447}"/>
              </a:ext>
            </a:extLst>
          </p:cNvPr>
          <p:cNvSpPr/>
          <p:nvPr/>
        </p:nvSpPr>
        <p:spPr>
          <a:xfrm>
            <a:off x="2302351" y="32132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0502CE-20E8-7D67-8465-175E5AB2675E}"/>
              </a:ext>
            </a:extLst>
          </p:cNvPr>
          <p:cNvSpPr/>
          <p:nvPr/>
        </p:nvSpPr>
        <p:spPr>
          <a:xfrm>
            <a:off x="2198561" y="3549042"/>
            <a:ext cx="1247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A53CDF0-4ACF-1786-1A11-17422B5A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88" y="3752916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1708673-D949-49D3-A6B1-C8B017E26032}"/>
              </a:ext>
            </a:extLst>
          </p:cNvPr>
          <p:cNvSpPr/>
          <p:nvPr/>
        </p:nvSpPr>
        <p:spPr>
          <a:xfrm>
            <a:off x="3723972" y="2719643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222413C-721C-A876-15D1-03B3F87E1785}"/>
              </a:ext>
            </a:extLst>
          </p:cNvPr>
          <p:cNvSpPr/>
          <p:nvPr/>
        </p:nvSpPr>
        <p:spPr>
          <a:xfrm>
            <a:off x="3723972" y="2719644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F76B106-5511-819A-518A-9A8DE451DCBF}"/>
              </a:ext>
            </a:extLst>
          </p:cNvPr>
          <p:cNvSpPr/>
          <p:nvPr/>
        </p:nvSpPr>
        <p:spPr>
          <a:xfrm>
            <a:off x="3723972" y="271964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931C9DA7-315D-7E7D-82B0-DB8C2044B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894" y="2796878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6523C8A-5108-4D85-2B92-E945805DF986}"/>
              </a:ext>
            </a:extLst>
          </p:cNvPr>
          <p:cNvSpPr/>
          <p:nvPr/>
        </p:nvSpPr>
        <p:spPr>
          <a:xfrm>
            <a:off x="3805512" y="3367314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9B7B91-77E1-A9B8-73CF-80EB675DAF84}"/>
              </a:ext>
            </a:extLst>
          </p:cNvPr>
          <p:cNvSpPr/>
          <p:nvPr/>
        </p:nvSpPr>
        <p:spPr>
          <a:xfrm>
            <a:off x="3899419" y="377408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E5469931-A96D-790C-B181-5D501ED55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826" y="3752915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59F1E768-F407-9419-858E-59AC61B68A03}"/>
              </a:ext>
            </a:extLst>
          </p:cNvPr>
          <p:cNvSpPr/>
          <p:nvPr/>
        </p:nvSpPr>
        <p:spPr>
          <a:xfrm>
            <a:off x="5275410" y="271964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869BAAB-FEBD-28C5-ABFE-EFF7A1664B71}"/>
              </a:ext>
            </a:extLst>
          </p:cNvPr>
          <p:cNvSpPr/>
          <p:nvPr/>
        </p:nvSpPr>
        <p:spPr>
          <a:xfrm>
            <a:off x="5275410" y="2719643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5FFCD7D-BD90-D5D0-522F-94D87DB20857}"/>
              </a:ext>
            </a:extLst>
          </p:cNvPr>
          <p:cNvSpPr/>
          <p:nvPr/>
        </p:nvSpPr>
        <p:spPr>
          <a:xfrm>
            <a:off x="5275410" y="271964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382320-D0C5-A3EE-9F9C-D22EE6B46BE9}"/>
              </a:ext>
            </a:extLst>
          </p:cNvPr>
          <p:cNvSpPr/>
          <p:nvPr/>
        </p:nvSpPr>
        <p:spPr>
          <a:xfrm>
            <a:off x="5461728" y="32431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509286A-FBA6-FE9C-2E3E-393666DB99D7}"/>
              </a:ext>
            </a:extLst>
          </p:cNvPr>
          <p:cNvSpPr/>
          <p:nvPr/>
        </p:nvSpPr>
        <p:spPr>
          <a:xfrm>
            <a:off x="5477836" y="351760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C401AD32-7BBB-8507-4C2F-2DABC776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229" y="3747854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23275CAD-A655-703D-D565-23BEDAF14822}"/>
              </a:ext>
            </a:extLst>
          </p:cNvPr>
          <p:cNvSpPr/>
          <p:nvPr/>
        </p:nvSpPr>
        <p:spPr>
          <a:xfrm>
            <a:off x="6830813" y="2714582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091FD4BB-CE7E-DC12-FC85-60A4A3CF2165}"/>
              </a:ext>
            </a:extLst>
          </p:cNvPr>
          <p:cNvSpPr/>
          <p:nvPr/>
        </p:nvSpPr>
        <p:spPr>
          <a:xfrm>
            <a:off x="6830813" y="2714582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29BFA05D-CE13-8B2B-3ECF-D4C08D273F4A}"/>
              </a:ext>
            </a:extLst>
          </p:cNvPr>
          <p:cNvSpPr/>
          <p:nvPr/>
        </p:nvSpPr>
        <p:spPr>
          <a:xfrm>
            <a:off x="6830813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3738A1AC-2ED5-30D6-C54E-8E25EEC08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759" y="2811083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BAA8C84-25B4-7432-E6B3-CFF7E3BCBBD4}"/>
              </a:ext>
            </a:extLst>
          </p:cNvPr>
          <p:cNvSpPr/>
          <p:nvPr/>
        </p:nvSpPr>
        <p:spPr>
          <a:xfrm>
            <a:off x="7024868" y="32454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F62333C-1099-874C-63C6-3891F7C5D964}"/>
              </a:ext>
            </a:extLst>
          </p:cNvPr>
          <p:cNvSpPr/>
          <p:nvPr/>
        </p:nvSpPr>
        <p:spPr>
          <a:xfrm>
            <a:off x="7013693" y="35706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4FB185A-2B35-592D-D91F-0FA613BE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91" y="3747854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F82D4C1-92B0-0959-363E-8696EA6B0032}"/>
              </a:ext>
            </a:extLst>
          </p:cNvPr>
          <p:cNvSpPr/>
          <p:nvPr/>
        </p:nvSpPr>
        <p:spPr>
          <a:xfrm>
            <a:off x="8420275" y="2714581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E0AAF881-E75C-17C5-E3EA-1A99822D25AB}"/>
              </a:ext>
            </a:extLst>
          </p:cNvPr>
          <p:cNvSpPr/>
          <p:nvPr/>
        </p:nvSpPr>
        <p:spPr>
          <a:xfrm>
            <a:off x="8420275" y="2714582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C17A3F0-90BA-7969-5BF6-3963B2DA11E2}"/>
              </a:ext>
            </a:extLst>
          </p:cNvPr>
          <p:cNvSpPr/>
          <p:nvPr/>
        </p:nvSpPr>
        <p:spPr>
          <a:xfrm>
            <a:off x="8420275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852182AE-399F-190F-293E-C3D5FE846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433" y="2807569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EB5A70E-678B-2A0F-5898-9AB27B5D906D}"/>
              </a:ext>
            </a:extLst>
          </p:cNvPr>
          <p:cNvSpPr/>
          <p:nvPr/>
        </p:nvSpPr>
        <p:spPr>
          <a:xfrm>
            <a:off x="8616074" y="32927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2D2474B-F742-D0A8-378D-A89F0E845046}"/>
              </a:ext>
            </a:extLst>
          </p:cNvPr>
          <p:cNvSpPr/>
          <p:nvPr/>
        </p:nvSpPr>
        <p:spPr>
          <a:xfrm>
            <a:off x="8633908" y="373704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</a:t>
            </a:r>
            <a:r>
              <a:rPr lang="en-US" sz="1000" noProof="0" dirty="0" err="1">
                <a:solidFill>
                  <a:srgbClr val="64748B"/>
                </a:solidFill>
              </a:rPr>
              <a:t>reference</a:t>
            </a:r>
            <a:endParaRPr lang="en-US" sz="1000" noProof="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243BCEC-50AE-78A4-4484-96F152D3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275" y="3747854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B6AB5052-B88F-6A7E-9EDE-A18F3CC93CD3}"/>
              </a:ext>
            </a:extLst>
          </p:cNvPr>
          <p:cNvSpPr/>
          <p:nvPr/>
        </p:nvSpPr>
        <p:spPr>
          <a:xfrm>
            <a:off x="9967204" y="2710009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49FD1DD7-BAD8-1725-973E-486ADE073B90}"/>
              </a:ext>
            </a:extLst>
          </p:cNvPr>
          <p:cNvSpPr/>
          <p:nvPr/>
        </p:nvSpPr>
        <p:spPr>
          <a:xfrm>
            <a:off x="9967205" y="2710010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F9FE8D32-4685-8014-E6A0-95CE381CECFD}"/>
              </a:ext>
            </a:extLst>
          </p:cNvPr>
          <p:cNvSpPr/>
          <p:nvPr/>
        </p:nvSpPr>
        <p:spPr>
          <a:xfrm>
            <a:off x="9967205" y="2710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84230D54-4CF8-9829-27AD-A4CCE37B6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572" y="2795079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FD2C8677-F933-3733-D15A-437F70DC2B25}"/>
              </a:ext>
            </a:extLst>
          </p:cNvPr>
          <p:cNvSpPr/>
          <p:nvPr/>
        </p:nvSpPr>
        <p:spPr>
          <a:xfrm>
            <a:off x="10038761" y="343808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D91C2862-01D2-E1E0-D940-AD652B5D9895}"/>
              </a:ext>
            </a:extLst>
          </p:cNvPr>
          <p:cNvSpPr/>
          <p:nvPr/>
        </p:nvSpPr>
        <p:spPr>
          <a:xfrm>
            <a:off x="10156251" y="365992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C7A22A4-C5AD-2BD0-9018-0C2C099DC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7591" y="2747074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6FAB824-1AD7-60D2-F487-F6F48C9D5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40408" y="2796878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E12A-F9BA-61FF-CB19-8D8A9AAC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2358-D0C5-CC57-F9C7-15B59752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CE485-3056-6351-797C-66B4B9BAA0A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B0E75EC-8636-A912-D959-21AFBF59851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A528C98-1DAE-264E-C33D-883A92F47E3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13B2B27-8E99-D178-F191-1B5541ECEA24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F37452E-B5FA-C5B3-3763-B5FEC666E205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63A435-10FE-AF43-100A-423695C3CD1A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CEE8C52-C2BB-68FA-3186-08F1645E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227B0CD6-5ED6-7B1F-620B-8F3EA09D39E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F5A7DFE-FBBA-1572-DD81-928B78DF9BE8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954908D-3197-34BA-4C01-9ECEF46D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18DCCA09-B7EF-63D5-D379-ADCC1A20EC52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EEFE3A9-2895-72E9-BE68-76393E0A1F7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F72BD14-2867-13A5-1563-E93364A204BC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5F4E4C-9A57-7FFE-7B7E-F75AAC300ECB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0AF6DF-BDE6-F2E8-BFA3-F2D383F8441E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0E23D79-1CD9-58C8-77F7-60137D5F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4EE0673A-C9BC-5BBE-43BD-21B737EC46C0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9818C1D-C140-F6E7-1508-953CD4A82157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AFC64DE-6D17-083C-B881-C9B718EF7B2E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0F2AF5C-E8FE-8050-3BE1-70E54265D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973E71D-03B7-32DA-B500-9FF5984D6F88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569C26E-609A-B354-3D91-0D976C5880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B5D4CD5-6248-D857-867E-56071185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E87B638F-1C64-F11A-B483-347EF5EFB84F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162F2A6-5D12-E1BF-356C-FE36542590C3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74820A-3D6E-60D4-354F-43894413029F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E626801-33AA-8753-2981-71F6AEC0A992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A63B98-28C1-19A9-12F6-4B96BE79A1D9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5094F9A5-C76C-EE94-4D62-D9802C00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21CDD38-440E-8701-66EA-1FFADCE494E3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4D125D7-9EC0-6542-EAA7-25DB5774E23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AD03A822-7443-9ECC-3BAD-37A9AB641B99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1FD6FE0F-B751-92A1-52D8-7FEC67FAA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9B42713E-BF4D-1A62-76EB-C86ACE68BCE0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C5E348-A457-0F4B-F19B-DF1E7255740C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FFF114-9A68-72FD-1974-F1D4A4A3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EFA3E3D2-AB25-EF10-01D9-267B0076253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28207811-0B16-770C-AE90-787E3D763F76}"/>
              </a:ext>
            </a:extLst>
          </p:cNvPr>
          <p:cNvSpPr/>
          <p:nvPr/>
        </p:nvSpPr>
        <p:spPr>
          <a:xfrm>
            <a:off x="8483097" y="1875339"/>
            <a:ext cx="1380744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5549798-0E0C-3C6C-A868-EB5528E4AA09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0047C635-110A-9F1C-0FD5-C91026D2A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D2DA3A5-D047-37BB-59C6-71FA567DA714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886831E-607E-198C-5C99-29B393996022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B9547A3C-C43A-4166-F5EB-6A1BD50F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7DC8D14-3191-5673-8F21-DBCCD1DD6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24CF2F6-CEFF-0876-E0CE-AEA55E96B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35651" y="427363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35651" y="427363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36819" y="436507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Que fait le </a:t>
            </a:r>
            <a:r>
              <a:rPr lang="en-US" sz="1050" b="1" noProof="0" dirty="0" err="1">
                <a:solidFill>
                  <a:srgbClr val="0D9488"/>
                </a:solidFill>
              </a:rPr>
              <a:t>Cleaning</a:t>
            </a:r>
            <a:r>
              <a:rPr lang="en-US" sz="1050" b="1" noProof="0" dirty="0">
                <a:solidFill>
                  <a:srgbClr val="0D9488"/>
                </a:solidFill>
              </a:rPr>
              <a:t> ?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36819" y="465768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Les données brutes contiennent du HTML cassé, des images </a:t>
            </a:r>
            <a:r>
              <a:rPr lang="en-US" sz="1000" dirty="0">
                <a:solidFill>
                  <a:srgbClr val="1B2A3B"/>
                </a:solidFill>
              </a:rPr>
              <a:t>il</a:t>
            </a:r>
            <a:r>
              <a:rPr lang="en-US" sz="1000" noProof="0" dirty="0">
                <a:solidFill>
                  <a:srgbClr val="1B2A3B"/>
                </a:solidFill>
              </a:rPr>
              <a:t>lisibles, des blocs de code non structurés. Le </a:t>
            </a:r>
            <a:r>
              <a:rPr lang="en-US" sz="1000" noProof="0" dirty="0" err="1">
                <a:solidFill>
                  <a:srgbClr val="1B2A3B"/>
                </a:solidFill>
              </a:rPr>
              <a:t>cleaning</a:t>
            </a:r>
            <a:r>
              <a:rPr lang="en-US" sz="1000" noProof="0" dirty="0">
                <a:solidFill>
                  <a:srgbClr val="1B2A3B"/>
                </a:solidFill>
              </a:rPr>
              <a:t> les transforme en texte propre et exploitable.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65469" y="4254656"/>
            <a:ext cx="1481109" cy="1481109"/>
          </a:xfrm>
          <a:prstGeom prst="rect">
            <a:avLst/>
          </a:prstGeom>
        </p:spPr>
      </p:pic>
      <p:sp>
        <p:nvSpPr>
          <p:cNvPr id="64" name="Shape 35">
            <a:extLst>
              <a:ext uri="{FF2B5EF4-FFF2-40B4-BE49-F238E27FC236}">
                <a16:creationId xmlns:a16="http://schemas.microsoft.com/office/drawing/2014/main" id="{8F73E210-07CA-B2ED-BA57-3DC127D58E21}"/>
              </a:ext>
            </a:extLst>
          </p:cNvPr>
          <p:cNvSpPr/>
          <p:nvPr/>
        </p:nvSpPr>
        <p:spPr>
          <a:xfrm>
            <a:off x="10025245" y="1857251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897CB8B8-BFBE-49A1-FCB4-EDE183B975F1}"/>
              </a:ext>
            </a:extLst>
          </p:cNvPr>
          <p:cNvSpPr/>
          <p:nvPr/>
        </p:nvSpPr>
        <p:spPr>
          <a:xfrm>
            <a:off x="10025246" y="1857252"/>
            <a:ext cx="136788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5879B2A2-161F-F015-1979-3119CCEC67A7}"/>
              </a:ext>
            </a:extLst>
          </p:cNvPr>
          <p:cNvSpPr/>
          <p:nvPr/>
        </p:nvSpPr>
        <p:spPr>
          <a:xfrm>
            <a:off x="10025246" y="185725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CE8E4C87-D47B-77CE-EC2F-0083E9F2EC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7613" y="1942321"/>
            <a:ext cx="288037" cy="288037"/>
          </a:xfrm>
          <a:prstGeom prst="rect">
            <a:avLst/>
          </a:prstGeom>
        </p:spPr>
      </p:pic>
      <p:sp>
        <p:nvSpPr>
          <p:cNvPr id="68" name="Text 38">
            <a:extLst>
              <a:ext uri="{FF2B5EF4-FFF2-40B4-BE49-F238E27FC236}">
                <a16:creationId xmlns:a16="http://schemas.microsoft.com/office/drawing/2014/main" id="{B359A444-A36E-CE3C-3425-4F7675F2320B}"/>
              </a:ext>
            </a:extLst>
          </p:cNvPr>
          <p:cNvSpPr/>
          <p:nvPr/>
        </p:nvSpPr>
        <p:spPr>
          <a:xfrm>
            <a:off x="10073625" y="2573299"/>
            <a:ext cx="12711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D085E894-F08C-D38E-7BE2-205084FDCD2D}"/>
              </a:ext>
            </a:extLst>
          </p:cNvPr>
          <p:cNvSpPr/>
          <p:nvPr/>
        </p:nvSpPr>
        <p:spPr>
          <a:xfrm>
            <a:off x="10214292" y="280716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1797854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cleaning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C9B399-CB9E-BF7E-0B6D-29A1AAC82D2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Le </a:t>
            </a:r>
            <a:r>
              <a:rPr lang="en-US" sz="1200" b="1" noProof="0" dirty="0" err="1">
                <a:solidFill>
                  <a:srgbClr val="425A78"/>
                </a:solidFill>
              </a:rPr>
              <a:t>Cleaning</a:t>
            </a:r>
            <a:r>
              <a:rPr lang="en-US" sz="1200" b="1" noProof="0" dirty="0">
                <a:solidFill>
                  <a:srgbClr val="425A78"/>
                </a:solidFill>
              </a:rPr>
              <a:t> — Pourquoi nettoyer les données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Des données brutes = des réponses imprécises </a:t>
            </a:r>
            <a:r>
              <a:rPr lang="en-US" sz="1200" b="1" i="1" noProof="0" dirty="0">
                <a:solidFill>
                  <a:srgbClr val="64748B"/>
                </a:solidFill>
              </a:rPr>
              <a:t>=&gt;</a:t>
            </a:r>
            <a:r>
              <a:rPr lang="en-US" sz="1200" i="1" noProof="0" dirty="0">
                <a:solidFill>
                  <a:srgbClr val="64748B"/>
                </a:solidFill>
              </a:rPr>
              <a:t> Des données propres = des réponses utiles.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DA3E94-243D-FFCC-BDE9-17C3C363409E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711FE0-F871-D801-9659-54A9D2F5EAA1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❌  Raw data (before)</a:t>
            </a:r>
            <a:endParaRPr lang="en-US" sz="1200" noProof="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A632077-D24D-13F3-C4C6-B2506DD34511}"/>
              </a:ext>
            </a:extLst>
          </p:cNvPr>
          <p:cNvSpPr/>
          <p:nvPr/>
        </p:nvSpPr>
        <p:spPr>
          <a:xfrm>
            <a:off x="1161498" y="2431326"/>
            <a:ext cx="406908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172198A-E8D9-F851-4D58-CE508E50C694}"/>
              </a:ext>
            </a:extLst>
          </p:cNvPr>
          <p:cNvSpPr/>
          <p:nvPr/>
        </p:nvSpPr>
        <p:spPr>
          <a:xfrm>
            <a:off x="1298658" y="250447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class="issue"&gt;The &lt;b&gt;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HAL_DMA_Init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&lt;/b&gt; crashes 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...&lt;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src="/assets/diag.png"/&gt;&lt;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/&gt;&amp;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;&amp;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nbsp;See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href="..."&gt;PR#142&lt;/a&gt; and commit &lt;code&gt;3f2a1b&lt;/code&gt;&lt;/p&gt;</a:t>
            </a:r>
            <a:endParaRPr lang="en-US" sz="900" noProof="0" dirty="0"/>
          </a:p>
          <a:p>
            <a:pPr marL="0" indent="0">
              <a:buNone/>
            </a:pPr>
            <a:endParaRPr lang="en-US" sz="900" noProof="0" dirty="0"/>
          </a:p>
          <a:p>
            <a:pPr marL="0" indent="0">
              <a:buNone/>
            </a:pP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[IMAGE: configuration 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noProof="0" dirty="0"/>
          </a:p>
          <a:p>
            <a:pPr marL="0" indent="0">
              <a:buNone/>
            </a:pPr>
            <a:endParaRPr lang="en-US" sz="900" noProof="0" dirty="0"/>
          </a:p>
          <a:p>
            <a:pPr marL="0" indent="0">
              <a:buNone/>
            </a:pP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auto-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comment --&gt;</a:t>
            </a:r>
            <a:endParaRPr lang="en-US" sz="900" noProof="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5D96967A-3E8F-CEAF-32D2-791DDC167239}"/>
              </a:ext>
            </a:extLst>
          </p:cNvPr>
          <p:cNvSpPr/>
          <p:nvPr/>
        </p:nvSpPr>
        <p:spPr>
          <a:xfrm>
            <a:off x="1161498" y="4077246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E432E17C-1FC0-83BE-6A2E-135A5726DD39}"/>
              </a:ext>
            </a:extLst>
          </p:cNvPr>
          <p:cNvSpPr/>
          <p:nvPr/>
        </p:nvSpPr>
        <p:spPr>
          <a:xfrm>
            <a:off x="1298658" y="413211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EF4444"/>
                </a:solidFill>
              </a:rPr>
              <a:t>Issues:</a:t>
            </a:r>
            <a:endParaRPr lang="en-US" sz="1000" noProof="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B023467C-5A4E-E65E-EEA0-A35E92B3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424718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FD1A298A-2AFC-FED5-8BB2-FE29C150AE8B}"/>
              </a:ext>
            </a:extLst>
          </p:cNvPr>
          <p:cNvSpPr/>
          <p:nvPr/>
        </p:nvSpPr>
        <p:spPr>
          <a:xfrm>
            <a:off x="1582122" y="444300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tags unreadable by AI</a:t>
            </a:r>
            <a:endParaRPr lang="en-US" sz="1050" noProof="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B92B7FDC-2C3D-9FC9-4AB1-88588F5A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772190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23658F16-94A8-6A41-473F-7628B787D9CB}"/>
              </a:ext>
            </a:extLst>
          </p:cNvPr>
          <p:cNvSpPr/>
          <p:nvPr/>
        </p:nvSpPr>
        <p:spPr>
          <a:xfrm>
            <a:off x="1582122" y="479047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 content lost (no text)</a:t>
            </a:r>
            <a:endParaRPr lang="en-US" sz="1050" noProof="0" dirty="0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7CD80763-80D1-7FA3-F62D-D5369974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5119662"/>
            <a:ext cx="219456" cy="219456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4E5E3D8B-3FF1-E9BE-1FD8-395A181D13FD}"/>
              </a:ext>
            </a:extLst>
          </p:cNvPr>
          <p:cNvSpPr/>
          <p:nvPr/>
        </p:nvSpPr>
        <p:spPr>
          <a:xfrm>
            <a:off x="1582122" y="513795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Noise from auto-generated comments</a:t>
            </a:r>
            <a:endParaRPr lang="en-US" sz="1050" noProof="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826EA3AD-FC96-8FA4-5F02-78511B5EEFB3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A5E1406-6721-4E0D-F694-614B13AB596A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✅  Cleaned data (after)</a:t>
            </a:r>
            <a:endParaRPr lang="en-US" sz="1200" noProof="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D66CF4E2-4FFE-5B01-B5C1-EE09D29AB826}"/>
              </a:ext>
            </a:extLst>
          </p:cNvPr>
          <p:cNvSpPr/>
          <p:nvPr/>
        </p:nvSpPr>
        <p:spPr>
          <a:xfrm>
            <a:off x="6768603" y="2431326"/>
            <a:ext cx="370332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31D5AB1B-74B0-5C6A-F308-5F21DF534C4F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 err="1">
                <a:solidFill>
                  <a:srgbClr val="1B2A3B"/>
                </a:solidFill>
              </a:rPr>
              <a:t>HAL_DMA_Init</a:t>
            </a:r>
            <a:r>
              <a:rPr lang="en-US" sz="950" noProof="0" dirty="0">
                <a:solidFill>
                  <a:srgbClr val="1B2A3B"/>
                </a:solidFill>
              </a:rPr>
              <a:t> crashes </a:t>
            </a:r>
            <a:r>
              <a:rPr lang="en-US" sz="950" noProof="0" dirty="0" err="1">
                <a:solidFill>
                  <a:srgbClr val="1B2A3B"/>
                </a:solidFill>
              </a:rPr>
              <a:t>when</a:t>
            </a:r>
            <a:r>
              <a:rPr lang="en-US" sz="950" noProof="0" dirty="0">
                <a:solidFill>
                  <a:srgbClr val="1B2A3B"/>
                </a:solidFill>
              </a:rPr>
              <a:t> </a:t>
            </a:r>
            <a:r>
              <a:rPr lang="en-US" sz="950" noProof="0" dirty="0" err="1">
                <a:solidFill>
                  <a:srgbClr val="1B2A3B"/>
                </a:solidFill>
              </a:rPr>
              <a:t>circular</a:t>
            </a:r>
            <a:r>
              <a:rPr lang="en-US" sz="950" noProof="0" dirty="0">
                <a:solidFill>
                  <a:srgbClr val="1B2A3B"/>
                </a:solidFill>
              </a:rPr>
              <a:t> mode </a:t>
            </a:r>
            <a:r>
              <a:rPr lang="en-US" sz="950" noProof="0" dirty="0" err="1">
                <a:solidFill>
                  <a:srgbClr val="1B2A3B"/>
                </a:solidFill>
              </a:rPr>
              <a:t>is</a:t>
            </a:r>
            <a:r>
              <a:rPr lang="en-US" sz="950" noProof="0" dirty="0">
                <a:solidFill>
                  <a:srgbClr val="1B2A3B"/>
                </a:solidFill>
              </a:rPr>
              <a:t> active. Image: [IMAGE: configuration </a:t>
            </a:r>
            <a:r>
              <a:rPr lang="en-US" sz="950" noProof="0" dirty="0" err="1">
                <a:solidFill>
                  <a:srgbClr val="1B2A3B"/>
                </a:solidFill>
              </a:rPr>
              <a:t>diagram</a:t>
            </a:r>
            <a:r>
              <a:rPr lang="en-US" sz="950" noProof="0" dirty="0">
                <a:solidFill>
                  <a:srgbClr val="1B2A3B"/>
                </a:solidFill>
              </a:rPr>
              <a:t> </a:t>
            </a:r>
            <a:r>
              <a:rPr lang="en-US" sz="950" noProof="0" dirty="0" err="1">
                <a:solidFill>
                  <a:srgbClr val="1B2A3B"/>
                </a:solidFill>
              </a:rPr>
              <a:t>showing</a:t>
            </a:r>
            <a:r>
              <a:rPr lang="en-US" sz="950" noProof="0" dirty="0">
                <a:solidFill>
                  <a:srgbClr val="1B2A3B"/>
                </a:solidFill>
              </a:rPr>
              <a:t> DMA channels]. </a:t>
            </a:r>
            <a:r>
              <a:rPr lang="en-US" sz="950" noProof="0" dirty="0" err="1">
                <a:solidFill>
                  <a:srgbClr val="1B2A3B"/>
                </a:solidFill>
              </a:rPr>
              <a:t>See</a:t>
            </a:r>
            <a:r>
              <a:rPr lang="en-US" sz="950" noProof="0" dirty="0">
                <a:solidFill>
                  <a:srgbClr val="1B2A3B"/>
                </a:solidFill>
              </a:rPr>
              <a:t> PR#142 and commit 3f2a1b for fix.</a:t>
            </a:r>
            <a:endParaRPr lang="en-US" sz="950" noProof="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BAF4297E-CDCD-F4FA-47B8-1F36B190838D}"/>
              </a:ext>
            </a:extLst>
          </p:cNvPr>
          <p:cNvSpPr/>
          <p:nvPr/>
        </p:nvSpPr>
        <p:spPr>
          <a:xfrm>
            <a:off x="6768603" y="4077246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0AC05493-42CE-6F91-D2AF-A21373A9626D}"/>
              </a:ext>
            </a:extLst>
          </p:cNvPr>
          <p:cNvSpPr/>
          <p:nvPr/>
        </p:nvSpPr>
        <p:spPr>
          <a:xfrm>
            <a:off x="6905763" y="413211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Improvements: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26724DFE-ACA2-3D30-E6E2-53D7BCDA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424718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A1990E2-9FE0-0B18-50CF-F70EC4430448}"/>
              </a:ext>
            </a:extLst>
          </p:cNvPr>
          <p:cNvSpPr/>
          <p:nvPr/>
        </p:nvSpPr>
        <p:spPr>
          <a:xfrm>
            <a:off x="7198371" y="444300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stripped, pure text</a:t>
            </a:r>
            <a:endParaRPr lang="en-US" sz="1050" noProof="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7C439CA3-1EBF-3DD2-41B2-4DA144B09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772190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871F7A66-5589-1E1B-C52B-A8A2E6062ED5}"/>
              </a:ext>
            </a:extLst>
          </p:cNvPr>
          <p:cNvSpPr/>
          <p:nvPr/>
        </p:nvSpPr>
        <p:spPr>
          <a:xfrm>
            <a:off x="7198371" y="479047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Images replaced by [IMAGE] tag + description</a:t>
            </a:r>
            <a:endParaRPr lang="en-US" sz="1050" noProof="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1EBC6D3D-B1E3-AAF3-458D-A6258062B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5119662"/>
            <a:ext cx="219456" cy="219456"/>
          </a:xfrm>
          <a:prstGeom prst="rect">
            <a:avLst/>
          </a:prstGeom>
        </p:spPr>
      </p:pic>
      <p:sp>
        <p:nvSpPr>
          <p:cNvPr id="82" name="Text 22">
            <a:extLst>
              <a:ext uri="{FF2B5EF4-FFF2-40B4-BE49-F238E27FC236}">
                <a16:creationId xmlns:a16="http://schemas.microsoft.com/office/drawing/2014/main" id="{B9DA06CD-FB39-0204-2820-EB0AED95C2C9}"/>
              </a:ext>
            </a:extLst>
          </p:cNvPr>
          <p:cNvSpPr/>
          <p:nvPr/>
        </p:nvSpPr>
        <p:spPr>
          <a:xfrm>
            <a:off x="7198371" y="513795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Body + useful comments concatenated</a:t>
            </a:r>
            <a:endParaRPr lang="en-US" sz="1050" noProof="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0CC837DD-068F-414D-A890-5E7F08ED8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B2DB14-9C85-A8F9-8A61-F34254B26DD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54D701E-99E0-74E2-8284-9CC86E07C435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C276C68-4633-FA87-49DB-E36978E2638E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A4572F9-108B-AFBA-723C-A360C56B91A2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6C63D7C-1D46-5DA1-38D4-5C301C2D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BD08F93-64B8-33D7-3663-534FB2B666A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096D3C-CC29-21B3-8320-F7381595C302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A9E8408-209B-AD2E-2426-25A38EC3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BC803253-0556-6D57-D95B-58EE18CAB82B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CAD6107-1B5A-1E9D-8D25-D64C1EE3B0A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1CEB0C0-3D4F-3594-49C4-88BBD272F7AE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E7042C5-6073-E657-5FDB-49FEE7D88A9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6E4D6A-45E9-1A34-DB9E-94723B4CFED2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43DD4E5-97E8-DA5F-8BAC-216B07EED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759ED26F-6D31-4944-712C-B483BE172003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9D1DD5B-6143-553E-C987-5F09057F6A95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8F821A3-1A08-04D3-A5DE-CDC3760400B8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B41D47B-65A4-C1C8-2397-BFEBEBAA4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A918641-3B46-511A-EBBD-D5D5596D4D9C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36E88BB-FFF7-21E8-82AD-B691E9F0A6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noProof="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5D6DEB0-0023-0395-29AA-DD55412F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4E623718-FCAC-1387-6D08-15B7D7BAF780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7003EA3-EA55-E5AF-C4C0-FCAD7CF55110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FC5E5DF-2780-2B45-16EF-D4DD8DFEAE35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868F04-00DB-5C57-D4ED-247E316DF04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62EDB22-BA6F-6436-EE98-B07E105B5A3F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A132CB6E-124D-7D7F-89EA-97A586C0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6D6DB03D-6ABF-2CE2-FE5D-5587A36A1C91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DC8273D7-27BA-127F-B68D-79DD7132BFC3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066CADF-734A-A3DD-9D5A-3A6A315F245C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F8554500-9DC9-B5D5-4849-54E083F84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A9F138C-4392-5F8E-535A-16B38A01D382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7A22BB8-319E-0379-61FB-7AE6791FD05E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07D88FB1-A7D1-FDA2-48B1-133F378B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646FD1D8-B5BF-6F4A-5B06-9D6521200802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049B2C76-4CBE-03A6-B8E8-F19342A451C8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B04E3E61-17F5-FE09-416C-D1CB2ED85EBF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D2890009-29E9-3858-B749-74E0FC4D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D0581F0-44E0-9D54-A9DC-11C4A98DF0CD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F6D2EE7-B42E-B823-25C2-97C032B956F9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806FE150-6E00-C6EA-C281-39ED72531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2EF7FCA4-6985-DD46-00DC-17C4FE4C0693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59D5862B-4B4F-76DF-1F86-540E4396B3C0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5074C0BD-23B4-6F87-E7EF-A205388D72E2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496ECF99-66E1-3BB0-F015-436460F59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F9D4797-0BAD-B0DD-036E-A6A48E2253D9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975A7ED2-55E2-9356-59CF-93828C316084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FFA1646E-C450-9961-C8BB-43A39D80B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4C545BA-A021-1063-C662-47EDAC382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5983807" y="4213776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5983807" y="4213776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184975" y="43052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Ce que fait l’</a:t>
            </a:r>
            <a:r>
              <a:rPr lang="en-US" sz="1050" b="1" noProof="0" dirty="0" err="1">
                <a:solidFill>
                  <a:srgbClr val="0D9488"/>
                </a:solidFill>
              </a:rPr>
              <a:t>Enrichment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184975" y="4597824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noProof="0" dirty="0">
                <a:solidFill>
                  <a:srgbClr val="1B2A3B"/>
                </a:solidFill>
              </a:rPr>
              <a:t>Ajoute des métadonnées techniques: </a:t>
            </a:r>
            <a:r>
              <a:rPr lang="en-US" sz="1000" noProof="0" dirty="0">
                <a:solidFill>
                  <a:srgbClr val="1B2A3B"/>
                </a:solidFill>
              </a:rPr>
              <a:t>layer, </a:t>
            </a:r>
            <a:r>
              <a:rPr lang="en-US" sz="1000" noProof="0" dirty="0" err="1">
                <a:solidFill>
                  <a:srgbClr val="1B2A3B"/>
                </a:solidFill>
              </a:rPr>
              <a:t>severity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issue_kind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board</a:t>
            </a:r>
            <a:r>
              <a:rPr lang="en-US" sz="1000" noProof="0" dirty="0">
                <a:solidFill>
                  <a:srgbClr val="1B2A3B"/>
                </a:solidFill>
              </a:rPr>
              <a:t>, component, </a:t>
            </a:r>
            <a:r>
              <a:rPr lang="en-US" sz="1000" noProof="0" dirty="0" err="1">
                <a:solidFill>
                  <a:srgbClr val="1B2A3B"/>
                </a:solidFill>
              </a:rPr>
              <a:t>file_type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is_valid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Convertit le contenu clean en </a:t>
            </a:r>
            <a:r>
              <a:rPr lang="en-US" sz="1000" b="1" noProof="0" dirty="0">
                <a:solidFill>
                  <a:srgbClr val="1B2A3B"/>
                </a:solidFill>
              </a:rPr>
              <a:t>documents structurés V2 </a:t>
            </a:r>
            <a:r>
              <a:rPr lang="en-US" sz="1000" noProof="0" dirty="0">
                <a:solidFill>
                  <a:srgbClr val="1B2A3B"/>
                </a:solidFill>
              </a:rPr>
              <a:t>(issues et files).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Crée des </a:t>
            </a:r>
            <a:r>
              <a:rPr lang="en-US" sz="1000" noProof="0" dirty="0" err="1">
                <a:solidFill>
                  <a:srgbClr val="1B2A3B"/>
                </a:solidFill>
              </a:rPr>
              <a:t>features</a:t>
            </a:r>
            <a:r>
              <a:rPr lang="en-US" sz="1000" noProof="0" dirty="0">
                <a:solidFill>
                  <a:srgbClr val="1B2A3B"/>
                </a:solidFill>
              </a:rPr>
              <a:t> de </a:t>
            </a:r>
            <a:r>
              <a:rPr lang="en-US" sz="1000" b="1" noProof="0" dirty="0">
                <a:solidFill>
                  <a:srgbClr val="1B2A3B"/>
                </a:solidFill>
              </a:rPr>
              <a:t>filtrage</a:t>
            </a:r>
            <a:r>
              <a:rPr lang="en-US" sz="1000" noProof="0" dirty="0">
                <a:solidFill>
                  <a:srgbClr val="1B2A3B"/>
                </a:solidFill>
              </a:rPr>
              <a:t> et </a:t>
            </a:r>
            <a:r>
              <a:rPr lang="en-US" sz="1000" b="1" noProof="0" dirty="0" err="1">
                <a:solidFill>
                  <a:srgbClr val="1B2A3B"/>
                </a:solidFill>
              </a:rPr>
              <a:t>ranking</a:t>
            </a:r>
            <a:r>
              <a:rPr lang="en-US" sz="1000" noProof="0" dirty="0">
                <a:solidFill>
                  <a:srgbClr val="1B2A3B"/>
                </a:solidFill>
              </a:rPr>
              <a:t> pour la récupération d’information.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4305991" y="4284541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Enrichment</a:t>
            </a:r>
            <a:r>
              <a:rPr lang="en-US" sz="1800" b="1" noProof="0" dirty="0"/>
              <a:t> (</a:t>
            </a:r>
            <a:r>
              <a:rPr lang="en-US" sz="1800" b="1" noProof="0" dirty="0" err="1"/>
              <a:t>Feature</a:t>
            </a:r>
            <a:r>
              <a:rPr lang="en-US" sz="1800" b="1" noProof="0" dirty="0"/>
              <a:t> Engineering)    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8104D5-9D86-EC5B-5C1A-B5A742015800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 err="1">
                <a:solidFill>
                  <a:srgbClr val="425A78"/>
                </a:solidFill>
              </a:rPr>
              <a:t>Enrichment</a:t>
            </a:r>
            <a:r>
              <a:rPr lang="en-US" sz="1200" b="1" noProof="0" dirty="0">
                <a:solidFill>
                  <a:srgbClr val="425A78"/>
                </a:solidFill>
              </a:rPr>
              <a:t> — Pourquoi enrichir les données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Texte brut = réponses génériques </a:t>
            </a:r>
            <a:r>
              <a:rPr lang="en-US" sz="1200" b="1" i="1" noProof="0" dirty="0">
                <a:solidFill>
                  <a:srgbClr val="64748B"/>
                </a:solidFill>
              </a:rPr>
              <a:t>=&gt;</a:t>
            </a:r>
            <a:r>
              <a:rPr lang="en-US" sz="1200" i="1" noProof="0" dirty="0">
                <a:solidFill>
                  <a:srgbClr val="64748B"/>
                </a:solidFill>
              </a:rPr>
              <a:t> Données enrichies = réponses ciblées, actionnables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89DE23-3161-2037-BAB0-1227FAF7D63B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E86576-6BB4-391A-2E89-1777D1760971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Sans </a:t>
            </a:r>
            <a:r>
              <a:rPr lang="en-US" sz="1200" b="1" noProof="0" dirty="0" err="1">
                <a:solidFill>
                  <a:srgbClr val="C00000"/>
                </a:solidFill>
              </a:rPr>
              <a:t>enrichment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F08841-13C1-AF8D-22F1-D302DB8EF213}"/>
              </a:ext>
            </a:extLst>
          </p:cNvPr>
          <p:cNvSpPr/>
          <p:nvPr/>
        </p:nvSpPr>
        <p:spPr>
          <a:xfrm>
            <a:off x="1260558" y="2710218"/>
            <a:ext cx="4069080" cy="30505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200" noProof="0" dirty="0"/>
          </a:p>
          <a:p>
            <a:r>
              <a:rPr lang="en-US" sz="1100" noProof="0" dirty="0">
                <a:solidFill>
                  <a:srgbClr val="1B2A3B"/>
                </a:solidFill>
              </a:rPr>
              <a:t>The engine finds documents where 'UART' appears, but cannot distinguish bug type, component, or MCU series.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B75D9F-E455-3D58-1F27-951A07B533B6}"/>
              </a:ext>
            </a:extLst>
          </p:cNvPr>
          <p:cNvSpPr/>
          <p:nvPr/>
        </p:nvSpPr>
        <p:spPr>
          <a:xfrm>
            <a:off x="1397718" y="271021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B4A890-2F11-2E4A-C9B0-7BACBB31BE4E}"/>
              </a:ext>
            </a:extLst>
          </p:cNvPr>
          <p:cNvSpPr/>
          <p:nvPr/>
        </p:nvSpPr>
        <p:spPr>
          <a:xfrm>
            <a:off x="1260558" y="377320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CDD74B-86E2-1974-4085-95B4614E511A}"/>
              </a:ext>
            </a:extLst>
          </p:cNvPr>
          <p:cNvSpPr/>
          <p:nvPr/>
        </p:nvSpPr>
        <p:spPr>
          <a:xfrm>
            <a:off x="1397718" y="39057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C00000"/>
                </a:solidFill>
              </a:rPr>
              <a:t>Typical answer: </a:t>
            </a:r>
            <a:endParaRPr lang="en-US" sz="1000" noProof="0" dirty="0">
              <a:solidFill>
                <a:srgbClr val="C00000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18656A4-45F1-E93B-B322-B7156A58AA24}"/>
              </a:ext>
            </a:extLst>
          </p:cNvPr>
          <p:cNvSpPr/>
          <p:nvPr/>
        </p:nvSpPr>
        <p:spPr>
          <a:xfrm>
            <a:off x="1397718" y="4200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Check </a:t>
            </a:r>
            <a:r>
              <a:rPr lang="en-US" sz="1050" noProof="0" dirty="0" err="1">
                <a:solidFill>
                  <a:srgbClr val="1B2A3B"/>
                </a:solidFill>
              </a:rPr>
              <a:t>your</a:t>
            </a:r>
            <a:r>
              <a:rPr lang="en-US" sz="1050" noProof="0" dirty="0">
                <a:solidFill>
                  <a:srgbClr val="1B2A3B"/>
                </a:solidFill>
              </a:rPr>
              <a:t> UART settings and HAL configuration.</a:t>
            </a:r>
            <a:endParaRPr lang="en-US" sz="1050" noProof="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C035E1F-8309-1C1F-789E-E688E2B130DA}"/>
              </a:ext>
            </a:extLst>
          </p:cNvPr>
          <p:cNvSpPr/>
          <p:nvPr/>
        </p:nvSpPr>
        <p:spPr>
          <a:xfrm>
            <a:off x="1681182" y="5343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noProof="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3B409E3-7407-A474-4538-6FE261B7BCB2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22CFD65-83CA-23A7-5A9C-0DEA439C6217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Avec </a:t>
            </a:r>
            <a:r>
              <a:rPr lang="en-US" sz="1200" b="1" noProof="0" dirty="0" err="1">
                <a:solidFill>
                  <a:srgbClr val="0D9589"/>
                </a:solidFill>
              </a:rPr>
              <a:t>enrichment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228722-E5D4-2058-60C6-8C0F39138DC0}"/>
              </a:ext>
            </a:extLst>
          </p:cNvPr>
          <p:cNvSpPr/>
          <p:nvPr/>
        </p:nvSpPr>
        <p:spPr>
          <a:xfrm>
            <a:off x="6867663" y="2746794"/>
            <a:ext cx="3703320" cy="301392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725EE2C-9C3D-A34F-93D8-B068343AA927}"/>
              </a:ext>
            </a:extLst>
          </p:cNvPr>
          <p:cNvSpPr/>
          <p:nvPr/>
        </p:nvSpPr>
        <p:spPr>
          <a:xfrm>
            <a:off x="7004823" y="271021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034A495-1F3D-6667-4E14-7584FFE1A45C}"/>
              </a:ext>
            </a:extLst>
          </p:cNvPr>
          <p:cNvSpPr/>
          <p:nvPr/>
        </p:nvSpPr>
        <p:spPr>
          <a:xfrm>
            <a:off x="6862364" y="3800424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5E69CDE-AB46-97C2-8BFA-F17D6C7F0EA8}"/>
              </a:ext>
            </a:extLst>
          </p:cNvPr>
          <p:cNvSpPr/>
          <p:nvPr/>
        </p:nvSpPr>
        <p:spPr>
          <a:xfrm>
            <a:off x="7004823" y="391679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Typical answer: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010B458-9B3E-2EEB-005A-B151D9D3AD2A}"/>
              </a:ext>
            </a:extLst>
          </p:cNvPr>
          <p:cNvSpPr/>
          <p:nvPr/>
        </p:nvSpPr>
        <p:spPr>
          <a:xfrm>
            <a:off x="7006340" y="447464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The </a:t>
            </a:r>
            <a:r>
              <a:rPr lang="en-US" sz="1050" noProof="0" dirty="0" err="1">
                <a:solidFill>
                  <a:srgbClr val="1B2A3B"/>
                </a:solidFill>
              </a:rPr>
              <a:t>failure</a:t>
            </a:r>
            <a:r>
              <a:rPr lang="en-US" sz="1050" noProof="0" dirty="0">
                <a:solidFill>
                  <a:srgbClr val="1B2A3B"/>
                </a:solidFill>
              </a:rPr>
              <a:t> </a:t>
            </a:r>
            <a:r>
              <a:rPr lang="en-US" sz="1050" noProof="0" dirty="0" err="1">
                <a:solidFill>
                  <a:srgbClr val="1B2A3B"/>
                </a:solidFill>
              </a:rPr>
              <a:t>comes</a:t>
            </a:r>
            <a:r>
              <a:rPr lang="en-US" sz="1050" noProof="0" dirty="0">
                <a:solidFill>
                  <a:srgbClr val="1B2A3B"/>
                </a:solidFill>
              </a:rPr>
              <a:t> </a:t>
            </a:r>
            <a:r>
              <a:rPr lang="en-US" sz="1050" noProof="0" dirty="0" err="1">
                <a:solidFill>
                  <a:srgbClr val="1B2A3B"/>
                </a:solidFill>
              </a:rPr>
              <a:t>from</a:t>
            </a:r>
            <a:r>
              <a:rPr lang="en-US" sz="1050" noProof="0" dirty="0">
                <a:solidFill>
                  <a:srgbClr val="1B2A3B"/>
                </a:solidFill>
              </a:rPr>
              <a:t> USART </a:t>
            </a:r>
            <a:r>
              <a:rPr lang="en-US" sz="1050" noProof="0" dirty="0" err="1">
                <a:solidFill>
                  <a:srgbClr val="1B2A3B"/>
                </a:solidFill>
              </a:rPr>
              <a:t>dependency</a:t>
            </a:r>
            <a:r>
              <a:rPr lang="en-US" sz="1050" noProof="0" dirty="0">
                <a:solidFill>
                  <a:srgbClr val="1B2A3B"/>
                </a:solidFill>
              </a:rPr>
              <a:t> on UART module </a:t>
            </a:r>
            <a:r>
              <a:rPr lang="en-US" sz="1050" noProof="0" dirty="0" err="1">
                <a:solidFill>
                  <a:srgbClr val="1B2A3B"/>
                </a:solidFill>
              </a:rPr>
              <a:t>guards</a:t>
            </a:r>
            <a:r>
              <a:rPr lang="en-US" sz="1050" noProof="0" dirty="0">
                <a:solidFill>
                  <a:srgbClr val="1B2A3B"/>
                </a:solidFill>
              </a:rPr>
              <a:t> in HAL config.</a:t>
            </a:r>
          </a:p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Enable the </a:t>
            </a:r>
            <a:r>
              <a:rPr lang="en-US" sz="1050" noProof="0" dirty="0" err="1">
                <a:solidFill>
                  <a:srgbClr val="1B2A3B"/>
                </a:solidFill>
              </a:rPr>
              <a:t>required</a:t>
            </a:r>
            <a:r>
              <a:rPr lang="en-US" sz="1050" noProof="0" dirty="0">
                <a:solidFill>
                  <a:srgbClr val="1B2A3B"/>
                </a:solidFill>
              </a:rPr>
              <a:t> UART macro or patch the </a:t>
            </a:r>
            <a:r>
              <a:rPr lang="en-US" sz="1050" noProof="0" dirty="0" err="1">
                <a:solidFill>
                  <a:srgbClr val="1B2A3B"/>
                </a:solidFill>
              </a:rPr>
              <a:t>conditional</a:t>
            </a:r>
            <a:r>
              <a:rPr lang="en-US" sz="1050" noProof="0" dirty="0">
                <a:solidFill>
                  <a:srgbClr val="1B2A3B"/>
                </a:solidFill>
              </a:rPr>
              <a:t> compilation section in the USART driver for </a:t>
            </a:r>
            <a:r>
              <a:rPr lang="en-US" sz="1050" noProof="0" dirty="0" err="1">
                <a:solidFill>
                  <a:srgbClr val="1B2A3B"/>
                </a:solidFill>
              </a:rPr>
              <a:t>your</a:t>
            </a:r>
            <a:r>
              <a:rPr lang="en-US" sz="1050" noProof="0" dirty="0">
                <a:solidFill>
                  <a:srgbClr val="1B2A3B"/>
                </a:solidFill>
              </a:rPr>
              <a:t> STM32CubeH7 version.</a:t>
            </a:r>
            <a:endParaRPr lang="en-US" sz="1050" noProof="0" dirty="0"/>
          </a:p>
        </p:txBody>
      </p:sp>
      <p:pic>
        <p:nvPicPr>
          <p:cNvPr id="33" name="Graphic 32" descr="Arrow Right with solid fill">
            <a:extLst>
              <a:ext uri="{FF2B5EF4-FFF2-40B4-BE49-F238E27FC236}">
                <a16:creationId xmlns:a16="http://schemas.microsoft.com/office/drawing/2014/main" id="{B6E1EE74-B9EA-9BE1-1F24-CBE8A35CB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7584" y="3580300"/>
            <a:ext cx="431535" cy="4315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5F3687-7459-7D04-1061-FF7FC12B24BA}"/>
              </a:ext>
            </a:extLst>
          </p:cNvPr>
          <p:cNvSpPr txBox="1"/>
          <p:nvPr/>
        </p:nvSpPr>
        <p:spPr>
          <a:xfrm>
            <a:off x="340364" y="1580934"/>
            <a:ext cx="102697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0D9488"/>
                </a:solidFill>
              </a:rPr>
              <a:t>User question:  </a:t>
            </a:r>
            <a:r>
              <a:rPr lang="en-US" sz="1200" noProof="0" dirty="0" err="1">
                <a:solidFill>
                  <a:srgbClr val="1B2A3B"/>
                </a:solidFill>
              </a:rPr>
              <a:t>Why</a:t>
            </a:r>
            <a:r>
              <a:rPr lang="en-US" sz="1200" noProof="0" dirty="0">
                <a:solidFill>
                  <a:srgbClr val="1B2A3B"/>
                </a:solidFill>
              </a:rPr>
              <a:t> </a:t>
            </a:r>
            <a:r>
              <a:rPr lang="en-US" sz="1200" noProof="0" dirty="0" err="1">
                <a:solidFill>
                  <a:srgbClr val="1B2A3B"/>
                </a:solidFill>
              </a:rPr>
              <a:t>does</a:t>
            </a:r>
            <a:r>
              <a:rPr lang="en-US" sz="1200" noProof="0" dirty="0">
                <a:solidFill>
                  <a:srgbClr val="1B2A3B"/>
                </a:solidFill>
              </a:rPr>
              <a:t> USART fail to compile </a:t>
            </a:r>
            <a:r>
              <a:rPr lang="en-US" sz="1200" noProof="0" dirty="0" err="1">
                <a:solidFill>
                  <a:srgbClr val="1B2A3B"/>
                </a:solidFill>
              </a:rPr>
              <a:t>when</a:t>
            </a:r>
            <a:r>
              <a:rPr lang="en-US" sz="1200" noProof="0" dirty="0">
                <a:solidFill>
                  <a:srgbClr val="1B2A3B"/>
                </a:solidFill>
              </a:rPr>
              <a:t> UART </a:t>
            </a:r>
            <a:r>
              <a:rPr lang="en-US" sz="1200" noProof="0" dirty="0" err="1">
                <a:solidFill>
                  <a:srgbClr val="1B2A3B"/>
                </a:solidFill>
              </a:rPr>
              <a:t>is</a:t>
            </a:r>
            <a:r>
              <a:rPr lang="en-US" sz="1200" noProof="0" dirty="0">
                <a:solidFill>
                  <a:srgbClr val="1B2A3B"/>
                </a:solidFill>
              </a:rPr>
              <a:t> not </a:t>
            </a:r>
            <a:r>
              <a:rPr lang="en-US" sz="1200" noProof="0" dirty="0" err="1">
                <a:solidFill>
                  <a:srgbClr val="1B2A3B"/>
                </a:solidFill>
              </a:rPr>
              <a:t>enabled</a:t>
            </a:r>
            <a:r>
              <a:rPr lang="en-US" sz="1200" noProof="0" dirty="0">
                <a:solidFill>
                  <a:srgbClr val="1B2A3B"/>
                </a:solidFill>
              </a:rPr>
              <a:t>?</a:t>
            </a: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6DDB59-46E5-F3F0-D494-AABADC618E03}"/>
              </a:ext>
            </a:extLst>
          </p:cNvPr>
          <p:cNvSpPr/>
          <p:nvPr/>
        </p:nvSpPr>
        <p:spPr>
          <a:xfrm>
            <a:off x="1397718" y="45920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C00000"/>
                </a:solidFill>
              </a:rPr>
              <a:t>Problem:</a:t>
            </a:r>
            <a:endParaRPr lang="en-US" sz="1000" noProof="0" dirty="0">
              <a:solidFill>
                <a:srgbClr val="C00000"/>
              </a:solidFill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B81CE1D-165B-25AA-EBAA-CC603CACFA67}"/>
              </a:ext>
            </a:extLst>
          </p:cNvPr>
          <p:cNvSpPr/>
          <p:nvPr/>
        </p:nvSpPr>
        <p:spPr>
          <a:xfrm>
            <a:off x="1397718" y="488691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Vague answer, no root cause, no prioritization.</a:t>
            </a:r>
            <a:endParaRPr lang="en-US" sz="1050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88464-9188-B6DD-A207-BD180BB1AC04}"/>
              </a:ext>
            </a:extLst>
          </p:cNvPr>
          <p:cNvSpPr txBox="1"/>
          <p:nvPr/>
        </p:nvSpPr>
        <p:spPr>
          <a:xfrm>
            <a:off x="6862364" y="2918663"/>
            <a:ext cx="3703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>
                <a:solidFill>
                  <a:srgbClr val="1B2A3B"/>
                </a:solidFill>
              </a:rPr>
              <a:t>Le document est enrichi avec:</a:t>
            </a:r>
          </a:p>
          <a:p>
            <a:r>
              <a:rPr lang="en-US" sz="1100" noProof="0" dirty="0">
                <a:solidFill>
                  <a:srgbClr val="1B2A3B"/>
                </a:solidFill>
              </a:rPr>
              <a:t>component=UART, </a:t>
            </a:r>
            <a:r>
              <a:rPr lang="en-US" sz="1100" noProof="0" dirty="0" err="1">
                <a:solidFill>
                  <a:srgbClr val="1B2A3B"/>
                </a:solidFill>
              </a:rPr>
              <a:t>issue_kind</a:t>
            </a:r>
            <a:r>
              <a:rPr lang="en-US" sz="1100" noProof="0" dirty="0">
                <a:solidFill>
                  <a:srgbClr val="1B2A3B"/>
                </a:solidFill>
              </a:rPr>
              <a:t>=</a:t>
            </a:r>
            <a:r>
              <a:rPr lang="en-US" sz="1100" noProof="0" dirty="0" err="1">
                <a:solidFill>
                  <a:srgbClr val="1B2A3B"/>
                </a:solidFill>
              </a:rPr>
              <a:t>bug_report</a:t>
            </a:r>
            <a:r>
              <a:rPr lang="en-US" sz="1100" noProof="0" dirty="0">
                <a:solidFill>
                  <a:srgbClr val="1B2A3B"/>
                </a:solidFill>
              </a:rPr>
              <a:t>, layer=HAL/Driver, </a:t>
            </a:r>
            <a:r>
              <a:rPr lang="en-US" sz="1100" noProof="0" dirty="0" err="1">
                <a:solidFill>
                  <a:srgbClr val="1B2A3B"/>
                </a:solidFill>
              </a:rPr>
              <a:t>severity</a:t>
            </a:r>
            <a:r>
              <a:rPr lang="en-US" sz="1100" noProof="0" dirty="0">
                <a:solidFill>
                  <a:srgbClr val="1B2A3B"/>
                </a:solidFill>
              </a:rPr>
              <a:t>=high, repo=STM32CubeH7, </a:t>
            </a:r>
            <a:r>
              <a:rPr lang="en-US" sz="1100" noProof="0" dirty="0" err="1">
                <a:solidFill>
                  <a:srgbClr val="1B2A3B"/>
                </a:solidFill>
              </a:rPr>
              <a:t>is_valid</a:t>
            </a:r>
            <a:r>
              <a:rPr lang="en-US" sz="1100" noProof="0" dirty="0">
                <a:solidFill>
                  <a:srgbClr val="1B2A3B"/>
                </a:solidFill>
              </a:rPr>
              <a:t>=</a:t>
            </a:r>
            <a:r>
              <a:rPr lang="en-US" sz="1100" noProof="0" dirty="0" err="1">
                <a:solidFill>
                  <a:srgbClr val="1B2A3B"/>
                </a:solidFill>
              </a:rPr>
              <a:t>true</a:t>
            </a:r>
            <a:endParaRPr lang="en-US" sz="1100" noProof="0" dirty="0">
              <a:solidFill>
                <a:srgbClr val="1B2A3B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D3496B6-6EE4-55BB-FFE5-E9675880B1EC}"/>
              </a:ext>
            </a:extLst>
          </p:cNvPr>
          <p:cNvSpPr/>
          <p:nvPr/>
        </p:nvSpPr>
        <p:spPr>
          <a:xfrm>
            <a:off x="7004823" y="502103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Impact: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6E46A348-210D-9EA7-658E-8745DB842945}"/>
              </a:ext>
            </a:extLst>
          </p:cNvPr>
          <p:cNvSpPr/>
          <p:nvPr/>
        </p:nvSpPr>
        <p:spPr>
          <a:xfrm>
            <a:off x="7004823" y="531364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Technical, root-cause-oriented, actionable answer.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3B4C7-E971-98D0-E903-EDF1D2D05A6E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D8C8AB0-336C-1213-6B88-2C4CE460DA3B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CC559F5-3439-F9B7-FD15-4ECA6F478F27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490AC2-A534-E0B9-3585-2FAF20031E58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6FF422D-47AE-B4A9-4528-C0294600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31D5F5A0-78F5-80C9-B4D5-5246C5FEEC6E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7F66B4E-C36C-F589-F177-F791CB927A87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CA12414-D9F4-43A4-6707-93906883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E050E28-2D49-BF91-A4A9-B75DF92F8981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1563207-E0C5-A8D4-5E31-C5A35EFBDA94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3423B03-E6E3-4AC2-93A5-0A9714D7FAAB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CEABBD-AC58-9A80-FB0C-D230D64CA84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A56E35-EA59-13A5-BE62-83892D7FAB9F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BAC6772-EDFE-686C-23B2-BF17A6B53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8D6B35D3-8198-C63D-18AB-117F2DA92091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30FB36-A20C-D01F-932A-A14D38969442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BDECCA7-947A-ABD2-99F4-A4BF149216A0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B01F942-330A-3A5E-A78B-603FA4C2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269255A-B515-08AD-18D3-B874575D124B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A961CEC-5117-8593-E224-102941CDDAA3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noProof="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9E75BB3-EE17-1016-54CE-B0474FE0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FF7FA8D-F8D4-73D4-11ED-4638D161510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05A14E3-A60A-6EA7-56EC-703EEFF3295B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FC9E600-EC6E-B478-B452-F52F5166C211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ED3EC9-AD24-3430-C99B-094B75DC7EE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2BA3053-0F09-8CF1-7BCA-F371BC605E73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073E58A1-35DD-4307-9415-71107E357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B3A24B50-E874-0A5C-4295-33440102606D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596EABC-2CD4-ED8B-0FCE-7B1F6E4FCDFA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545F877-555D-F5A7-BB0F-F7D366751213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4C842954-2D51-4A45-A4A5-4B8B1BB6F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7C5C4491-523B-B8B6-40AE-D1DFC1254394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D215A6D1-5C42-59BC-9FBE-2EBA5CFDF915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A3092D6E-D7DE-F2B9-4F4A-A1764DDB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B0D30D9-A030-473C-1B80-503E3D72AE5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BCA7D31C-9C33-9481-D882-9AAC90BE4040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AF0F60B4-F4BE-EBDD-2E1D-2365837772FA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3C7AA553-6AB9-FD9B-E95E-CB2C351FE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288A97AC-89DA-45C2-51C1-062E8023F528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3F47B868-2B51-2317-3E49-D7A46381EF16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80FCD2F-351E-FC09-06E6-D690A4AD6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8A816666-5AD1-7411-7DB5-FEC7F5A4B6DD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1989238-39BB-E05F-D861-09AC6D66F315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882E5B04-7565-7B4E-217E-897C5E2077BC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0B7220A8-723C-8BC3-0BF1-0F1A71D30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2C456407-434F-E67B-12D9-4477FBF239C1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AC62A34E-1FF6-05A3-BB10-CCC2093EBE49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CF0AB3E6-4782-9AE3-E304-3C07064F1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05655F29-15EF-8517-EB92-C48186A09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697987" y="440615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722613" y="440615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923781" y="449759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Objectif </a:t>
            </a:r>
            <a:r>
              <a:rPr lang="en-US" sz="1050" b="1" noProof="0" dirty="0" err="1">
                <a:solidFill>
                  <a:srgbClr val="0D9488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923781" y="47993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1B2A3B"/>
                </a:solidFill>
              </a:rPr>
              <a:t>Identifier les issues qui parlent du même symptôme/problème technique.</a:t>
            </a:r>
          </a:p>
          <a:p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Ce que fait </a:t>
            </a:r>
            <a:r>
              <a:rPr lang="en-US" sz="1000" b="1" u="sng" noProof="0" dirty="0" err="1"/>
              <a:t>Similarity</a:t>
            </a:r>
            <a:r>
              <a:rPr lang="en-US" sz="1000" b="1" u="sng" noProof="0" dirty="0"/>
              <a:t> :</a:t>
            </a:r>
          </a:p>
          <a:p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compare les textes d’issues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calcule une proximité sémantique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ajoute des </a:t>
            </a:r>
            <a:r>
              <a:rPr lang="en-US" sz="1000" noProof="0" dirty="0" err="1"/>
              <a:t>related_issue_ids</a:t>
            </a:r>
            <a:r>
              <a:rPr lang="en-US" sz="1000" noProof="0" dirty="0"/>
              <a:t> pour chaque issue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985472" y="4406153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3A44-09E8-4BE2-A5DD-95AF2243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EF98-076C-577D-CFB7-742E3E7E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Enrichment</a:t>
            </a:r>
            <a:r>
              <a:rPr lang="en-US" sz="1800" b="1" noProof="0" dirty="0"/>
              <a:t> (</a:t>
            </a:r>
            <a:r>
              <a:rPr lang="en-US" sz="1800" b="1" noProof="0" dirty="0" err="1"/>
              <a:t>Feature</a:t>
            </a:r>
            <a:r>
              <a:rPr lang="en-US" sz="1800" b="1" noProof="0" dirty="0"/>
              <a:t> Engineering)    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68A76-DC29-134C-DF84-9529E016E0F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1DA1FC3-79AA-3AC6-6ADE-712FBA16A92F}"/>
              </a:ext>
            </a:extLst>
          </p:cNvPr>
          <p:cNvSpPr/>
          <p:nvPr/>
        </p:nvSpPr>
        <p:spPr>
          <a:xfrm>
            <a:off x="340364" y="107572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5AE9E53-78FF-3AA4-D22A-4BD9F7950E7F}"/>
              </a:ext>
            </a:extLst>
          </p:cNvPr>
          <p:cNvSpPr/>
          <p:nvPr/>
        </p:nvSpPr>
        <p:spPr>
          <a:xfrm>
            <a:off x="606552" y="1828800"/>
            <a:ext cx="4133088" cy="395347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20E4B04-906B-AFC8-17D6-A636C7FD936F}"/>
              </a:ext>
            </a:extLst>
          </p:cNvPr>
          <p:cNvSpPr/>
          <p:nvPr/>
        </p:nvSpPr>
        <p:spPr>
          <a:xfrm>
            <a:off x="606552" y="1828800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232D321-EDFC-9608-1FEF-93315EA6613F}"/>
              </a:ext>
            </a:extLst>
          </p:cNvPr>
          <p:cNvSpPr/>
          <p:nvPr/>
        </p:nvSpPr>
        <p:spPr>
          <a:xfrm>
            <a:off x="73456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this step?</a:t>
            </a:r>
            <a:endParaRPr lang="en-US" sz="10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D757114-F05E-4F02-AEDA-1092DDAC0815}"/>
              </a:ext>
            </a:extLst>
          </p:cNvPr>
          <p:cNvSpPr/>
          <p:nvPr/>
        </p:nvSpPr>
        <p:spPr>
          <a:xfrm>
            <a:off x="734568" y="2401607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Two different issues can describe the same bug with different words. Computing similarity enriches each issue with useful cross-references.</a:t>
            </a:r>
            <a:endParaRPr lang="en-US" sz="95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FE8A12-EE7E-8AF3-700E-B8067937C749}"/>
              </a:ext>
            </a:extLst>
          </p:cNvPr>
          <p:cNvSpPr/>
          <p:nvPr/>
        </p:nvSpPr>
        <p:spPr>
          <a:xfrm>
            <a:off x="734568" y="3087407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000" noProof="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7A06EE6-B1EA-ABA5-186C-4F7D7FC4DCC7}"/>
              </a:ext>
            </a:extLst>
          </p:cNvPr>
          <p:cNvSpPr/>
          <p:nvPr/>
        </p:nvSpPr>
        <p:spPr>
          <a:xfrm>
            <a:off x="734568" y="351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06B55C7-33D6-6591-1081-D1C71A177D8A}"/>
              </a:ext>
            </a:extLst>
          </p:cNvPr>
          <p:cNvSpPr/>
          <p:nvPr/>
        </p:nvSpPr>
        <p:spPr>
          <a:xfrm>
            <a:off x="972312" y="349464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TF-IDF applique sur les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clean_text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des issues</a:t>
            </a:r>
            <a:endParaRPr lang="en-US" sz="950" noProof="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1A4F3AA-A001-1347-97FD-41C33A706110}"/>
              </a:ext>
            </a:extLst>
          </p:cNvPr>
          <p:cNvSpPr/>
          <p:nvPr/>
        </p:nvSpPr>
        <p:spPr>
          <a:xfrm>
            <a:off x="734568" y="38786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7615A7D-19CB-7B76-27CE-B992077A7249}"/>
              </a:ext>
            </a:extLst>
          </p:cNvPr>
          <p:cNvSpPr/>
          <p:nvPr/>
        </p:nvSpPr>
        <p:spPr>
          <a:xfrm>
            <a:off x="972312" y="386040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Score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entre chaque paire d'issues</a:t>
            </a:r>
            <a:endParaRPr lang="en-US" sz="950" noProof="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BA418148-5772-142D-78A2-16427759145E}"/>
              </a:ext>
            </a:extLst>
          </p:cNvPr>
          <p:cNvSpPr/>
          <p:nvPr/>
        </p:nvSpPr>
        <p:spPr>
          <a:xfrm>
            <a:off x="734568" y="42444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9CC9D0E-BB46-6F73-3F57-451EE6B0AFAD}"/>
              </a:ext>
            </a:extLst>
          </p:cNvPr>
          <p:cNvSpPr/>
          <p:nvPr/>
        </p:nvSpPr>
        <p:spPr>
          <a:xfrm>
            <a:off x="972312" y="422616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Ajout du champ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dans chaque issue</a:t>
            </a:r>
            <a:endParaRPr lang="en-US" sz="950" noProof="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D654C76-96B3-9006-1C41-015E2C03FD6C}"/>
              </a:ext>
            </a:extLst>
          </p:cNvPr>
          <p:cNvSpPr/>
          <p:nvPr/>
        </p:nvSpPr>
        <p:spPr>
          <a:xfrm>
            <a:off x="734568" y="4610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B4C07E8-0705-5A60-4DB2-DD0DC0CC48D8}"/>
              </a:ext>
            </a:extLst>
          </p:cNvPr>
          <p:cNvSpPr/>
          <p:nvPr/>
        </p:nvSpPr>
        <p:spPr>
          <a:xfrm>
            <a:off x="972312" y="459192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Seuil de similarité configure (configurable)</a:t>
            </a:r>
            <a:endParaRPr lang="en-US" sz="95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FDFCD41D-2FD9-410A-BE27-40A8A3D67BA8}"/>
              </a:ext>
            </a:extLst>
          </p:cNvPr>
          <p:cNvSpPr/>
          <p:nvPr/>
        </p:nvSpPr>
        <p:spPr>
          <a:xfrm>
            <a:off x="734568" y="50749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Résultat : </a:t>
            </a:r>
            <a:r>
              <a:rPr lang="en-US" sz="10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chaque issue sait quelles autres issues lui ressemblent → </a:t>
            </a:r>
            <a:r>
              <a:rPr lang="en-US" sz="1000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0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0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39994D-526F-02EA-45A6-64E6038B0C68}"/>
              </a:ext>
            </a:extLst>
          </p:cNvPr>
          <p:cNvSpPr txBox="1"/>
          <p:nvPr/>
        </p:nvSpPr>
        <p:spPr>
          <a:xfrm>
            <a:off x="4995672" y="3429000"/>
            <a:ext cx="6271260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 </a:t>
            </a:r>
            <a:endParaRPr lang="en-US" sz="1600" noProof="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47821902-8BAE-C52F-78F0-5794E5DB7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5521" y="3745216"/>
            <a:ext cx="431535" cy="431535"/>
          </a:xfrm>
          <a:prstGeom prst="rect">
            <a:avLst/>
          </a:prstGeom>
        </p:spPr>
      </p:pic>
      <p:sp>
        <p:nvSpPr>
          <p:cNvPr id="42" name="Shape 14">
            <a:extLst>
              <a:ext uri="{FF2B5EF4-FFF2-40B4-BE49-F238E27FC236}">
                <a16:creationId xmlns:a16="http://schemas.microsoft.com/office/drawing/2014/main" id="{610E26E2-BBF9-EE78-65BB-FFD7826ABE77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04FC0CC-8ABC-0C04-C595-0178428E912C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Sans </a:t>
            </a:r>
            <a:r>
              <a:rPr lang="en-US" sz="1200" b="1" noProof="0" dirty="0" err="1">
                <a:solidFill>
                  <a:srgbClr val="C00000"/>
                </a:solidFill>
              </a:rPr>
              <a:t>Similarity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5E431D46-86C8-4517-D197-81481F5C975A}"/>
              </a:ext>
            </a:extLst>
          </p:cNvPr>
          <p:cNvSpPr/>
          <p:nvPr/>
        </p:nvSpPr>
        <p:spPr>
          <a:xfrm>
            <a:off x="6922937" y="2028894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D56FCC8F-8D2A-4B0E-0504-014D2C73C7B4}"/>
              </a:ext>
            </a:extLst>
          </p:cNvPr>
          <p:cNvSpPr/>
          <p:nvPr/>
        </p:nvSpPr>
        <p:spPr>
          <a:xfrm>
            <a:off x="7065396" y="1999177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6506C2F6-0B07-A72D-DA2F-9D3C2FA5D8A0}"/>
              </a:ext>
            </a:extLst>
          </p:cNvPr>
          <p:cNvSpPr/>
          <p:nvPr/>
        </p:nvSpPr>
        <p:spPr>
          <a:xfrm>
            <a:off x="7065396" y="225458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asks: </a:t>
            </a:r>
            <a:endParaRPr lang="en-US" sz="1000" noProof="0" dirty="0">
              <a:solidFill>
                <a:srgbClr val="1B2A3B"/>
              </a:solidFill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930BD4B-DC47-6A74-22B1-6E64B918CB50}"/>
              </a:ext>
            </a:extLst>
          </p:cNvPr>
          <p:cNvSpPr/>
          <p:nvPr/>
        </p:nvSpPr>
        <p:spPr>
          <a:xfrm>
            <a:off x="7065396" y="252267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"USART compile error when UART disabled" </a:t>
            </a:r>
            <a:endParaRPr lang="en-US" sz="1050" noProof="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A715E55-4938-C01A-4E29-6189B4BAD1A0}"/>
              </a:ext>
            </a:extLst>
          </p:cNvPr>
          <p:cNvSpPr/>
          <p:nvPr/>
        </p:nvSpPr>
        <p:spPr>
          <a:xfrm>
            <a:off x="7065396" y="29497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296C8C-F985-E8B2-E421-65EC15B72E64}"/>
              </a:ext>
            </a:extLst>
          </p:cNvPr>
          <p:cNvSpPr txBox="1"/>
          <p:nvPr/>
        </p:nvSpPr>
        <p:spPr>
          <a:xfrm>
            <a:off x="7254504" y="2938393"/>
            <a:ext cx="3239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1B2A3B"/>
                </a:solidFill>
              </a:rPr>
              <a:t>System finds one issue → partial answer, no cross-validation.</a:t>
            </a:r>
          </a:p>
        </p:txBody>
      </p:sp>
      <p:pic>
        <p:nvPicPr>
          <p:cNvPr id="62" name="Graphic 61" descr="Arrow Right with solid fill">
            <a:extLst>
              <a:ext uri="{FF2B5EF4-FFF2-40B4-BE49-F238E27FC236}">
                <a16:creationId xmlns:a16="http://schemas.microsoft.com/office/drawing/2014/main" id="{7B04203A-91C8-C513-4278-F338FA8F1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117344" y="3016587"/>
            <a:ext cx="137160" cy="137160"/>
          </a:xfrm>
          <a:prstGeom prst="rect">
            <a:avLst/>
          </a:prstGeom>
        </p:spPr>
      </p:pic>
      <p:sp>
        <p:nvSpPr>
          <p:cNvPr id="73" name="Shape 14">
            <a:extLst>
              <a:ext uri="{FF2B5EF4-FFF2-40B4-BE49-F238E27FC236}">
                <a16:creationId xmlns:a16="http://schemas.microsoft.com/office/drawing/2014/main" id="{462F4707-C041-C096-3BC3-55A1A70280BA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872DB8A-6DB6-CD3D-C0CF-F5BBA0D163FE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Avec </a:t>
            </a:r>
            <a:r>
              <a:rPr lang="en-US" sz="1200" b="1" noProof="0" dirty="0" err="1">
                <a:solidFill>
                  <a:srgbClr val="0D9589"/>
                </a:solidFill>
              </a:rPr>
              <a:t>Similarity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F14ABEBA-460F-937C-AD6C-491F0A66A5A5}"/>
              </a:ext>
            </a:extLst>
          </p:cNvPr>
          <p:cNvSpPr/>
          <p:nvPr/>
        </p:nvSpPr>
        <p:spPr>
          <a:xfrm>
            <a:off x="6922937" y="4324607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5EAFCBB1-55C6-58B3-475B-3836DDDC6113}"/>
              </a:ext>
            </a:extLst>
          </p:cNvPr>
          <p:cNvSpPr/>
          <p:nvPr/>
        </p:nvSpPr>
        <p:spPr>
          <a:xfrm>
            <a:off x="7065396" y="4294890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22A70114-5265-6BB7-6F11-49993B2A424C}"/>
              </a:ext>
            </a:extLst>
          </p:cNvPr>
          <p:cNvSpPr/>
          <p:nvPr/>
        </p:nvSpPr>
        <p:spPr>
          <a:xfrm>
            <a:off x="7065396" y="4909747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Le système retrouve 3 issues proches:</a:t>
            </a:r>
          </a:p>
          <a:p>
            <a:pPr marL="0" indent="0">
              <a:buNone/>
            </a:pPr>
            <a:endParaRPr lang="en-US" sz="1050" noProof="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même composant (UART/USART)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même type de symptôme (compile-time </a:t>
            </a:r>
            <a:r>
              <a:rPr lang="en-US" sz="1050" noProof="0" dirty="0" err="1">
                <a:solidFill>
                  <a:srgbClr val="1B2A3B"/>
                </a:solidFill>
              </a:rPr>
              <a:t>guard</a:t>
            </a:r>
            <a:r>
              <a:rPr lang="en-US" sz="1050" noProof="0" dirty="0">
                <a:solidFill>
                  <a:srgbClr val="1B2A3B"/>
                </a:solidFill>
              </a:rPr>
              <a:t>/</a:t>
            </a:r>
            <a:r>
              <a:rPr lang="en-US" sz="1050" noProof="0" dirty="0" err="1">
                <a:solidFill>
                  <a:srgbClr val="1B2A3B"/>
                </a:solidFill>
              </a:rPr>
              <a:t>dependency</a:t>
            </a:r>
            <a:r>
              <a:rPr lang="en-US" sz="1050" noProof="0" dirty="0">
                <a:solidFill>
                  <a:srgbClr val="1B2A3B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corrections déjà discutées dans des threads liés</a:t>
            </a: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E56910C1-18A1-D7C9-3BB1-9CC5CCCEA200}"/>
              </a:ext>
            </a:extLst>
          </p:cNvPr>
          <p:cNvSpPr/>
          <p:nvPr/>
        </p:nvSpPr>
        <p:spPr>
          <a:xfrm>
            <a:off x="7065396" y="524545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5C416C-3086-36CC-49A9-AFDCD62A395E}"/>
              </a:ext>
            </a:extLst>
          </p:cNvPr>
          <p:cNvSpPr txBox="1"/>
          <p:nvPr/>
        </p:nvSpPr>
        <p:spPr>
          <a:xfrm>
            <a:off x="2801112" y="6251633"/>
            <a:ext cx="9201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Résultat: </a:t>
            </a:r>
            <a:r>
              <a:rPr lang="en-US" sz="1400" noProof="0" dirty="0">
                <a:solidFill>
                  <a:srgbClr val="1B2A3B"/>
                </a:solidFill>
              </a:rPr>
              <a:t>réponse plus fiable, avec alternatives de fix et validation croisée.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3758073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784E-84E2-7239-74A2-04D03764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4ED1-439C-CAF4-7933-A2CD92B5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E6CB2F-DAA6-895F-3FF1-60B7EC1C5F8D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5D14F67-1717-46B2-60E4-EF08EF1BA47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BAFB0FA-C91C-D94C-93D6-488DA1A9344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441E1E1-05D4-D65C-5BB9-D894B1D0EFDF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A923E35-B385-A1E6-A74C-83395436A9AF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F5C8785-A860-31C4-A640-EBECAEA8A370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FEDB727-7E06-A4EF-1160-0C7F4EEC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4D555E46-31DE-17CB-7281-B597F6BAD413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40A2EE1-CC41-39A4-F457-52EAA52D97E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4F9E6A0-1D7E-6311-87ED-664055370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BD20430-43BF-754C-E1D3-41C14F8415E8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FC04CA2-1D7B-D790-4D78-69384D9E5A28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63FAACE-E8EB-7313-E212-1302137E6C97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3B80BD-4D83-28E6-C1DC-08F9C1A74AE1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437C55-639A-AF7A-AB60-860BD97594BE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2F60DDCE-90FD-B13D-489D-0E9011F1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05DF6DA4-91CD-0AB1-8A39-6DB4EE6EC0D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C73A7CE-2D43-E121-7291-9A9478219EF0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83AC81-06AA-EF1C-85FB-2C3024CBABD9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4030F8FE-CC80-5682-EA8D-4905D1A8B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93446C8-622D-424D-2576-E4B0869BE5D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DE68991-D913-2777-6922-4A55E8B1BCF9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093E349-7758-F665-2BC5-7B1ED6E3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A08616B-B4B4-BB09-E666-0B31E6CD683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96A1E7E-DC81-61C2-8AC3-FFC8BD8490A4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7FEC3C4-AA5D-5ED3-9D2D-242A05A64BF7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DC47BC4-EC15-73EE-6C31-ADBF4D471D41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BB0214B-23B5-39A4-9DA4-01529CFC5D26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62952773-8864-5B44-6508-59F678F16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A6D23440-2BA9-FDC6-2FEA-2CCE14F7B8E4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5193A-148D-9500-B227-96DF9FF8314C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7205F5E-BF53-CA08-A46C-AA1DFC1CB798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252E6628-05D4-3714-8C3D-8C0778E40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A8EB1BF6-D040-238B-9B6C-2A66A66B046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4BFB8A31-641D-E7DB-8D84-86A2EF86868F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55E2B75-7E8C-F8ED-7556-8639E5E4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03DF8B78-9A20-AA17-29CE-110A8CCDCC7C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D4239EB-515B-66F5-894F-C5759A3E9DC6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C4D5302-B621-FCEF-782F-F00904BBE106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E082FD83-4C64-BFD6-5B67-D968F367A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2BEE202-E624-593B-1DE8-224CB7AFD979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FA451A7-44F8-E541-C0DF-4B42D934F12A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1D324EFB-EAC2-EA05-50BD-D781E9E78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D2B4E86-F683-35FC-A9A1-D6F9C4173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AA870CC0-C6DA-36F2-5D92-E8DF9C4DB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017084DF-3B55-6A22-5C18-5EC3C77C8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6787210" y="4305324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E95A1BB7-085C-242F-D00E-F94E512AEE64}"/>
              </a:ext>
            </a:extLst>
          </p:cNvPr>
          <p:cNvSpPr/>
          <p:nvPr/>
        </p:nvSpPr>
        <p:spPr>
          <a:xfrm>
            <a:off x="2479661" y="441627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F8D93246-74FD-8E55-5C52-F90249B66453}"/>
              </a:ext>
            </a:extLst>
          </p:cNvPr>
          <p:cNvSpPr/>
          <p:nvPr/>
        </p:nvSpPr>
        <p:spPr>
          <a:xfrm>
            <a:off x="2479661" y="441627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178E27ED-AD10-EFEC-AB55-2B2CDC737A8A}"/>
              </a:ext>
            </a:extLst>
          </p:cNvPr>
          <p:cNvSpPr/>
          <p:nvPr/>
        </p:nvSpPr>
        <p:spPr>
          <a:xfrm>
            <a:off x="2680829" y="450771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Why chunk?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98B962DF-02AE-0F52-0AE0-D65EE8761DB8}"/>
              </a:ext>
            </a:extLst>
          </p:cNvPr>
          <p:cNvSpPr/>
          <p:nvPr/>
        </p:nvSpPr>
        <p:spPr>
          <a:xfrm>
            <a:off x="2680829" y="480032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L'IA ne peut pas lire 5 000 fichiers d'un coup. On découpe en petits morceaux (</a:t>
            </a:r>
            <a:r>
              <a:rPr lang="en-US" sz="1000" noProof="0" dirty="0" err="1">
                <a:solidFill>
                  <a:srgbClr val="1B2A3B"/>
                </a:solidFill>
              </a:rPr>
              <a:t>chunks</a:t>
            </a:r>
            <a:r>
              <a:rPr lang="en-US" sz="1000" noProof="0" dirty="0">
                <a:solidFill>
                  <a:srgbClr val="1B2A3B"/>
                </a:solidFill>
              </a:rPr>
              <a:t>). Chaque </a:t>
            </a:r>
            <a:r>
              <a:rPr lang="en-US" sz="1000" noProof="0" dirty="0" err="1">
                <a:solidFill>
                  <a:srgbClr val="1B2A3B"/>
                </a:solidFill>
              </a:rPr>
              <a:t>chunk</a:t>
            </a:r>
            <a:r>
              <a:rPr lang="en-US" sz="1000" noProof="0" dirty="0">
                <a:solidFill>
                  <a:srgbClr val="1B2A3B"/>
                </a:solidFill>
              </a:rPr>
              <a:t> = un passage précis. La KB indexe ces </a:t>
            </a:r>
            <a:r>
              <a:rPr lang="en-US" sz="1000" noProof="0" dirty="0" err="1">
                <a:solidFill>
                  <a:srgbClr val="1B2A3B"/>
                </a:solidFill>
              </a:rPr>
              <a:t>chunks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  <a:endParaRPr lang="en-US" sz="1000" noProof="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80860C3B-979D-C45D-7B92-93C673C4C779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D63192A-2C01-0167-1A63-01BBA6D299FA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532E5F3A-F942-1E9F-7417-0A93F4BE9ED4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69B04118-2F35-07A3-2D32-A7E0EF530D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BBF389-9BD9-2F39-14E2-305725F83F20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D8A3ECF8-A6CD-2425-F3A8-BC546E32D9F0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2470181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4E1B-00EB-D13D-E508-AD0B13EF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0A2-3B8F-724F-A2A6-58712861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</a:t>
            </a:r>
            <a:r>
              <a:rPr lang="en-US" sz="1800" b="1" dirty="0"/>
              <a:t> </a:t>
            </a:r>
            <a:r>
              <a:rPr lang="en-US" sz="1800" b="1" noProof="0" dirty="0"/>
              <a:t>: STM32Cube RAG </a:t>
            </a:r>
            <a:r>
              <a:rPr lang="en-US" sz="1800" b="1" noProof="0" dirty="0" err="1"/>
              <a:t>Chunking</a:t>
            </a:r>
            <a:r>
              <a:rPr lang="en-US" sz="1800" b="1" noProof="0" dirty="0"/>
              <a:t> Benchmark  </a:t>
            </a:r>
            <a:endParaRPr lang="en-US" sz="18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E0F2FF0-1366-3A69-2B1D-C65FE2DDC3F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6C68B6-05B0-B9F0-31E4-1A991BE0F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3264078" y="1434859"/>
            <a:ext cx="6846277" cy="458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54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0FCA-B020-A8AE-6162-5A31EE9D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689D-76BB-A217-5E65-F07E7B87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chunking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AB94FE-6E63-6062-0660-D7E1F13C59F7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Le </a:t>
            </a:r>
            <a:r>
              <a:rPr lang="en-US" sz="1200" b="1" noProof="0" dirty="0" err="1">
                <a:solidFill>
                  <a:srgbClr val="425A78"/>
                </a:solidFill>
              </a:rPr>
              <a:t>Chunking</a:t>
            </a:r>
            <a:r>
              <a:rPr lang="en-US" sz="1200" b="1" noProof="0" dirty="0">
                <a:solidFill>
                  <a:srgbClr val="425A78"/>
                </a:solidFill>
              </a:rPr>
              <a:t> PARENT_CHILD — Découper intelligemment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84CB979-B888-1C47-B794-9D08B2CDD306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Why not give the full document to the LLM at once?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81AFD3F-9C9C-11C2-FD53-8C7FD487D39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9EC16EF-42C8-A70D-B9E7-9985E8459A5B}"/>
              </a:ext>
            </a:extLst>
          </p:cNvPr>
          <p:cNvSpPr/>
          <p:nvPr/>
        </p:nvSpPr>
        <p:spPr>
          <a:xfrm>
            <a:off x="1111518" y="1684939"/>
            <a:ext cx="9491334" cy="80467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F5A7FE2-F523-76D9-B535-0D3AFD52D516}"/>
              </a:ext>
            </a:extLst>
          </p:cNvPr>
          <p:cNvSpPr/>
          <p:nvPr/>
        </p:nvSpPr>
        <p:spPr>
          <a:xfrm>
            <a:off x="1111518" y="1684939"/>
            <a:ext cx="68893" cy="80467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2DCA3C3-3466-AFC1-C27B-6A61651F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86" y="1849531"/>
            <a:ext cx="295255" cy="27432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D27E289B-0AB7-50BA-C1FB-C03968058EF6}"/>
              </a:ext>
            </a:extLst>
          </p:cNvPr>
          <p:cNvSpPr/>
          <p:nvPr/>
        </p:nvSpPr>
        <p:spPr>
          <a:xfrm>
            <a:off x="1705878" y="1758091"/>
            <a:ext cx="93943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Analogie du livre : Si vous cherchez une information dans un livre, vous n'envoyez pas tout le livre à quelqu'un. </a:t>
            </a:r>
          </a:p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Vous trouvez d'abord le bon chapitre (CHILD = 1 000 caractères), puis vous lisez le chapitre complet pour comprendre le contexte </a:t>
            </a:r>
          </a:p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(PARENT = 3 000 caractères).</a:t>
            </a:r>
            <a:endParaRPr lang="en-US" sz="1100" noProof="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A4993E-F924-302F-CA14-634819B1AC2D}"/>
              </a:ext>
            </a:extLst>
          </p:cNvPr>
          <p:cNvSpPr/>
          <p:nvPr/>
        </p:nvSpPr>
        <p:spPr>
          <a:xfrm>
            <a:off x="1636159" y="3024640"/>
            <a:ext cx="3474720" cy="263347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71F2B3-A6BD-8D66-5A2F-9B90B498602F}"/>
              </a:ext>
            </a:extLst>
          </p:cNvPr>
          <p:cNvSpPr/>
          <p:nvPr/>
        </p:nvSpPr>
        <p:spPr>
          <a:xfrm>
            <a:off x="1636159" y="3024640"/>
            <a:ext cx="347472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1F76810-25A9-9F31-FB05-94375591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857" y="3116080"/>
            <a:ext cx="214244" cy="214244"/>
          </a:xfrm>
          <a:prstGeom prst="rect">
            <a:avLst/>
          </a:prstGeom>
        </p:spPr>
      </p:pic>
      <p:sp>
        <p:nvSpPr>
          <p:cNvPr id="11" name="Text 10">
            <a:extLst>
              <a:ext uri="{FF2B5EF4-FFF2-40B4-BE49-F238E27FC236}">
                <a16:creationId xmlns:a16="http://schemas.microsoft.com/office/drawing/2014/main" id="{7EF26C2D-D553-546F-919A-0161EC724CCE}"/>
              </a:ext>
            </a:extLst>
          </p:cNvPr>
          <p:cNvSpPr/>
          <p:nvPr/>
        </p:nvSpPr>
        <p:spPr>
          <a:xfrm>
            <a:off x="2148223" y="31160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PARENT CHUNK (~3,000 chars)</a:t>
            </a:r>
            <a:endParaRPr lang="en-US" sz="1100" noProof="0" dirty="0">
              <a:solidFill>
                <a:srgbClr val="0D9488"/>
              </a:solidFill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C14103C-8D6B-1272-00B6-6933FA130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3673864"/>
            <a:ext cx="201168" cy="201168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8EC61778-7810-7352-CAE7-20A2C7FE84E6}"/>
              </a:ext>
            </a:extLst>
          </p:cNvPr>
          <p:cNvSpPr/>
          <p:nvPr/>
        </p:nvSpPr>
        <p:spPr>
          <a:xfrm>
            <a:off x="2093359" y="36312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Contains full document context</a:t>
            </a: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D79C6F14-1BDA-7990-8C63-315D12882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131064"/>
            <a:ext cx="201168" cy="201168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4CE21955-CDD3-4164-5EAB-ED31852C298C}"/>
              </a:ext>
            </a:extLst>
          </p:cNvPr>
          <p:cNvSpPr/>
          <p:nvPr/>
        </p:nvSpPr>
        <p:spPr>
          <a:xfrm>
            <a:off x="2093359" y="40884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Used by LLM to formulate the answer</a:t>
            </a: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6DF70D4-3473-CA90-CF4A-C03D20F0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588264"/>
            <a:ext cx="201168" cy="20116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56129FEE-E76D-1889-5F2C-79FA1C62B454}"/>
              </a:ext>
            </a:extLst>
          </p:cNvPr>
          <p:cNvSpPr/>
          <p:nvPr/>
        </p:nvSpPr>
        <p:spPr>
          <a:xfrm>
            <a:off x="2093359" y="45456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Preserves global meaning of the section</a:t>
            </a:r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035D35AD-6321-7A48-5E2C-355B3ECB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5045464"/>
            <a:ext cx="201168" cy="20116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3460379A-D797-D593-7461-C5AFA5ED8784}"/>
              </a:ext>
            </a:extLst>
          </p:cNvPr>
          <p:cNvSpPr/>
          <p:nvPr/>
        </p:nvSpPr>
        <p:spPr>
          <a:xfrm>
            <a:off x="2093359" y="50028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Sent whole to AI for generation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C870222-1E78-321C-87AB-F93B818A74B2}"/>
              </a:ext>
            </a:extLst>
          </p:cNvPr>
          <p:cNvSpPr/>
          <p:nvPr/>
        </p:nvSpPr>
        <p:spPr>
          <a:xfrm>
            <a:off x="5524675" y="4172809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F59E0B"/>
                </a:solidFill>
              </a:rPr>
              <a:t>subdivided into ▶</a:t>
            </a:r>
            <a:endParaRPr lang="en-US" sz="1000" noProof="0" dirty="0">
              <a:solidFill>
                <a:srgbClr val="F59E0B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F96C280-9172-BA67-3C8A-8BCE4935A656}"/>
              </a:ext>
            </a:extLst>
          </p:cNvPr>
          <p:cNvSpPr/>
          <p:nvPr/>
        </p:nvSpPr>
        <p:spPr>
          <a:xfrm>
            <a:off x="7006339" y="3024640"/>
            <a:ext cx="3338245" cy="2633472"/>
          </a:xfrm>
          <a:prstGeom prst="rect">
            <a:avLst/>
          </a:prstGeom>
          <a:noFill/>
          <a:ln w="28575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D32629B-9345-E633-E9E5-C423B3F8E570}"/>
              </a:ext>
            </a:extLst>
          </p:cNvPr>
          <p:cNvSpPr/>
          <p:nvPr/>
        </p:nvSpPr>
        <p:spPr>
          <a:xfrm>
            <a:off x="7006340" y="3024640"/>
            <a:ext cx="3338246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F32B72B3-1A16-232D-E26F-8ED52990A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432" y="3097792"/>
            <a:ext cx="232532" cy="232532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631A8F47-D047-CFE1-CC0E-4B77F9563AD3}"/>
              </a:ext>
            </a:extLst>
          </p:cNvPr>
          <p:cNvSpPr/>
          <p:nvPr/>
        </p:nvSpPr>
        <p:spPr>
          <a:xfrm>
            <a:off x="7500116" y="31160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CHILD CHUNK (~1,000 chars)</a:t>
            </a:r>
            <a:endParaRPr lang="en-US" sz="1100" noProof="0" dirty="0">
              <a:solidFill>
                <a:srgbClr val="0D9589"/>
              </a:solidFill>
            </a:endParaRP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DD0E3BF1-B458-0495-9A27-82F3ECF5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3713585"/>
            <a:ext cx="201168" cy="201168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A53EC1B3-9429-16D2-D9B6-7D80145AE9EF}"/>
              </a:ext>
            </a:extLst>
          </p:cNvPr>
          <p:cNvSpPr/>
          <p:nvPr/>
        </p:nvSpPr>
        <p:spPr>
          <a:xfrm>
            <a:off x="7500116" y="36738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Precise sub-segment of the parent</a:t>
            </a:r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D58D0FBD-8CB6-8782-9241-DF97FF72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170785"/>
            <a:ext cx="201168" cy="201168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31A79FC8-8EEC-E254-2447-64B3C43ED31B}"/>
              </a:ext>
            </a:extLst>
          </p:cNvPr>
          <p:cNvSpPr/>
          <p:nvPr/>
        </p:nvSpPr>
        <p:spPr>
          <a:xfrm>
            <a:off x="7500116" y="413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Used for SEARCH in the KB</a:t>
            </a:r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1CEE3D51-B252-F3CE-78CD-8ACC8F651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627985"/>
            <a:ext cx="201168" cy="201168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017708C0-CC47-3F1A-D898-BD47FF2EB60B}"/>
              </a:ext>
            </a:extLst>
          </p:cNvPr>
          <p:cNvSpPr/>
          <p:nvPr/>
        </p:nvSpPr>
        <p:spPr>
          <a:xfrm>
            <a:off x="7500116" y="4588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Finds the right passage for the query</a:t>
            </a:r>
          </a:p>
        </p:txBody>
      </p:sp>
      <p:pic>
        <p:nvPicPr>
          <p:cNvPr id="33" name="Image 10" descr="preencoded.png">
            <a:extLst>
              <a:ext uri="{FF2B5EF4-FFF2-40B4-BE49-F238E27FC236}">
                <a16:creationId xmlns:a16="http://schemas.microsoft.com/office/drawing/2014/main" id="{304695C4-648B-5674-44BE-0D7DEC5E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5085185"/>
            <a:ext cx="201168" cy="201168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462F4488-04CC-74B5-2010-C82EBF67EA40}"/>
              </a:ext>
            </a:extLst>
          </p:cNvPr>
          <p:cNvSpPr/>
          <p:nvPr/>
        </p:nvSpPr>
        <p:spPr>
          <a:xfrm>
            <a:off x="7500116" y="50454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Linked to parent to retrieve context</a:t>
            </a:r>
          </a:p>
        </p:txBody>
      </p:sp>
    </p:spTree>
    <p:extLst>
      <p:ext uri="{BB962C8B-B14F-4D97-AF65-F5344CB8AC3E}">
        <p14:creationId xmlns:p14="http://schemas.microsoft.com/office/powerpoint/2010/main" val="2307349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Le pipeline de </a:t>
            </a:r>
            <a:r>
              <a:rPr lang="en-US" sz="1800" b="1" noProof="0" dirty="0" err="1">
                <a:latin typeface="+mn-lt"/>
              </a:rPr>
              <a:t>preprocessing</a:t>
            </a:r>
            <a:endParaRPr lang="en-US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5EA1-F5BE-958D-23C0-08F14ADB29CA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D9C5BD2-5E97-AFDB-146B-D40E4734F02A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2E48A15-587B-C18F-E2C3-AC65142D28B4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D679645-7E07-2D69-0DD5-FEB0729F55EB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03C5750-ED1D-2250-6848-857E3A4B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5DC30F6E-D769-CD7E-803D-519B58FD01BD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44B0820-0672-2568-4C6C-10E624F9A64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93CC2CF-A237-D515-F21B-FB3BA974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850D30B1-9811-96B4-60E3-EDD42BE80F24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D03F411-D71B-6AF3-991E-98F34F05ED47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B6F22A1-15C6-0147-3A0A-B5E45BF622D3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8FDEEA-DE36-3078-491F-9F2CB2F50929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121297-FC83-204B-6BE4-3BCC41B99966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91046D7-CAC2-2060-D5F1-E819ECBA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1B5B2DC-F89E-F9FA-DCB9-AB12AF13F35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78E3C11-B13B-51E7-C46E-F410454FF3F3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FAEBAE8-43DF-F56D-B2F8-0179F05081B4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010DFF61-4F7B-9540-2052-4A2CCA48A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1954F5E4-00BB-AAAF-41C6-0029CDF012E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6F9D098-3F6B-B8F2-0119-991485AE8CA7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BD980639-2B9A-6F7F-7528-B2A7DEC8A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B39ECECC-13FA-BE8B-0713-696A9FD4CCE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321C08C-CF48-EA52-0763-826AFC9A4FBA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7606226-BB49-572F-4B9A-58EB5F8F25A0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D5689E0-4094-164A-387C-4665C7665B09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562E706-809A-A2EB-D7DB-A6349545F717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4873C363-3BC0-B37D-DF27-411EA96E5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69CA800-15EE-C1CB-3277-15570AB1355F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A85AD85-CDB5-D1A7-7BC8-8F255D173F5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2D738CF-0CD3-432F-3065-6A407E33426A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029F2ABD-38B1-2D7D-A90A-8C1371206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33CBA65E-E111-6924-B057-415246D9ED1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3C95EF2-D8F6-7F40-3D22-68528482B3CD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4D12DF-B210-97A5-66B0-B075DFA4F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F01004BB-9E35-100F-E973-13FD9BBF8C50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9B6B957F-6062-41B1-8FE2-6EBEEA4253DE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FD2DA581-5610-FED6-B10E-A6EB14637DD4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65BB49C4-AE8C-2AD4-9192-C02CCD851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9286BC1A-3F85-FC67-7A1B-443B9C47A300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013CDEC-5B66-D914-C2BB-4B80F08B042E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381BFBD2-A13C-13E5-9832-0E3328C4C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ECE150D7-2B7D-4E15-69D1-DD7FAD3FF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8D9E55CE-B201-FE85-5891-7B25E0A3E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724647" flipH="1" flipV="1">
            <a:off x="9456942" y="4312872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5223326" y="4450836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5237648" y="4450837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5424494" y="454227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Delivery objective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5424494" y="495437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La Delivery transforme des données techniques brutes en connaissances directement utilisables dans une KB support.</a:t>
            </a:r>
          </a:p>
          <a:p>
            <a:pPr marL="0" indent="0">
              <a:buNone/>
            </a:pPr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L’objectif :</a:t>
            </a:r>
          </a:p>
          <a:p>
            <a:pPr marL="0" indent="0">
              <a:buNone/>
            </a:pP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Donner des réponses actionnables pour le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Garder une traçabilité complète vers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Fournir un format stable pour l’ingestion côté ST.</a:t>
            </a:r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409D077B-D71B-B5F0-633A-75F47FFDB1AE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EED2109-5844-0133-53CC-697EA2F0B748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8B34F9FF-FA11-E574-4A80-548122336DE8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3198A977-AE5B-7329-EDC0-F8196B863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459205-08D6-4E78-C304-590F210F9EF9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F16CDF2A-8CAF-A429-A0B2-171399C10153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Delivery(</a:t>
            </a:r>
            <a:r>
              <a:rPr lang="en-US" sz="1800" b="1" noProof="0" dirty="0">
                <a:solidFill>
                  <a:srgbClr val="0D9589"/>
                </a:solidFill>
              </a:rPr>
              <a:t>resolver cases, diagnostic cards, exports ST-ready</a:t>
            </a:r>
            <a:r>
              <a:rPr lang="en-US" sz="1800" b="1" noProof="0" dirty="0"/>
              <a:t>)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77180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ST-ready exports = actionable, traceable, platform-ready knowledge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326654" y="1521489"/>
            <a:ext cx="11246690" cy="300902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0B0F0"/>
                </a:solidFill>
              </a:rPr>
              <a:t>Why a Delivery Layer?</a:t>
            </a:r>
          </a:p>
          <a:p>
            <a:endParaRPr lang="en-US" sz="900" dirty="0"/>
          </a:p>
          <a:p>
            <a:r>
              <a:rPr lang="en-US" sz="1200" b="1" noProof="0" dirty="0">
                <a:solidFill>
                  <a:srgbClr val="334155"/>
                </a:solidFill>
              </a:rPr>
              <a:t>We observed a gap between raw available data and actual support usability:</a:t>
            </a:r>
          </a:p>
          <a:p>
            <a:endParaRPr lang="en-US" sz="1000" dirty="0"/>
          </a:p>
          <a:p>
            <a:r>
              <a:rPr lang="en-US" sz="1200" b="0" noProof="0" dirty="0">
                <a:solidFill>
                  <a:srgbClr val="334155"/>
                </a:solidFill>
              </a:rPr>
              <a:t>● Raw issues explain a problem but lack a clear diagnostic path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Users ask symptom-oriented questions, not issue-number queries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Results could be correct at source but weak on actionable steps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Without delivery standards, labels and links become inconsistent</a:t>
            </a:r>
          </a:p>
          <a:p>
            <a:endParaRPr lang="en-US" sz="1100" b="0" noProof="0" dirty="0">
              <a:solidFill>
                <a:srgbClr val="334155"/>
              </a:solidFill>
            </a:endParaRPr>
          </a:p>
          <a:p>
            <a:endParaRPr lang="en-US" sz="900" dirty="0"/>
          </a:p>
          <a:p>
            <a:pPr algn="ctr"/>
            <a:r>
              <a:rPr lang="en-US" sz="1100" b="1" i="1" noProof="0" dirty="0">
                <a:solidFill>
                  <a:srgbClr val="334155"/>
                </a:solidFill>
              </a:rPr>
              <a:t>The content existed, the operational layer was missing.</a:t>
            </a:r>
          </a:p>
          <a:p>
            <a:endParaRPr lang="en-US" sz="900" dirty="0"/>
          </a:p>
          <a:p>
            <a:r>
              <a:rPr lang="en-US" sz="1400" b="1" noProof="0" dirty="0">
                <a:solidFill>
                  <a:srgbClr val="00B0F0"/>
                </a:solidFill>
              </a:rPr>
              <a:t>The solution:</a:t>
            </a:r>
          </a:p>
          <a:p>
            <a:endParaRPr lang="en-US" sz="1400" b="1" noProof="0" dirty="0">
              <a:solidFill>
                <a:srgbClr val="00B0F0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Build a structured export layer that transforms raw pipeline output into KB-ready, support-oriented knowledge artifacts.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1027A4E-7493-00B9-AB5C-8F2836DF99C6}"/>
              </a:ext>
            </a:extLst>
          </p:cNvPr>
          <p:cNvSpPr/>
          <p:nvPr/>
        </p:nvSpPr>
        <p:spPr>
          <a:xfrm>
            <a:off x="242477" y="11821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21A870B0-7C66-977B-0DF6-2C8B59FA32B9}"/>
              </a:ext>
            </a:extLst>
          </p:cNvPr>
          <p:cNvSpPr/>
          <p:nvPr/>
        </p:nvSpPr>
        <p:spPr>
          <a:xfrm>
            <a:off x="326654" y="1520935"/>
            <a:ext cx="4388600" cy="45719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Picture 32">
            <a:extLst>
              <a:ext uri="{FF2B5EF4-FFF2-40B4-BE49-F238E27FC236}">
                <a16:creationId xmlns:a16="http://schemas.microsoft.com/office/drawing/2014/main" id="{C124EF34-A73E-F222-1957-85966A21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4330523" y="4830196"/>
            <a:ext cx="3238952" cy="14872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8897E-A805-11DA-216A-08FE2B68C2B6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B414D7ED-EB55-F3FE-737B-8D51D44B3733}"/>
              </a:ext>
            </a:extLst>
          </p:cNvPr>
          <p:cNvSpPr/>
          <p:nvPr/>
        </p:nvSpPr>
        <p:spPr>
          <a:xfrm>
            <a:off x="291501" y="1990208"/>
            <a:ext cx="4541754" cy="198859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70149A63-D19B-7A06-986E-73F3B6885C75}"/>
              </a:ext>
            </a:extLst>
          </p:cNvPr>
          <p:cNvSpPr/>
          <p:nvPr/>
        </p:nvSpPr>
        <p:spPr>
          <a:xfrm>
            <a:off x="282682" y="2003937"/>
            <a:ext cx="4550574" cy="502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6315219E-18E1-AF74-BFAD-4CDF7C7B852B}"/>
              </a:ext>
            </a:extLst>
          </p:cNvPr>
          <p:cNvSpPr/>
          <p:nvPr/>
        </p:nvSpPr>
        <p:spPr>
          <a:xfrm>
            <a:off x="291501" y="1498690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 err="1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 Cases : ce qu’on a construit et comment  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CC9CB38D-77F9-AC79-77BE-2D4A47CB89A1}"/>
              </a:ext>
            </a:extLst>
          </p:cNvPr>
          <p:cNvSpPr/>
          <p:nvPr/>
        </p:nvSpPr>
        <p:spPr>
          <a:xfrm>
            <a:off x="390663" y="2134339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Un </a:t>
            </a:r>
            <a:r>
              <a:rPr lang="fr-FR" sz="10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Case répond à : </a:t>
            </a:r>
            <a:endParaRPr lang="fr-FR" sz="1000" noProof="0" dirty="0"/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0DA45FB1-0BED-57B6-A7E7-8B3ACD5A61ED}"/>
              </a:ext>
            </a:extLst>
          </p:cNvPr>
          <p:cNvSpPr/>
          <p:nvPr/>
        </p:nvSpPr>
        <p:spPr>
          <a:xfrm>
            <a:off x="390661" y="2426947"/>
            <a:ext cx="4260586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fr-FR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E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xiste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-t-il une piste de fix crédible et vérifiable ?</a:t>
            </a:r>
            <a:endParaRPr lang="fr-FR" sz="950" noProof="0" dirty="0"/>
          </a:p>
        </p:txBody>
      </p:sp>
      <p:sp>
        <p:nvSpPr>
          <p:cNvPr id="10" name="Text 41">
            <a:extLst>
              <a:ext uri="{FF2B5EF4-FFF2-40B4-BE49-F238E27FC236}">
                <a16:creationId xmlns:a16="http://schemas.microsoft.com/office/drawing/2014/main" id="{C662A17B-09A5-65B0-C238-3ECB3B5CEB7E}"/>
              </a:ext>
            </a:extLst>
          </p:cNvPr>
          <p:cNvSpPr/>
          <p:nvPr/>
        </p:nvSpPr>
        <p:spPr>
          <a:xfrm>
            <a:off x="334491" y="3012936"/>
            <a:ext cx="4820218" cy="88573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part d’une issue.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relie cette issue aux PR,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et fichiers modifiés quand ils existent.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calcule un niveau de confiance et un statut de résolution.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génère une synthèse orientée décision technique.</a:t>
            </a:r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1E2E4E41-43F5-5127-E7B6-6B44F684D495}"/>
              </a:ext>
            </a:extLst>
          </p:cNvPr>
          <p:cNvSpPr/>
          <p:nvPr/>
        </p:nvSpPr>
        <p:spPr>
          <a:xfrm>
            <a:off x="390660" y="2718048"/>
            <a:ext cx="286896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Construction :</a:t>
            </a:r>
            <a:endParaRPr lang="fr-FR" sz="1000" noProof="0" dirty="0">
              <a:solidFill>
                <a:srgbClr val="0D9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2246-6A9E-5175-AC9C-26AFF763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0D73-1603-740F-0E1B-55D344D0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8BE761-85DD-257E-D629-06F01A1C74C4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E2DA478-213C-2842-2E75-8E8ADB543952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A271262-7A54-2F64-0F42-615C6C8518AA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763236B8-E1A2-E9B4-CC64-80E9EB904B61}"/>
              </a:ext>
            </a:extLst>
          </p:cNvPr>
          <p:cNvSpPr/>
          <p:nvPr/>
        </p:nvSpPr>
        <p:spPr>
          <a:xfrm>
            <a:off x="291500" y="1991757"/>
            <a:ext cx="5678225" cy="198859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FBDAD5FE-0CBC-2D89-1CB3-E8DAA93B6926}"/>
              </a:ext>
            </a:extLst>
          </p:cNvPr>
          <p:cNvSpPr/>
          <p:nvPr/>
        </p:nvSpPr>
        <p:spPr>
          <a:xfrm>
            <a:off x="291501" y="1991757"/>
            <a:ext cx="5678223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9E0C8A64-DEBD-8435-FBED-0BBD2D23D157}"/>
              </a:ext>
            </a:extLst>
          </p:cNvPr>
          <p:cNvSpPr/>
          <p:nvPr/>
        </p:nvSpPr>
        <p:spPr>
          <a:xfrm>
            <a:off x="291501" y="1498690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200" b="1" noProof="0" dirty="0" err="1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Cards</a:t>
            </a:r>
            <a:r>
              <a:rPr lang="fr-FR" sz="12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 : ce qu’on a construit et comment   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39B71BDE-CEB8-FB4D-5149-682202CDDE75}"/>
              </a:ext>
            </a:extLst>
          </p:cNvPr>
          <p:cNvSpPr/>
          <p:nvPr/>
        </p:nvSpPr>
        <p:spPr>
          <a:xfrm>
            <a:off x="390663" y="2135888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Une Diagnostic </a:t>
            </a:r>
            <a:r>
              <a:rPr lang="fr-FR" sz="10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Card</a:t>
            </a: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répond à : </a:t>
            </a:r>
            <a:endParaRPr lang="fr-FR" sz="1000" noProof="0" dirty="0"/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883CDCC7-46E1-665E-ABB6-0FDB1B18CE6E}"/>
              </a:ext>
            </a:extLst>
          </p:cNvPr>
          <p:cNvSpPr/>
          <p:nvPr/>
        </p:nvSpPr>
        <p:spPr>
          <a:xfrm>
            <a:off x="390661" y="2428496"/>
            <a:ext cx="4260586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fr-FR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Quoi vérifier maintenant pour isoler rapidement la cause probable ?</a:t>
            </a:r>
            <a:endParaRPr lang="fr-FR" sz="950" noProof="0" dirty="0"/>
          </a:p>
        </p:txBody>
      </p:sp>
      <p:sp>
        <p:nvSpPr>
          <p:cNvPr id="10" name="Text 41">
            <a:extLst>
              <a:ext uri="{FF2B5EF4-FFF2-40B4-BE49-F238E27FC236}">
                <a16:creationId xmlns:a16="http://schemas.microsoft.com/office/drawing/2014/main" id="{969A6DD3-AB56-DACD-AD64-848D5CF9170B}"/>
              </a:ext>
            </a:extLst>
          </p:cNvPr>
          <p:cNvSpPr/>
          <p:nvPr/>
        </p:nvSpPr>
        <p:spPr>
          <a:xfrm>
            <a:off x="334490" y="3014485"/>
            <a:ext cx="5635233" cy="88573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fusionne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deux sources par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issue_number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issues ST-ready + resolver cases ST-ready.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relie cette issue aux PR,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et fichiers modifiés quand ils existent.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calcule un niveau de confiance et un statut de résolution.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On génère une synthèse orientée décision technique.</a:t>
            </a:r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4A973CF2-8250-FEEE-8EF6-A0646ADDC1BE}"/>
              </a:ext>
            </a:extLst>
          </p:cNvPr>
          <p:cNvSpPr/>
          <p:nvPr/>
        </p:nvSpPr>
        <p:spPr>
          <a:xfrm>
            <a:off x="390660" y="2719597"/>
            <a:ext cx="286896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Construction :</a:t>
            </a:r>
            <a:endParaRPr lang="fr-FR" sz="1000" noProof="0" dirty="0">
              <a:solidFill>
                <a:srgbClr val="0D9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65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5D4270-FBC4-556D-BCA0-B39FFFAC789B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24C28AF3-A8FC-E721-E131-F1C427C46064}"/>
              </a:ext>
            </a:extLst>
          </p:cNvPr>
          <p:cNvSpPr/>
          <p:nvPr/>
        </p:nvSpPr>
        <p:spPr>
          <a:xfrm>
            <a:off x="704567" y="1882752"/>
            <a:ext cx="425196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0D6C41A0-6CCE-04FC-D29B-7A27335B8F3A}"/>
              </a:ext>
            </a:extLst>
          </p:cNvPr>
          <p:cNvSpPr/>
          <p:nvPr/>
        </p:nvSpPr>
        <p:spPr>
          <a:xfrm>
            <a:off x="777719" y="19193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 = (docs_..._v2) — source de vérité riche en 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metadata</a:t>
            </a:r>
            <a:endParaRPr lang="fr-FR" sz="900" noProof="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27278D46-CC65-4940-0EC6-5240F966FE61}"/>
              </a:ext>
            </a:extLst>
          </p:cNvPr>
          <p:cNvSpPr/>
          <p:nvPr/>
        </p:nvSpPr>
        <p:spPr>
          <a:xfrm>
            <a:off x="704567" y="2570118"/>
            <a:ext cx="4251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B0F9F03-BF0F-FF00-D149-5CEBE5649433}"/>
              </a:ext>
            </a:extLst>
          </p:cNvPr>
          <p:cNvSpPr/>
          <p:nvPr/>
        </p:nvSpPr>
        <p:spPr>
          <a:xfrm>
            <a:off x="777719" y="2606694"/>
            <a:ext cx="4178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 = Format ST-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ready</a:t>
            </a: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(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st_ready</a:t>
            </a: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_... ) — adapté au moteur RAG ST</a:t>
            </a:r>
            <a:endParaRPr lang="fr-FR" sz="900" noProof="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D315BA5-E32E-436C-11C5-F43D97B1F1BC}"/>
              </a:ext>
            </a:extLst>
          </p:cNvPr>
          <p:cNvSpPr/>
          <p:nvPr/>
        </p:nvSpPr>
        <p:spPr>
          <a:xfrm>
            <a:off x="704566" y="3440279"/>
            <a:ext cx="5036559" cy="2552633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7C58861-5090-9AA1-BE5C-0C45E798068A}"/>
              </a:ext>
            </a:extLst>
          </p:cNvPr>
          <p:cNvSpPr/>
          <p:nvPr/>
        </p:nvSpPr>
        <p:spPr>
          <a:xfrm>
            <a:off x="704567" y="3440280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8D33FDD-557D-2EE0-A247-DE417BE9F41A}"/>
              </a:ext>
            </a:extLst>
          </p:cNvPr>
          <p:cNvSpPr/>
          <p:nvPr/>
        </p:nvSpPr>
        <p:spPr>
          <a:xfrm>
            <a:off x="933167" y="3455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 </a:t>
            </a:r>
            <a:r>
              <a:rPr lang="fr-FR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fr-FR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champs exposés au moteur RAG</a:t>
            </a:r>
            <a:endParaRPr lang="fr-FR" sz="1100" noProof="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8EBD78-EE0D-F039-30EB-2A35E86F318E}"/>
              </a:ext>
            </a:extLst>
          </p:cNvPr>
          <p:cNvSpPr/>
          <p:nvPr/>
        </p:nvSpPr>
        <p:spPr>
          <a:xfrm>
            <a:off x="933167" y="38974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C250B83-CB9A-5993-5C85-A829CF71AAEC}"/>
              </a:ext>
            </a:extLst>
          </p:cNvPr>
          <p:cNvSpPr/>
          <p:nvPr/>
        </p:nvSpPr>
        <p:spPr>
          <a:xfrm>
            <a:off x="978887" y="38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fr-FR" sz="900" noProof="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FE35AAD-BCD7-9A52-F1EB-D47C01B86A26}"/>
              </a:ext>
            </a:extLst>
          </p:cNvPr>
          <p:cNvSpPr/>
          <p:nvPr/>
        </p:nvSpPr>
        <p:spPr>
          <a:xfrm>
            <a:off x="3082007" y="38974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2C4D455-9979-7B15-7B83-4574FCDCED00}"/>
              </a:ext>
            </a:extLst>
          </p:cNvPr>
          <p:cNvSpPr/>
          <p:nvPr/>
        </p:nvSpPr>
        <p:spPr>
          <a:xfrm>
            <a:off x="3127727" y="38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fr-FR" sz="900" noProof="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C639846-3F32-B5FD-5A5D-40DA9B19DDF2}"/>
              </a:ext>
            </a:extLst>
          </p:cNvPr>
          <p:cNvSpPr/>
          <p:nvPr/>
        </p:nvSpPr>
        <p:spPr>
          <a:xfrm>
            <a:off x="933167" y="48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48D806A-D466-8554-357E-764060721E00}"/>
              </a:ext>
            </a:extLst>
          </p:cNvPr>
          <p:cNvSpPr/>
          <p:nvPr/>
        </p:nvSpPr>
        <p:spPr>
          <a:xfrm>
            <a:off x="978887" y="48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fr-FR" sz="900" noProof="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CDDD07C-B27C-3265-6F7F-C2A9BB4D151A}"/>
              </a:ext>
            </a:extLst>
          </p:cNvPr>
          <p:cNvSpPr/>
          <p:nvPr/>
        </p:nvSpPr>
        <p:spPr>
          <a:xfrm>
            <a:off x="3082007" y="48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EBAC4C0-FD34-3D7B-1E70-248F6F610838}"/>
              </a:ext>
            </a:extLst>
          </p:cNvPr>
          <p:cNvSpPr/>
          <p:nvPr/>
        </p:nvSpPr>
        <p:spPr>
          <a:xfrm>
            <a:off x="3127727" y="48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fr-FR" sz="900" noProof="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4033E5-AB41-F507-EB6C-C17B2266C9E7}"/>
              </a:ext>
            </a:extLst>
          </p:cNvPr>
          <p:cNvSpPr/>
          <p:nvPr/>
        </p:nvSpPr>
        <p:spPr>
          <a:xfrm>
            <a:off x="933167" y="43546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83A9D0E-CD31-2743-10F1-2626C88CF0FF}"/>
              </a:ext>
            </a:extLst>
          </p:cNvPr>
          <p:cNvSpPr/>
          <p:nvPr/>
        </p:nvSpPr>
        <p:spPr>
          <a:xfrm>
            <a:off x="978887" y="43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fr-FR" sz="900" noProof="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7AD383F-19F4-7AF9-FC24-E69AFF3BB9AC}"/>
              </a:ext>
            </a:extLst>
          </p:cNvPr>
          <p:cNvSpPr/>
          <p:nvPr/>
        </p:nvSpPr>
        <p:spPr>
          <a:xfrm>
            <a:off x="3082007" y="43546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D98847-10C3-A463-6131-45A8689A9E2B}"/>
              </a:ext>
            </a:extLst>
          </p:cNvPr>
          <p:cNvSpPr/>
          <p:nvPr/>
        </p:nvSpPr>
        <p:spPr>
          <a:xfrm>
            <a:off x="3127727" y="43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fr-FR" sz="900" noProof="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86B3D92-96F8-C0EC-C717-BF3D7FA00FFF}"/>
              </a:ext>
            </a:extLst>
          </p:cNvPr>
          <p:cNvSpPr/>
          <p:nvPr/>
        </p:nvSpPr>
        <p:spPr>
          <a:xfrm>
            <a:off x="933167" y="52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6FA5F6-B797-9583-4CE4-3D504D406352}"/>
              </a:ext>
            </a:extLst>
          </p:cNvPr>
          <p:cNvSpPr/>
          <p:nvPr/>
        </p:nvSpPr>
        <p:spPr>
          <a:xfrm>
            <a:off x="978887" y="52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details</a:t>
            </a:r>
            <a:endParaRPr lang="fr-FR" sz="900" noProof="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20D3776-1751-AC36-3EAC-8FC1CCA8F065}"/>
              </a:ext>
            </a:extLst>
          </p:cNvPr>
          <p:cNvSpPr/>
          <p:nvPr/>
        </p:nvSpPr>
        <p:spPr>
          <a:xfrm>
            <a:off x="3082007" y="52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5AC58C8-3BF7-A0A4-E52D-334E3DFD5B45}"/>
              </a:ext>
            </a:extLst>
          </p:cNvPr>
          <p:cNvSpPr/>
          <p:nvPr/>
        </p:nvSpPr>
        <p:spPr>
          <a:xfrm>
            <a:off x="3127727" y="52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Key </a:t>
            </a: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comments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4431-15DA-724A-0889-CCA7FC24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509B-0CB0-285B-EEE4-1534E46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les agents 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C14F81-6B78-B90F-AD40-12C17DA93D33}"/>
              </a:ext>
            </a:extLst>
          </p:cNvPr>
          <p:cNvSpPr txBox="1"/>
          <p:nvPr/>
        </p:nvSpPr>
        <p:spPr>
          <a:xfrm>
            <a:off x="340364" y="396684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C'est quoi un Agent IA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50586D5-38DE-9065-4CCF-0C1BAF40F155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Un assistant spécialisé dans une tâche précise , comme un collègue expert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5E7EF17-CE98-6308-C3C7-1A5F47CA8201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4EBC24E-EFAD-34D1-83F6-16AECB57B429}"/>
              </a:ext>
            </a:extLst>
          </p:cNvPr>
          <p:cNvSpPr/>
          <p:nvPr/>
        </p:nvSpPr>
        <p:spPr>
          <a:xfrm>
            <a:off x="1191978" y="1285047"/>
            <a:ext cx="9506502" cy="658368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17891FA-6464-4058-A752-42610BB6876D}"/>
              </a:ext>
            </a:extLst>
          </p:cNvPr>
          <p:cNvSpPr/>
          <p:nvPr/>
        </p:nvSpPr>
        <p:spPr>
          <a:xfrm>
            <a:off x="1191978" y="1285047"/>
            <a:ext cx="64008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DC9C4EE-E1D5-4748-FB37-DB66707BC84A}"/>
              </a:ext>
            </a:extLst>
          </p:cNvPr>
          <p:cNvSpPr/>
          <p:nvPr/>
        </p:nvSpPr>
        <p:spPr>
          <a:xfrm>
            <a:off x="1384002" y="1307907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Un agent IA = un LLM auquel on donne une mission précise avec un contexte défini. Il analyse, documente ou compare automatiquement. Dans ce projet, 2 agents sont utilisés pour accélérer le </a:t>
            </a:r>
            <a:r>
              <a:rPr lang="fr-FR" sz="1100" noProof="0" dirty="0" err="1">
                <a:solidFill>
                  <a:srgbClr val="1B2A3B"/>
                </a:solidFill>
              </a:rPr>
              <a:t>preprocessing</a:t>
            </a:r>
            <a:r>
              <a:rPr lang="fr-FR" sz="1100" noProof="0" dirty="0">
                <a:solidFill>
                  <a:srgbClr val="1B2A3B"/>
                </a:solidFill>
              </a:rPr>
              <a:t>.</a:t>
            </a:r>
            <a:endParaRPr lang="fr-FR" sz="1100" noProof="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28D088B3-25A8-7B5A-0014-5641C39DFFB9}"/>
              </a:ext>
            </a:extLst>
          </p:cNvPr>
          <p:cNvSpPr/>
          <p:nvPr/>
        </p:nvSpPr>
        <p:spPr>
          <a:xfrm>
            <a:off x="1329138" y="2083143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2E9DE2DF-C840-F179-3EAB-C280CBEAFA60}"/>
              </a:ext>
            </a:extLst>
          </p:cNvPr>
          <p:cNvSpPr/>
          <p:nvPr/>
        </p:nvSpPr>
        <p:spPr>
          <a:xfrm>
            <a:off x="1329138" y="2083143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B7497C40-9B12-2FB1-BD5F-1D50DA7DE392}"/>
              </a:ext>
            </a:extLst>
          </p:cNvPr>
          <p:cNvSpPr/>
          <p:nvPr/>
        </p:nvSpPr>
        <p:spPr>
          <a:xfrm>
            <a:off x="1384002" y="208314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FF24F4E-A5E9-1909-1B9F-D36244C08AF7}"/>
              </a:ext>
            </a:extLst>
          </p:cNvPr>
          <p:cNvSpPr/>
          <p:nvPr/>
        </p:nvSpPr>
        <p:spPr>
          <a:xfrm>
            <a:off x="1466298" y="208314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1C6C8797-3518-6692-3589-1775C6152DBA}"/>
              </a:ext>
            </a:extLst>
          </p:cNvPr>
          <p:cNvSpPr/>
          <p:nvPr/>
        </p:nvSpPr>
        <p:spPr>
          <a:xfrm>
            <a:off x="1466298" y="258606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1A63103C-F729-196C-C06A-4ACFB4ACA44A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F5B768E5-D180-423E-9661-0B6B8A08525D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D03063E9-0B82-6D0F-15DE-AB735544BE9D}"/>
              </a:ext>
            </a:extLst>
          </p:cNvPr>
          <p:cNvSpPr/>
          <p:nvPr/>
        </p:nvSpPr>
        <p:spPr>
          <a:xfrm>
            <a:off x="2563578" y="29975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dédié à l'analyse et documentation du pipeline</a:t>
            </a:r>
            <a:endParaRPr lang="en-US" sz="9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2397B79D-EFB2-EBF0-C846-5CEC7A9629F7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D0A8C4-4AA0-9979-4312-855A782C5781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10DF01E2-261A-8A25-D892-E393CBD8809B}"/>
              </a:ext>
            </a:extLst>
          </p:cNvPr>
          <p:cNvSpPr/>
          <p:nvPr/>
        </p:nvSpPr>
        <p:spPr>
          <a:xfrm>
            <a:off x="2563578" y="356447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Le flux de données et sorties JSON</a:t>
            </a:r>
            <a:endParaRPr lang="en-US" sz="95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E394642C-5570-0634-0E54-D7DE3DD7B364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B6603AAE-CCD4-9195-E9D9-85B962F73B00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Documenter</a:t>
            </a:r>
            <a:endParaRPr lang="en-US" sz="95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3D4AF1A7-FC2B-E050-F36E-A5D34AF419EB}"/>
              </a:ext>
            </a:extLst>
          </p:cNvPr>
          <p:cNvSpPr/>
          <p:nvPr/>
        </p:nvSpPr>
        <p:spPr>
          <a:xfrm>
            <a:off x="2563578" y="413139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Les schémas de données, résultats de tests</a:t>
            </a:r>
            <a:endParaRPr lang="en-US" sz="95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38832F4E-2B4A-3C2C-F280-D0503FFD1DFA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5BF66B8A-1482-C786-4F77-18EC744F76AD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Comparer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3DBF29EB-067B-B406-F8E8-76745313677B}"/>
              </a:ext>
            </a:extLst>
          </p:cNvPr>
          <p:cNvSpPr/>
          <p:nvPr/>
        </p:nvSpPr>
        <p:spPr>
          <a:xfrm>
            <a:off x="2563578" y="469832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Stratégies de structuration / chunking</a:t>
            </a:r>
            <a:endParaRPr lang="en-US" sz="95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E1BFF1F6-0D84-B75B-8154-537097490A21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640358C8-7E3D-7D19-FEE5-E092F8F17C2D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306F6F5B-45B2-E73F-19B1-4A63F83A5C80}"/>
              </a:ext>
            </a:extLst>
          </p:cNvPr>
          <p:cNvSpPr/>
          <p:nvPr/>
        </p:nvSpPr>
        <p:spPr>
          <a:xfrm>
            <a:off x="2563578" y="526525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Accélération documentaire + lisibilité pipeline</a:t>
            </a:r>
            <a:endParaRPr lang="en-US" sz="95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3965D45F-F71C-7334-0E2A-86AFF00913D7}"/>
              </a:ext>
            </a:extLst>
          </p:cNvPr>
          <p:cNvSpPr/>
          <p:nvPr/>
        </p:nvSpPr>
        <p:spPr>
          <a:xfrm>
            <a:off x="6304893" y="2091003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9333A273-A1D7-5D55-870F-0D1397EF6BF3}"/>
              </a:ext>
            </a:extLst>
          </p:cNvPr>
          <p:cNvSpPr/>
          <p:nvPr/>
        </p:nvSpPr>
        <p:spPr>
          <a:xfrm>
            <a:off x="6304893" y="2091003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E473E28D-06EF-2A48-C0BE-142F0D9C332A}"/>
              </a:ext>
            </a:extLst>
          </p:cNvPr>
          <p:cNvSpPr/>
          <p:nvPr/>
        </p:nvSpPr>
        <p:spPr>
          <a:xfrm>
            <a:off x="6359757" y="209100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0F3BD7D0-51CE-99CE-132D-7EF0B3A7E83F}"/>
              </a:ext>
            </a:extLst>
          </p:cNvPr>
          <p:cNvSpPr/>
          <p:nvPr/>
        </p:nvSpPr>
        <p:spPr>
          <a:xfrm>
            <a:off x="6414621" y="209100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D7E2B645-09F7-5767-91C8-A8DF2D079F88}"/>
              </a:ext>
            </a:extLst>
          </p:cNvPr>
          <p:cNvSpPr/>
          <p:nvPr/>
        </p:nvSpPr>
        <p:spPr>
          <a:xfrm>
            <a:off x="6414621" y="259392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824BE44-5868-192C-4670-8B9CD3F39120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BDFC5A69-36ED-5D9E-34BC-75DEF97617F1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6C77B0F1-7172-FE1B-64B7-B58D462C02AE}"/>
              </a:ext>
            </a:extLst>
          </p:cNvPr>
          <p:cNvSpPr/>
          <p:nvPr/>
        </p:nvSpPr>
        <p:spPr>
          <a:xfrm>
            <a:off x="7511901" y="300540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Analyse figures &amp; schémas extraits des PDFs techniques</a:t>
            </a:r>
            <a:endParaRPr lang="en-US" sz="9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C90C8AC2-8AEC-94B1-142C-8B0856A75DC3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F7F3CA55-1EB1-5F7D-4A51-BFF887ECBB96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Lire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789B5B31-15B8-3999-C045-E7B41433FFDA}"/>
              </a:ext>
            </a:extLst>
          </p:cNvPr>
          <p:cNvSpPr/>
          <p:nvPr/>
        </p:nvSpPr>
        <p:spPr>
          <a:xfrm>
            <a:off x="7511901" y="357233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4F603DEF-B55F-58EF-B632-FF9A8AF8194C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11886378-70C4-18A2-C4AB-0FBA876B4D47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080824E2-4952-BA90-7A50-E395420FABD5}"/>
              </a:ext>
            </a:extLst>
          </p:cNvPr>
          <p:cNvSpPr/>
          <p:nvPr/>
        </p:nvSpPr>
        <p:spPr>
          <a:xfrm>
            <a:off x="7511901" y="413925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diagrammes des PDFs</a:t>
            </a:r>
            <a:endParaRPr lang="en-US" sz="950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42141801-4BA9-21C7-DC48-02D256EDA16F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A2586C85-4353-6095-4ADD-2F906264F4C3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Décrire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DB7BADFB-E343-98A6-F788-D60E2FF2E3C5}"/>
              </a:ext>
            </a:extLst>
          </p:cNvPr>
          <p:cNvSpPr/>
          <p:nvPr/>
        </p:nvSpPr>
        <p:spPr>
          <a:xfrm>
            <a:off x="7511901" y="470618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Descriptions textuelles techniques injectables</a:t>
            </a:r>
            <a:endParaRPr lang="en-US" sz="95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D5D8F720-CA5A-624E-3CB6-F19341F9C99D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F2386DFF-BABB-6FE8-0663-BA528B8E525C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5E688806-971C-92F3-8F71-E9F80BD4DD63}"/>
              </a:ext>
            </a:extLst>
          </p:cNvPr>
          <p:cNvSpPr/>
          <p:nvPr/>
        </p:nvSpPr>
        <p:spPr>
          <a:xfrm>
            <a:off x="7511901" y="527311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Ne pas perdre l'info dans les schémas PDF</a:t>
            </a:r>
            <a:endParaRPr lang="en-US" sz="95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C5D41BB5-1C0C-98A9-EFF3-5174FF26075C}"/>
              </a:ext>
            </a:extLst>
          </p:cNvPr>
          <p:cNvSpPr/>
          <p:nvPr/>
        </p:nvSpPr>
        <p:spPr>
          <a:xfrm>
            <a:off x="1589531" y="6216231"/>
            <a:ext cx="8595361" cy="43891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60E2E31B-588F-AC53-57A9-83EFF4E80D3F}"/>
              </a:ext>
            </a:extLst>
          </p:cNvPr>
          <p:cNvSpPr/>
          <p:nvPr/>
        </p:nvSpPr>
        <p:spPr>
          <a:xfrm>
            <a:off x="1726692" y="6261951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PDF multimodal :</a:t>
            </a:r>
            <a:endParaRPr lang="en-US" sz="95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2A8F747C-3303-3EAF-21DF-6D559C1B6717}"/>
              </a:ext>
            </a:extLst>
          </p:cNvPr>
          <p:cNvSpPr/>
          <p:nvPr/>
        </p:nvSpPr>
        <p:spPr>
          <a:xfrm>
            <a:off x="3199018" y="6261951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texte →</a:t>
            </a:r>
            <a:endParaRPr lang="en-US" sz="85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D6A55359-D41B-2B4E-8AFA-488384C91ADA}"/>
              </a:ext>
            </a:extLst>
          </p:cNvPr>
          <p:cNvSpPr/>
          <p:nvPr/>
        </p:nvSpPr>
        <p:spPr>
          <a:xfrm>
            <a:off x="4186003" y="6261951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pages images →</a:t>
            </a:r>
            <a:endParaRPr lang="en-US" sz="85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0CED525E-4CFB-3088-3808-0F1FCC0F75FA}"/>
              </a:ext>
            </a:extLst>
          </p:cNvPr>
          <p:cNvSpPr/>
          <p:nvPr/>
        </p:nvSpPr>
        <p:spPr>
          <a:xfrm>
            <a:off x="5320285" y="6261951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figures →</a:t>
            </a:r>
            <a:endParaRPr lang="en-US" sz="85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C4F47EC0-BA50-B369-8523-AC10FAAA620D}"/>
              </a:ext>
            </a:extLst>
          </p:cNvPr>
          <p:cNvSpPr/>
          <p:nvPr/>
        </p:nvSpPr>
        <p:spPr>
          <a:xfrm>
            <a:off x="6454140" y="6261951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EDE25407-6BEF-2B5C-EE9C-9A825EEFA373}"/>
              </a:ext>
            </a:extLst>
          </p:cNvPr>
          <p:cNvSpPr/>
          <p:nvPr/>
        </p:nvSpPr>
        <p:spPr>
          <a:xfrm>
            <a:off x="7277100" y="626251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Tâches JSONL →</a:t>
            </a:r>
            <a:endParaRPr lang="en-US" sz="85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B7BA4920-07DE-38D5-F77E-5A00101B50FA}"/>
              </a:ext>
            </a:extLst>
          </p:cNvPr>
          <p:cNvSpPr/>
          <p:nvPr/>
        </p:nvSpPr>
        <p:spPr>
          <a:xfrm>
            <a:off x="8105872" y="6261951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JSON →</a:t>
            </a:r>
            <a:endParaRPr lang="en-US" sz="85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7C0E1CEB-AC7D-9908-28B9-A51729600787}"/>
              </a:ext>
            </a:extLst>
          </p:cNvPr>
          <p:cNvSpPr/>
          <p:nvPr/>
        </p:nvSpPr>
        <p:spPr>
          <a:xfrm>
            <a:off x="9193405" y="6261951"/>
            <a:ext cx="1325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Réinjection enrichi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45884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1150000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1700000"/>
            <a:ext cx="5400000" cy="40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What is a Resolver Case?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A Resolver Case answers the question: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"Is there a credible, verifiable fix path for this issue?"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Construction process: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1. Start from a resolved GitHub issue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2. Fetch all related PRs (pull requests) for that repo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3. Match PRs to the issue via text similarity + label linking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4. Fetch commits from each candidate PR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5. Compute link_score (0.0–1.0) and link_confidence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6. Assign resolution_status: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merged_fix — PR merged, commit confirmed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candidate_fix — strong candidate, not 100% confirmed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reference_only — mentioned but not a direct fix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unlinked — no credible fix path found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7. Generate resolver_card_text (structured fix summary)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5950000" y="1700000"/>
            <a:ext cx="5900000" cy="4000000"/>
          </a:xfrm>
          <a:prstGeom prst="rect">
            <a:avLst/>
          </a:prstGeom>
          <a:solidFill>
            <a:srgbClr val="03217B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FFD200"/>
                </a:solidFill>
              </a:rPr>
              <a:t>Concrete Resolver Case Example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Issue: HAL_CRYP_Decrypt_DMA fails for &gt; 65535 bytes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link_score: 0.82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link_confidence: high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resolution_status: merged_fix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Candidate PR: #447 — Fix DMA transfer size overflow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Commit: 3f2a1b — patch uint16 → uint32 in DMA size field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resolver_card_text fields: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Problem: DMA counter overflow for large buffers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Root cause: uint16 size field max = 65535 bytes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Fix: cast to uint32, patch HAL_CRYP_Decrypt_DMA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Constraints: STM32CubeH7 v1.9.x and earlier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Validation: verified via commit 3f2a1b + PR #447 merge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Limitation: for truly new bugs with no linked PR,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the system returns 'unlinked' and falls back to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similarity-based diagnosis only.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Structured Troubleshooting Knowledge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1150000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18 cards delivered: 13 diagnostic · 3 behavior · 2 resolution guidance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1700000"/>
            <a:ext cx="5400000" cy="40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What is a Diagnostic Card?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A Diagnostic Card answers: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"What should I check NOW to isolate the probable root cause?"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Construction: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1. Merge ST-ready issue + resolver case by issue_number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2. Extract confirmed facts from issue body + comments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3. Extract fix evidence from linked PR/commit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4. Compute confidence_score on the diagnosis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5. Generate structured card: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Problem statement (symptom-oriented)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Technical context (MCU, peripheral, HAL version)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Confirmed facts (what is known for certain)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Plausible hypotheses (not yet confirmed)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Debug actions (concrete steps to take)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Fix reference (PR/commit if available)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   • Confidence level: high / medium / low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5950000" y="1700000"/>
            <a:ext cx="5900000" cy="4000000"/>
          </a:xfrm>
          <a:prstGeom prst="rect">
            <a:avLst/>
          </a:prstGeom>
          <a:solidFill>
            <a:srgbClr val="03217B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FFD200"/>
                </a:solidFill>
              </a:rPr>
              <a:t>Card Statistics &amp; Scores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18 diagnostic cards delivered — distribution: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13 technical diagnostic cards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3 assistant behavior cards (guardrails, uncertainty handling)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2 resolution guidance cards (structured fix workflows)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Confidence score distribution: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High confidence (score &gt;= 0.75): 8 cards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Medium confidence (0.50–0.74): 7 cards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Low confidence (score lt 0.50): 3 cards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Schema validation pass rate: gt 95%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All card fields verified: problem, context, facts,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hypotheses, actions, fix_reference, confidence_level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Key value: cards answer support questions directly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without requiring the user to browse raw issues.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Traceable to real GitHub issue + PR + commit.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Evaluation Protocol &amp; Benchmark Results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1150000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Concrete numbers — Config A vs B on 50-question benchmark</a:t>
            </a:r>
          </a:p>
        </p:txBody>
      </p:sp>
      <p:sp>
        <p:nvSpPr>
          <p:cNvPr id="10" name="S10"/>
          <p:cNvSpPr>
            <a:spLocks noGrp="1"/>
          </p:cNvSpPr>
          <p:nvPr/>
        </p:nvSpPr>
        <p:spPr>
          <a:xfrm>
            <a:off x="242477" y="1700000"/>
            <a:ext cx="2600000" cy="1300000"/>
          </a:xfrm>
          <a:prstGeom prst="rect">
            <a:avLst/>
          </a:prstGeom>
          <a:solidFill>
            <a:srgbClr val="03217B"/>
          </a:solidFill>
        </p:spPr>
        <p:txBody>
          <a:bodyPr wrap="square" lIns="91440" tIns="91440" rIns="91440" bIns="91440" anchor="ctr"/>
          <a:lstStyle/>
          <a:p>
            <a:pPr algn="ctr"/>
            <a:r>
              <a:rPr lang="en-US" sz="3600" b="1" noProof="0" dirty="0">
                <a:solidFill>
                  <a:srgbClr val="FFFFFF"/>
                </a:solidFill>
              </a:rPr>
              <a:t>50</a:t>
            </a:r>
          </a:p>
          <a:p>
            <a:pPr algn="ctr"/>
            <a:r>
              <a:rPr lang="en-US" sz="1000" b="0" noProof="0" dirty="0">
                <a:solidFill>
                  <a:srgbClr val="FFFFFF"/>
                </a:solidFill>
              </a:rPr>
              <a:t>questions
in benchmark</a:t>
            </a:r>
          </a:p>
        </p:txBody>
      </p:sp>
      <p:sp>
        <p:nvSpPr>
          <p:cNvPr id="11" name="S11"/>
          <p:cNvSpPr>
            <a:spLocks noGrp="1"/>
          </p:cNvSpPr>
          <p:nvPr/>
        </p:nvSpPr>
        <p:spPr>
          <a:xfrm>
            <a:off x="3100000" y="1700000"/>
            <a:ext cx="2600000" cy="1300000"/>
          </a:xfrm>
          <a:prstGeom prst="rect">
            <a:avLst/>
          </a:prstGeom>
          <a:solidFill>
            <a:srgbClr val="16A34A"/>
          </a:solidFill>
        </p:spPr>
        <p:txBody>
          <a:bodyPr wrap="square" lIns="91440" tIns="91440" rIns="91440" bIns="91440" anchor="ctr"/>
          <a:lstStyle/>
          <a:p>
            <a:pPr algn="ctr"/>
            <a:r>
              <a:rPr lang="en-US" sz="3600" b="1" noProof="0" dirty="0">
                <a:solidFill>
                  <a:srgbClr val="FFFFFF"/>
                </a:solidFill>
              </a:rPr>
              <a:t>26</a:t>
            </a:r>
          </a:p>
          <a:p>
            <a:pPr algn="ctr"/>
            <a:r>
              <a:rPr lang="en-US" sz="1000" b="0" noProof="0" dirty="0">
                <a:solidFill>
                  <a:srgbClr val="FFFFFF"/>
                </a:solidFill>
              </a:rPr>
              <a:t>answers
returned OK</a:t>
            </a:r>
          </a:p>
        </p:txBody>
      </p:sp>
      <p:sp>
        <p:nvSpPr>
          <p:cNvPr id="12" name="S12"/>
          <p:cNvSpPr>
            <a:spLocks noGrp="1"/>
          </p:cNvSpPr>
          <p:nvPr/>
        </p:nvSpPr>
        <p:spPr>
          <a:xfrm>
            <a:off x="5900000" y="1700000"/>
            <a:ext cx="2600000" cy="1300000"/>
          </a:xfrm>
          <a:prstGeom prst="rect">
            <a:avLst/>
          </a:prstGeom>
          <a:solidFill>
            <a:srgbClr val="DC2626"/>
          </a:solidFill>
        </p:spPr>
        <p:txBody>
          <a:bodyPr wrap="square" lIns="91440" tIns="91440" rIns="91440" bIns="91440" anchor="ctr"/>
          <a:lstStyle/>
          <a:p>
            <a:pPr algn="ctr"/>
            <a:r>
              <a:rPr lang="en-US" sz="3600" b="1" noProof="0" dirty="0">
                <a:solidFill>
                  <a:srgbClr val="FFFFFF"/>
                </a:solidFill>
              </a:rPr>
              <a:t>24</a:t>
            </a:r>
          </a:p>
          <a:p>
            <a:pPr algn="ctr"/>
            <a:r>
              <a:rPr lang="en-US" sz="1000" b="0" noProof="0" dirty="0">
                <a:solidFill>
                  <a:srgbClr val="FFFFFF"/>
                </a:solidFill>
              </a:rPr>
              <a:t>runner
exceptions</a:t>
            </a:r>
          </a:p>
        </p:txBody>
      </p:sp>
      <p:sp>
        <p:nvSpPr>
          <p:cNvPr id="13" name="S13"/>
          <p:cNvSpPr>
            <a:spLocks noGrp="1"/>
          </p:cNvSpPr>
          <p:nvPr/>
        </p:nvSpPr>
        <p:spPr>
          <a:xfrm>
            <a:off x="8700000" y="1700000"/>
            <a:ext cx="2600000" cy="1300000"/>
          </a:xfrm>
          <a:prstGeom prst="rect">
            <a:avLst/>
          </a:prstGeom>
          <a:solidFill>
            <a:srgbClr val="0D9589"/>
          </a:solidFill>
        </p:spPr>
        <p:txBody>
          <a:bodyPr wrap="square" lIns="91440" tIns="91440" rIns="91440" bIns="91440" anchor="ctr"/>
          <a:lstStyle/>
          <a:p>
            <a:pPr algn="ctr"/>
            <a:r>
              <a:rPr lang="en-US" sz="3600" b="1" noProof="0" dirty="0">
                <a:solidFill>
                  <a:srgbClr val="FFFFFF"/>
                </a:solidFill>
              </a:rPr>
              <a:t>&gt;95%</a:t>
            </a:r>
          </a:p>
          <a:p>
            <a:pPr algn="ctr"/>
            <a:r>
              <a:rPr lang="en-US" sz="1000" b="0" noProof="0" dirty="0">
                <a:solidFill>
                  <a:srgbClr val="FFFFFF"/>
                </a:solidFill>
              </a:rPr>
              <a:t>schema
pass rate</a:t>
            </a:r>
          </a:p>
        </p:txBody>
      </p:sp>
      <p:sp>
        <p:nvSpPr>
          <p:cNvPr id="3" name="C10"/>
          <p:cNvSpPr>
            <a:spLocks noGrp="1"/>
          </p:cNvSpPr>
          <p:nvPr/>
        </p:nvSpPr>
        <p:spPr>
          <a:xfrm>
            <a:off x="242477" y="3200000"/>
            <a:ext cx="5400000" cy="34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Evaluation Protocol — 4 Steps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1 — Benchmark creation: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30+50 reference questions, manually written by S&amp;M team,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covering: DMA, UART, I2C, USB, ADC, FDCAN, Ethernet, CRYP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Split: issues-only questions, files-only, mixed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2 — TF-IDF retrieval test (offline):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Each query vectorized, cosine similarity vs all chunks.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Similarity threshold: 0.30 for related_issue_ids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Top-3 retrieved chunks evaluated for relevance.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3 — ST platform live run: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Upload JSON → configure data source → run 50Q via API.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Measure: answer returned / exception / generic response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4 — Config A vs Config B: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 = issues_json only | B = issues_json + files_json</a:t>
            </a:r>
          </a:p>
        </p:txBody>
      </p:sp>
      <p:sp>
        <p:nvSpPr>
          <p:cNvPr id="4" name="C11"/>
          <p:cNvSpPr>
            <a:spLocks noGrp="1"/>
          </p:cNvSpPr>
          <p:nvPr/>
        </p:nvSpPr>
        <p:spPr>
          <a:xfrm>
            <a:off x="5950000" y="3200000"/>
            <a:ext cx="5900000" cy="374944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FFD200"/>
                </a:solidFill>
              </a:rPr>
              <a:t>Config A vs B — Results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Issue questions: A ≈ B (both very good)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Both configs retrieve correctly when the answer is in issues.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Files questions: A fails, B wins strongly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Config A returns no answer / generic.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Config B retrieves correct file context → precise answer.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Mixed questions: B better globally, some noise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Issues + files = better overall coverage.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Some mixed queries still produce drift (needs improvement).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Conclusion: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issues + files = best coverage globally.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STM32CubeH7: 4,707 exported docs (from 4,733 source docs)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enabling documentation-aware answers.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Current gap: 24/50 runner exceptions need fixing.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Next step: stabilize runner + reinforce retrieval on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weak domains (USB, Ethernet, FDCAN, ADC).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AI Agents — Two Specialized Assistants in the Project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1150000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Not just one AI: two agents used for engineering acceleration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1700000"/>
            <a:ext cx="5500000" cy="41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Agent 1 — STM32Cube Preprocessing Agent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Role: dedicated assistant for pipeline analysis and documentation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Analyze: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Data flow, JSON outputs, schema structures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Document: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Data schemas, test results, benchmark outputs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Compare: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Structuring and chunking strategies (parent/child sizes)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Value delivered: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Documentation acceleration + pipeline readability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Faster iteration on data quality improvements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Defined in: .github/agents/STM32CubePreprocessing.agent.md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6050000" y="1700000"/>
            <a:ext cx="5800000" cy="41000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FFD200"/>
                </a:solidFill>
              </a:rPr>
              <a:t>Agent 2 — STM32Cube PDF Vision Agent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Role: analyze figures and diagrams from technical PDFs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Pipeline it enables: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1. Extract text from PDF page by page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2. Render pages as images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3. Detect figure regions (filter out text-heavy areas)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4. Crop figures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5. Generate pdf_image_tasks_&lt;repo&gt;.jsonl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6. Agent reads tasks → produces descriptions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7. Output: pdf_image_descriptions.json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8. Re-inject descriptions into enriched JSON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Value delivered: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Don't lose information embedded in PDF figures.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Enriched JSON uploaded directly to ST KB.</a:t>
            </a:r>
          </a:p>
          <a:p>
            <a:endParaRPr lang="en-US" sz="9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Defined in: .github/agents/STM32CubePdfVision.agent.md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41" y="19975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Next Steps — Concrete Action Plan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582841" y="99680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Phase: stabilization quality — not ideation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1981701" y="1661197"/>
            <a:ext cx="4405719" cy="4200000"/>
          </a:xfrm>
          <a:prstGeom prst="rect">
            <a:avLst/>
          </a:prstGeom>
          <a:solidFill>
            <a:srgbClr val="FFF1F1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DC2626"/>
                </a:solidFill>
              </a:rPr>
              <a:t>Immediate Priorities (P0)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1. Stabilize the runner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Eliminate the 24/50 runner exceptions.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Target: 0 exceptions on next 50Q run.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2. Reinforce retrieval on weak domains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Current gaps: USB, Ethernet, FDCAN, I2C, ADC.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Action: add targeted data for these peripheral families.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3. Harden the answer contract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Every answer must include: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confirmed facts | plausible diagnosis | debug actions | confidence level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Avoid generic 'I DON\'T KNOW' — provide structured uncertainty.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7074320" y="1703280"/>
            <a:ext cx="4111840" cy="42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Medium-Term Direction (P1)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4. Enrich resolver cases with pattern tags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Add technical pattern tags to enable class-based retrieval: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overflow | uint16_limit | bytes_vs_words | dma_transfer_size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alignment | interrupt_timing | cache_coherency | etc.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Goal: retrieve similar bug classes, not just linked issues.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5. Launch full 50Q evaluation cycle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After stabilizing runner + coverage: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Re-run 50Q on updated KB.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Go/No-Go criteria: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0 runner exceptions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Strong reduction of generic responses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Measurable improvement vs baseline per question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6. Extend to other STM32Cube series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Currently: H7 (primary), H5 (started).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Roadmap: L4, G0, G4, U5.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Challenges Encountered — 6 Concrete Points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1150000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Technical obstacles encountered during the project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1700000"/>
            <a:ext cx="5400000" cy="41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Technical Challenges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1. Black-box RAG engine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 ChatGPT's retrieval and ranking are inaccessible.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All improvements must be data-centric — no direct tuning.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2. Defining high data quality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Quality = clean text + complete metadata (component, layer,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severity, is_valid=true) + coherent chunk size.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Measured by: schema validation &gt;95% + TF-IDF accuracy.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3. Heterogeneous source formats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Issues, PRs, commits, files, PDFs all have different structures.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Solution: unified doc_v2 schema normalizing all sources.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5950000" y="1700000"/>
            <a:ext cx="5900000" cy="41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D9589"/>
                </a:solidFill>
              </a:rPr>
              <a:t>Operational &amp; Validation Challenges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4. Upload payload limits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 platform has file size and document count limits per source.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STM32CubeH7: 4,707 exported docs from 4,733 source docs.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Solution: manual split workflow — deterministic batch upload.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5. Validation without ground truth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No labeled STM32Cube Q&amp;A dataset existed.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Built 30+50 question benchmark manually.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Config A vs B comparison run on ST platform.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Result: Config B (issues + files) wins globally.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6. New bugs with no linked PR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For truly new bugs (e.g. HAL_CRYP &gt; 65535 bytes),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the system returns 'I DON\'T KNOW' — no fix path exists.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Next direction: technical pattern tags (overflow, uint16_limit,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dma_transfer_size) to enable class-based retrieval.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fr-FR" noProof="0" dirty="0"/>
              <a:t>For </a:t>
            </a:r>
            <a:r>
              <a:rPr lang="fr-FR" noProof="0" dirty="0" err="1"/>
              <a:t>further</a:t>
            </a:r>
            <a:r>
              <a:rPr lang="fr-FR" noProof="0" dirty="0"/>
              <a:t> support in </a:t>
            </a:r>
            <a:r>
              <a:rPr lang="fr-FR" noProof="0" dirty="0" err="1"/>
              <a:t>creating</a:t>
            </a:r>
            <a:r>
              <a:rPr lang="fr-FR" noProof="0" dirty="0"/>
              <a:t> a PowerPoint </a:t>
            </a:r>
            <a:r>
              <a:rPr lang="fr-FR" noProof="0" dirty="0" err="1"/>
              <a:t>presentation</a:t>
            </a:r>
            <a:r>
              <a:rPr lang="fr-FR" noProof="0" dirty="0"/>
              <a:t>, </a:t>
            </a:r>
            <a:r>
              <a:rPr lang="fr-FR" noProof="0" dirty="0" err="1"/>
              <a:t>including</a:t>
            </a:r>
            <a:r>
              <a:rPr lang="fr-FR" noProof="0" dirty="0"/>
              <a:t> </a:t>
            </a:r>
            <a:r>
              <a:rPr lang="fr-FR" noProof="0" dirty="0" err="1"/>
              <a:t>graphic</a:t>
            </a:r>
            <a:r>
              <a:rPr lang="fr-FR" noProof="0" dirty="0"/>
              <a:t> assets, </a:t>
            </a:r>
            <a:r>
              <a:rPr lang="fr-FR" noProof="0" dirty="0" err="1"/>
              <a:t>formatting</a:t>
            </a:r>
            <a:r>
              <a:rPr lang="fr-FR" noProof="0" dirty="0"/>
              <a:t> </a:t>
            </a:r>
            <a:r>
              <a:rPr lang="fr-FR" noProof="0" dirty="0" err="1"/>
              <a:t>tools</a:t>
            </a:r>
            <a:r>
              <a:rPr lang="fr-FR" noProof="0" dirty="0"/>
              <a:t> and </a:t>
            </a:r>
            <a:r>
              <a:rPr lang="fr-FR" noProof="0" dirty="0" err="1"/>
              <a:t>additional</a:t>
            </a:r>
            <a:r>
              <a:rPr lang="fr-FR" noProof="0" dirty="0"/>
              <a:t> information on the ST brand</a:t>
            </a:r>
          </a:p>
          <a:p>
            <a:pPr algn="ctr">
              <a:spcBef>
                <a:spcPts val="600"/>
              </a:spcBef>
            </a:pPr>
            <a:r>
              <a:rPr lang="fr-FR" b="1" noProof="0" dirty="0" err="1"/>
              <a:t>you</a:t>
            </a:r>
            <a:r>
              <a:rPr lang="fr-FR" b="1" noProof="0" dirty="0"/>
              <a:t> can </a:t>
            </a:r>
            <a:r>
              <a:rPr lang="fr-FR" b="1" noProof="0" dirty="0" err="1"/>
              <a:t>visit</a:t>
            </a:r>
            <a:r>
              <a:rPr lang="fr-FR" b="1" noProof="0" dirty="0"/>
              <a:t> the ST Brand Portal</a:t>
            </a:r>
            <a:br>
              <a:rPr lang="fr-FR" noProof="0" dirty="0"/>
            </a:br>
            <a:r>
              <a:rPr lang="fr-FR" noProof="0" dirty="0">
                <a:hlinkClick r:id="rId4"/>
              </a:rPr>
              <a:t>https://brandportal.st.com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27FFCAB48D543983E702177FA4D5E" ma:contentTypeVersion="1" ma:contentTypeDescription="Create a new document." ma:contentTypeScope="" ma:versionID="79e94945f58b0ccd46b3c7ecfbaac7f0">
  <xsd:schema xmlns:xsd="http://www.w3.org/2001/XMLSchema" xmlns:xs="http://www.w3.org/2001/XMLSchema" xmlns:p="http://schemas.microsoft.com/office/2006/metadata/properties" xmlns:ns3="a9b83574-adda-46ce-ac63-af2fdf65ff3b" targetNamespace="http://schemas.microsoft.com/office/2006/metadata/properties" ma:root="true" ma:fieldsID="186b049367a49709f79d150b2d56bce3" ns3:_="">
    <xsd:import namespace="a9b83574-adda-46ce-ac63-af2fdf65ff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83574-adda-46ce-ac63-af2fdf65ff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B8446A-891D-4E00-8259-E4025A836D60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a9b83574-adda-46ce-ac63-af2fdf65ff3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8C8AF0-9AC2-483F-A140-F19A1E7F5F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83574-adda-46ce-ac63-af2fdf65ff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5375</TotalTime>
  <Words>5441</Words>
  <Application>Microsoft Office PowerPoint</Application>
  <PresentationFormat>Grand écran</PresentationFormat>
  <Paragraphs>937</Paragraphs>
  <Slides>39</Slides>
  <Notes>36</Notes>
  <HiddenSlides>3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Consolas</vt:lpstr>
      <vt:lpstr>ST PowerPoint Template 16x9</vt:lpstr>
      <vt:lpstr>An AI Tool for STM32Cube Technical Support  From raw GitHub data to precise technical answers: Understanding how it works , step by step.  </vt:lpstr>
      <vt:lpstr>Présentation PowerPoint</vt:lpstr>
      <vt:lpstr>Présentation PowerPoint</vt:lpstr>
      <vt:lpstr>The ST ChatGPT Platform,  Creating a Persona</vt:lpstr>
      <vt:lpstr>Meet the STM32Cube AI Persona</vt:lpstr>
      <vt:lpstr>Why this project?</vt:lpstr>
      <vt:lpstr>Where AI stands in here !</vt:lpstr>
      <vt:lpstr> La plateforme st chatgpt</vt:lpstr>
      <vt:lpstr> La plateforme st chatgpt</vt:lpstr>
      <vt:lpstr> La plateforme st chatgpt</vt:lpstr>
      <vt:lpstr> La plateforme st chatgpt</vt:lpstr>
      <vt:lpstr>Data Sources Used</vt:lpstr>
      <vt:lpstr>How the Persona Works , RAG Behind the Scenes</vt:lpstr>
      <vt:lpstr>Getting Better Answers — How to Query the Persona</vt:lpstr>
      <vt:lpstr>Présentation PowerPoint</vt:lpstr>
      <vt:lpstr>Présentation PowerPoint</vt:lpstr>
      <vt:lpstr>Le pipeline de preprocessing</vt:lpstr>
      <vt:lpstr>Le pipeline de preprocessing</vt:lpstr>
      <vt:lpstr>Pipeline : cleaning</vt:lpstr>
      <vt:lpstr>Le pipeline de preprocessing</vt:lpstr>
      <vt:lpstr>Pipeline : Enrichment (Feature Engineering)    </vt:lpstr>
      <vt:lpstr>Le pipeline de preprocessing</vt:lpstr>
      <vt:lpstr>Pipeline : Enrichment (Feature Engineering)    </vt:lpstr>
      <vt:lpstr>Le pipeline de preprocessing</vt:lpstr>
      <vt:lpstr>Pipeline : STM32Cube RAG Chunking Benchmark  </vt:lpstr>
      <vt:lpstr>Pipeline : chunking</vt:lpstr>
      <vt:lpstr>Le pipeline de preprocessing</vt:lpstr>
      <vt:lpstr>Pipeline : Delivery(resolver cases, diagnostic cards, exports ST-ready)</vt:lpstr>
      <vt:lpstr>Pipeline : Delivery(resolver cases, diagnostic cards, exports ST-ready)</vt:lpstr>
      <vt:lpstr>Pipeline : Delivery(resolver cases, diagnostic cards, exports ST-ready)</vt:lpstr>
      <vt:lpstr>Pipeline : Delivery(resolver cases, diagnostic cards, exports ST-ready)</vt:lpstr>
      <vt:lpstr>Pipeline : les agents IA</vt:lpstr>
      <vt:lpstr>Resolver Cases — Tracing Bugs to Their Fix</vt:lpstr>
      <vt:lpstr>Diagnostic Cards — Structured Troubleshooting Knowledge</vt:lpstr>
      <vt:lpstr>Evaluation Protocol &amp; Benchmark Results</vt:lpstr>
      <vt:lpstr>AI Agents — Two Specialized Assistants in the Project</vt:lpstr>
      <vt:lpstr>Next Steps — Concrete Action Plan</vt:lpstr>
      <vt:lpstr>Challenges Encountered — 6 Concrete Points</vt:lpstr>
      <vt:lpstr>Présentation PowerPoint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abir.gharbi</cp:lastModifiedBy>
  <cp:revision>7</cp:revision>
  <dcterms:created xsi:type="dcterms:W3CDTF">2026-04-28T15:20:14Z</dcterms:created>
  <dcterms:modified xsi:type="dcterms:W3CDTF">2026-05-10T21:21:34Z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0x01010062527FFCAB48D543983E702177FA4D5E</vt:lpwstr>
  </property>
</Properties>
</file>