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70" r:id="rId5"/>
    <p:sldId id="271" r:id="rId6"/>
    <p:sldId id="258" r:id="rId7"/>
    <p:sldId id="259" r:id="rId8"/>
    <p:sldId id="260" r:id="rId9"/>
    <p:sldId id="261" r:id="rId10"/>
    <p:sldId id="269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464" autoAdjust="0"/>
  </p:normalViewPr>
  <p:slideViewPr>
    <p:cSldViewPr snapToGrid="0" snapToObjects="1">
      <p:cViewPr>
        <p:scale>
          <a:sx n="93" d="100"/>
          <a:sy n="93" d="100"/>
        </p:scale>
        <p:origin x="116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B4A"/>
                </a:solidFill>
                <a:latin typeface="Arial"/>
              </a:defRPr>
            </a:pPr>
            <a:r>
              <a:rPr lang="fr-FR" sz="1000" b="0" i="0" u="none" strike="noStrike" noProof="0" dirty="0">
                <a:solidFill>
                  <a:srgbClr val="1A2B4A"/>
                </a:solidFill>
                <a:latin typeface="Arial"/>
              </a:rPr>
              <a:t>Distribution illustrative — 90 000 paires </a:t>
            </a:r>
            <a:r>
              <a:rPr lang="fr-FR" sz="1000" b="0" i="0" u="none" strike="noStrike" noProof="0" dirty="0" err="1">
                <a:solidFill>
                  <a:srgbClr val="1A2B4A"/>
                </a:solidFill>
                <a:latin typeface="Arial"/>
              </a:rPr>
              <a:t>cosine</a:t>
            </a:r>
            <a:r>
              <a:rPr lang="fr-FR" sz="1000" b="0" i="0" u="none" strike="noStrike" noProof="0" dirty="0">
                <a:solidFill>
                  <a:srgbClr val="1A2B4A"/>
                </a:solidFill>
                <a:latin typeface="Arial"/>
              </a:rPr>
              <a:t> (N=300 issues)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Nb de paires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047-444B-B5B9-CD3C7FA9AF71}"/>
              </c:ext>
            </c:extLst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047-444B-B5B9-CD3C7FA9AF71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047-444B-B5B9-CD3C7FA9AF71}"/>
              </c:ext>
            </c:extLst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047-444B-B5B9-CD3C7FA9AF71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047-444B-B5B9-CD3C7FA9AF71}"/>
              </c:ext>
            </c:extLst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047-444B-B5B9-CD3C7FA9AF71}"/>
              </c:ext>
            </c:extLst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047-444B-B5B9-CD3C7FA9AF71}"/>
              </c:ext>
            </c:extLst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047-444B-B5B9-CD3C7FA9AF7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T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0.00–0.10</c:v>
                </c:pt>
                <c:pt idx="1">
                  <c:v>0.10–0.20</c:v>
                </c:pt>
                <c:pt idx="2">
                  <c:v>0.20–0.30</c:v>
                </c:pt>
                <c:pt idx="3">
                  <c:v>0.30–0.40</c:v>
                </c:pt>
                <c:pt idx="4">
                  <c:v>0.40–0.50</c:v>
                </c:pt>
                <c:pt idx="5">
                  <c:v>0.50–0.60</c:v>
                </c:pt>
                <c:pt idx="6">
                  <c:v>0.60–0.70</c:v>
                </c:pt>
                <c:pt idx="7">
                  <c:v>0.70–1.00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41000</c:v>
                </c:pt>
                <c:pt idx="1">
                  <c:v>28000</c:v>
                </c:pt>
                <c:pt idx="2">
                  <c:v>11500</c:v>
                </c:pt>
                <c:pt idx="3">
                  <c:v>4200</c:v>
                </c:pt>
                <c:pt idx="4">
                  <c:v>1800</c:v>
                </c:pt>
                <c:pt idx="5">
                  <c:v>950</c:v>
                </c:pt>
                <c:pt idx="6">
                  <c:v>380</c:v>
                </c:pt>
                <c:pt idx="7">
                  <c:v>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047-444B-B5B9-CD3C7FA9AF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618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Ce que ton code fait réellement :</a:t>
            </a:r>
            <a:endParaRPr lang="fr-FR" dirty="0"/>
          </a:p>
          <a:p>
            <a:r>
              <a:rPr lang="fr-FR" dirty="0"/>
              <a:t>En regardant ton code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export_st_ready_resolver_cases.py</a:t>
            </a:r>
            <a:r>
              <a:rPr lang="fr-FR" dirty="0"/>
              <a:t>, le champ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link_score</a:t>
            </a:r>
            <a:r>
              <a:rPr lang="fr-FR" dirty="0"/>
              <a:t> et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link_confidence</a:t>
            </a:r>
            <a:r>
              <a:rPr lang="fr-FR" dirty="0"/>
              <a:t> </a:t>
            </a:r>
            <a:r>
              <a:rPr lang="fr-FR" b="1" dirty="0"/>
              <a:t>ne sont pas calculés dans ce fichier</a:t>
            </a:r>
            <a:r>
              <a:rPr lang="fr-FR" dirty="0"/>
              <a:t>. Ce script les lit directement depuis le fichier d'entrée :</a:t>
            </a:r>
          </a:p>
          <a:p>
            <a:r>
              <a:rPr lang="fr-FR" dirty="0"/>
              <a:t>python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link_score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case.get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link_score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"),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link_confidence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case.get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link_confidence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"),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resolution_status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case.get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resolution_status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"),</a:t>
            </a:r>
          </a:p>
          <a:p>
            <a:r>
              <a:rPr lang="fr-FR" dirty="0"/>
              <a:t>Ces valeurs viennent d'une </a:t>
            </a:r>
            <a:r>
              <a:rPr lang="fr-FR" b="1" dirty="0"/>
              <a:t>étape </a:t>
            </a:r>
            <a:r>
              <a:rPr lang="fr-FR" b="1" dirty="0" err="1"/>
              <a:t>upstream</a:t>
            </a:r>
            <a:r>
              <a:rPr lang="fr-FR" dirty="0"/>
              <a:t> du pipeline — la couche de liaison </a:t>
            </a:r>
            <a:r>
              <a:rPr lang="fr-FR" dirty="0" err="1"/>
              <a:t>issue↔PR↔commit</a:t>
            </a:r>
            <a:r>
              <a:rPr lang="fr-FR" dirty="0"/>
              <a:t> — dont le code n'est pas dans ce que tu m'as partagé. Ton script de </a:t>
            </a:r>
            <a:r>
              <a:rPr lang="fr-FR" dirty="0" err="1"/>
              <a:t>delivery</a:t>
            </a:r>
            <a:r>
              <a:rPr lang="fr-FR" dirty="0"/>
              <a:t> les consomme mais ne les calcule pas.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b="1" dirty="0"/>
              <a:t>Ce qu'il faut dire à ton encadrant :</a:t>
            </a:r>
            <a:endParaRPr lang="fr-FR" dirty="0"/>
          </a:p>
          <a:p>
            <a:r>
              <a:rPr lang="fr-FR" dirty="0"/>
              <a:t>Deux options honnêtes :</a:t>
            </a:r>
          </a:p>
          <a:p>
            <a:r>
              <a:rPr lang="fr-FR" b="1" dirty="0"/>
              <a:t>Option 1 — Tu as le code </a:t>
            </a:r>
            <a:r>
              <a:rPr lang="fr-FR" b="1" dirty="0" err="1"/>
              <a:t>upstream</a:t>
            </a:r>
            <a:r>
              <a:rPr lang="fr-FR" b="1" dirty="0"/>
              <a:t> :</a:t>
            </a:r>
            <a:r>
              <a:rPr lang="fr-FR" dirty="0"/>
              <a:t> Partage-le moi et je construis l'équation exacte avec les vrais poids.</a:t>
            </a:r>
          </a:p>
          <a:p>
            <a:r>
              <a:rPr lang="fr-FR" b="1" dirty="0"/>
              <a:t>Option 2 — Tu n'as pas ce code :</a:t>
            </a:r>
            <a:r>
              <a:rPr lang="fr-FR" dirty="0"/>
              <a:t> On remplace l'équation inventée par une description fidèle à ce que le script fait réellement, à savoir : "le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link_score</a:t>
            </a:r>
            <a:r>
              <a:rPr lang="fr-FR" dirty="0"/>
              <a:t> est produit par la couche de liaison en amont, ce script l'utilise comme critère de filtrage —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unlinked</a:t>
            </a:r>
            <a:r>
              <a:rPr lang="fr-FR" dirty="0"/>
              <a:t> écarté,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reference_only</a:t>
            </a:r>
            <a:r>
              <a:rPr lang="fr-FR" dirty="0"/>
              <a:t> optionnel,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candidate_fix</a:t>
            </a:r>
            <a:r>
              <a:rPr lang="fr-FR" dirty="0"/>
              <a:t> et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merged_fix</a:t>
            </a:r>
            <a:r>
              <a:rPr lang="fr-FR" dirty="0"/>
              <a:t> exportés.« </a:t>
            </a:r>
          </a:p>
          <a:p>
            <a:r>
              <a:rPr lang="fr-FR" dirty="0"/>
              <a:t>---------------------------------------</a:t>
            </a:r>
          </a:p>
          <a:p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file.score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nb_changes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+ 20</a:t>
            </a:r>
            <a:endParaRPr lang="fr-FR" dirty="0"/>
          </a:p>
          <a:p>
            <a:r>
              <a:rPr lang="fr-FR" b="1" dirty="0"/>
              <a:t>Pourquoi ce calcul ?</a:t>
            </a:r>
            <a:r>
              <a:rPr lang="fr-FR" dirty="0"/>
              <a:t> Le but est de </a:t>
            </a:r>
            <a:r>
              <a:rPr lang="fr-FR" b="1" dirty="0"/>
              <a:t>trier les fichiers modifiés par pertinence</a:t>
            </a:r>
            <a:r>
              <a:rPr lang="fr-FR" dirty="0"/>
              <a:t> dans une </a:t>
            </a:r>
            <a:r>
              <a:rPr lang="fr-FR" dirty="0" err="1"/>
              <a:t>resolver</a:t>
            </a:r>
            <a:r>
              <a:rPr lang="fr-FR" dirty="0"/>
              <a:t> case. On veut répondre à : "parmi tous les fichiers touchés par le commit de fix, lequel est le plus important ?"</a:t>
            </a:r>
          </a:p>
          <a:p>
            <a:r>
              <a:rPr lang="fr-FR" dirty="0"/>
              <a:t>Deux critères combinés :</a:t>
            </a:r>
          </a:p>
          <a:p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nb_changes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additions + 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deletions</a:t>
            </a:r>
            <a:r>
              <a:rPr lang="fr-FR" dirty="0"/>
              <a:t> — mesure l'intensité de la modification. Un fichier avec 150 lignes changées est probablement plus central au fix qu'un fichier avec 2 lignes changées. C'est directement extrait de l'API GitHub commit.</a:t>
            </a:r>
          </a:p>
          <a:p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+20 bonus</a:t>
            </a:r>
            <a:r>
              <a:rPr lang="fr-FR" dirty="0"/>
              <a:t> — récompense les fichiers qu'on connaît déjà dans notre KB (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docs_files</a:t>
            </a:r>
            <a:r>
              <a:rPr lang="fr-FR" dirty="0"/>
              <a:t>). Pourquoi 20 ? C'est un seuil arbitraire suffisamment grand pour qu'un fichier documenté avec peu de changements remonte quand même devant un fichier inconnu très modifié. En gros : mieux vaut un fichier qu'on peut contextualiser qu'un fichier opaque.</a:t>
            </a:r>
          </a:p>
          <a:p>
            <a:r>
              <a:rPr lang="fr-FR" dirty="0"/>
              <a:t>Le tri final :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changed_files.sort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(key=lambda f: f["score"], reverse=True)</a:t>
            </a:r>
            <a:r>
              <a:rPr lang="fr-FR" dirty="0"/>
              <a:t> — le fichier avec le score le plus élevé devient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primary_changed_file</a:t>
            </a:r>
            <a:r>
              <a:rPr lang="fr-FR" dirty="0"/>
              <a:t>, celui affiché en tête dans la </a:t>
            </a:r>
            <a:r>
              <a:rPr lang="fr-FR" dirty="0" err="1"/>
              <a:t>resolver</a:t>
            </a:r>
            <a:r>
              <a:rPr lang="fr-FR" dirty="0"/>
              <a:t> case.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match_rate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matched_docs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 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changed_files_total</a:t>
            </a:r>
            <a:endParaRPr lang="fr-FR" dirty="0"/>
          </a:p>
          <a:p>
            <a:r>
              <a:rPr lang="fr-FR" b="1" dirty="0"/>
              <a:t>Pourquoi ce calcul ?</a:t>
            </a:r>
            <a:r>
              <a:rPr lang="fr-FR" dirty="0"/>
              <a:t> C'est un </a:t>
            </a:r>
            <a:r>
              <a:rPr lang="fr-FR" b="1" dirty="0"/>
              <a:t>indicateur de couverture</a:t>
            </a:r>
            <a:r>
              <a:rPr lang="fr-FR" dirty="0"/>
              <a:t> — il mesure dans quelle proportion les fichiers touchés par le fix sont connus dans notre base documentaire.</a:t>
            </a:r>
          </a:p>
          <a:p>
            <a:r>
              <a:rPr lang="fr-FR" dirty="0"/>
              <a:t>Concrètement ce qui se passe :</a:t>
            </a:r>
          </a:p>
          <a:p>
            <a:r>
              <a:rPr lang="fr-FR" dirty="0"/>
              <a:t>Pour chaque commit lié à l'issue, GitHub renvoie la liste des fichiers modifiés avec leur chemin exact (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Drivers/STM32H7xx_HAL_Driver/Src/stm32h7xx_hal_spi.c</a:t>
            </a:r>
            <a:r>
              <a:rPr lang="fr-FR" dirty="0"/>
              <a:t>)</a:t>
            </a:r>
          </a:p>
          <a:p>
            <a:r>
              <a:rPr lang="fr-FR" dirty="0"/>
              <a:t>On normalise ce chemin (minuscules, </a:t>
            </a:r>
            <a:r>
              <a:rPr lang="fr-FR" dirty="0" err="1"/>
              <a:t>slashes</a:t>
            </a:r>
            <a:r>
              <a:rPr lang="fr-FR" dirty="0"/>
              <a:t> unifiés, pas de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r-FR" dirty="0"/>
              <a:t> initial)</a:t>
            </a:r>
          </a:p>
          <a:p>
            <a:r>
              <a:rPr lang="fr-FR" dirty="0"/>
              <a:t>On cherche ce chemin normalisé dans le dictionnaire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files_lookup</a:t>
            </a:r>
            <a:r>
              <a:rPr lang="fr-FR" dirty="0"/>
              <a:t> qui contient tous les chemins de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docs_files</a:t>
            </a:r>
            <a:endParaRPr lang="fr-FR" dirty="0"/>
          </a:p>
          <a:p>
            <a:r>
              <a:rPr lang="fr-FR" dirty="0"/>
              <a:t>Si on trouve →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matched_docs_count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+= 1</a:t>
            </a:r>
            <a:r>
              <a:rPr lang="fr-FR" dirty="0"/>
              <a:t> et le fichier hérite des métadonnées enrichies (component, </a:t>
            </a:r>
            <a:r>
              <a:rPr lang="fr-FR" dirty="0" err="1"/>
              <a:t>board</a:t>
            </a:r>
            <a:r>
              <a:rPr lang="fr-FR" dirty="0"/>
              <a:t>, </a:t>
            </a:r>
            <a:r>
              <a:rPr lang="fr-FR" dirty="0" err="1"/>
              <a:t>file_type</a:t>
            </a:r>
            <a:r>
              <a:rPr lang="fr-FR" dirty="0"/>
              <a:t>)</a:t>
            </a:r>
          </a:p>
          <a:p>
            <a:r>
              <a:rPr lang="fr-FR" dirty="0"/>
              <a:t>Si on ne trouve pas →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source_match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"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commit_only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fr-FR" dirty="0"/>
              <a:t>, on a juste le chemin brut</a:t>
            </a:r>
          </a:p>
          <a:p>
            <a:r>
              <a:rPr lang="fr-FR" b="1" dirty="0"/>
              <a:t>Pourquoi c'est utile ?</a:t>
            </a:r>
            <a:r>
              <a:rPr lang="fr-FR" dirty="0"/>
              <a:t> Un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match_rate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0.75</a:t>
            </a:r>
            <a:r>
              <a:rPr lang="fr-FR" dirty="0"/>
              <a:t> signifie que 75% des fichiers du fix ont une fiche documentaire dans la KB — la </a:t>
            </a:r>
            <a:r>
              <a:rPr lang="fr-FR" dirty="0" err="1"/>
              <a:t>resolver</a:t>
            </a:r>
            <a:r>
              <a:rPr lang="fr-FR" dirty="0"/>
              <a:t> case est donc bien contextualisée. Un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match_rate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0.20</a:t>
            </a:r>
            <a:r>
              <a:rPr lang="fr-FR" dirty="0"/>
              <a:t> signifie que le commit touche surtout des fichiers inconnus — la carte est moins riche, à interpréter avec précaution.</a:t>
            </a:r>
          </a:p>
          <a:p>
            <a:endParaRPr lang="fr-F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projet ?</a:t>
            </a:r>
            <a:endParaRPr lang="fr-FR" sz="22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15000"/>
              </a:lnSpc>
              <a:buNone/>
            </a:pP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12064" y="795528"/>
            <a:ext cx="228600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512064" y="795528"/>
            <a:ext cx="2286000" cy="4114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603504" y="7955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fr-F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603504" y="1335024"/>
            <a:ext cx="164592" cy="164592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859536" y="1316736"/>
            <a:ext cx="184708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L'information technique STM32 existe déjà</a:t>
            </a:r>
            <a:endParaRPr lang="fr-FR" sz="950" noProof="0" dirty="0"/>
          </a:p>
        </p:txBody>
      </p:sp>
      <p:sp>
        <p:nvSpPr>
          <p:cNvPr id="10" name="Shape 8"/>
          <p:cNvSpPr/>
          <p:nvPr/>
        </p:nvSpPr>
        <p:spPr>
          <a:xfrm>
            <a:off x="603504" y="1865376"/>
            <a:ext cx="164592" cy="164592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859536" y="1847088"/>
            <a:ext cx="184708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dispersée : issues GitHub, documentation, release notes, différents repos</a:t>
            </a:r>
            <a:endParaRPr lang="fr-FR" sz="950" noProof="0" dirty="0"/>
          </a:p>
        </p:txBody>
      </p:sp>
      <p:sp>
        <p:nvSpPr>
          <p:cNvPr id="12" name="Shape 10"/>
          <p:cNvSpPr/>
          <p:nvPr/>
        </p:nvSpPr>
        <p:spPr>
          <a:xfrm>
            <a:off x="603504" y="2395728"/>
            <a:ext cx="164592" cy="164592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859536" y="2377440"/>
            <a:ext cx="184708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n'est pas facilement retrouvable lors d'un diagnostic</a:t>
            </a:r>
            <a:endParaRPr lang="fr-FR" sz="950" noProof="0" dirty="0"/>
          </a:p>
        </p:txBody>
      </p:sp>
      <p:sp>
        <p:nvSpPr>
          <p:cNvPr id="14" name="Shape 12"/>
          <p:cNvSpPr/>
          <p:nvPr/>
        </p:nvSpPr>
        <p:spPr>
          <a:xfrm>
            <a:off x="2889504" y="795528"/>
            <a:ext cx="347472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2889504" y="795528"/>
            <a:ext cx="34747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2980944" y="7955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</a:t>
            </a:r>
            <a:endParaRPr lang="fr-FR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2980944" y="133502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3236976" y="1316736"/>
            <a:ext cx="30358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brutes contiennent du HTML, des images, des blocs de code, des références croisées = nettoyage complexe</a:t>
            </a:r>
            <a:endParaRPr lang="fr-FR" sz="950" noProof="0" dirty="0"/>
          </a:p>
        </p:txBody>
      </p:sp>
      <p:sp>
        <p:nvSpPr>
          <p:cNvPr id="19" name="Shape 17"/>
          <p:cNvSpPr/>
          <p:nvPr/>
        </p:nvSpPr>
        <p:spPr>
          <a:xfrm>
            <a:off x="2980944" y="186537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3236976" y="1847088"/>
            <a:ext cx="30358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structure commune entre issues, fichiers techniques et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</a:t>
            </a:r>
            <a:endParaRPr lang="fr-FR" sz="950" noProof="0" dirty="0"/>
          </a:p>
        </p:txBody>
      </p:sp>
      <p:sp>
        <p:nvSpPr>
          <p:cNvPr id="21" name="Shape 19"/>
          <p:cNvSpPr/>
          <p:nvPr/>
        </p:nvSpPr>
        <p:spPr>
          <a:xfrm>
            <a:off x="2980944" y="239572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3236976" y="2377440"/>
            <a:ext cx="30358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 réponse directement liée a la qualité des données injectées</a:t>
            </a:r>
            <a:endParaRPr lang="fr-FR" sz="950" noProof="0" dirty="0"/>
          </a:p>
        </p:txBody>
      </p:sp>
      <p:sp>
        <p:nvSpPr>
          <p:cNvPr id="23" name="Shape 21"/>
          <p:cNvSpPr/>
          <p:nvPr/>
        </p:nvSpPr>
        <p:spPr>
          <a:xfrm>
            <a:off x="2980944" y="292608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3236976" y="2907792"/>
            <a:ext cx="30358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inconstants selon la formulation de la question</a:t>
            </a:r>
            <a:endParaRPr lang="fr-FR" sz="950" noProof="0" dirty="0"/>
          </a:p>
        </p:txBody>
      </p:sp>
      <p:sp>
        <p:nvSpPr>
          <p:cNvPr id="25" name="Shape 23"/>
          <p:cNvSpPr/>
          <p:nvPr/>
        </p:nvSpPr>
        <p:spPr>
          <a:xfrm>
            <a:off x="2980944" y="345643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3236976" y="3438144"/>
            <a:ext cx="30358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contiennent des figures non exploitables directement</a:t>
            </a:r>
            <a:endParaRPr lang="fr-FR" sz="950" noProof="0" dirty="0"/>
          </a:p>
        </p:txBody>
      </p:sp>
      <p:sp>
        <p:nvSpPr>
          <p:cNvPr id="27" name="Shape 25"/>
          <p:cNvSpPr/>
          <p:nvPr/>
        </p:nvSpPr>
        <p:spPr>
          <a:xfrm>
            <a:off x="2980944" y="398678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6"/>
          <p:cNvSpPr/>
          <p:nvPr/>
        </p:nvSpPr>
        <p:spPr>
          <a:xfrm>
            <a:off x="3236976" y="3968496"/>
            <a:ext cx="30358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 a plusieurs repos nécessite un pipeline robuste</a:t>
            </a:r>
            <a:endParaRPr lang="fr-FR" sz="950" noProof="0" dirty="0"/>
          </a:p>
        </p:txBody>
      </p:sp>
      <p:sp>
        <p:nvSpPr>
          <p:cNvPr id="29" name="Shape 27"/>
          <p:cNvSpPr/>
          <p:nvPr/>
        </p:nvSpPr>
        <p:spPr>
          <a:xfrm>
            <a:off x="6492240" y="795528"/>
            <a:ext cx="228600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8"/>
          <p:cNvSpPr/>
          <p:nvPr/>
        </p:nvSpPr>
        <p:spPr>
          <a:xfrm>
            <a:off x="6492240" y="795528"/>
            <a:ext cx="22860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9"/>
          <p:cNvSpPr/>
          <p:nvPr/>
        </p:nvSpPr>
        <p:spPr>
          <a:xfrm>
            <a:off x="6583680" y="7955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fr-FR" sz="1200" noProof="0" dirty="0"/>
          </a:p>
        </p:txBody>
      </p:sp>
      <p:sp>
        <p:nvSpPr>
          <p:cNvPr id="32" name="Shape 30"/>
          <p:cNvSpPr/>
          <p:nvPr/>
        </p:nvSpPr>
        <p:spPr>
          <a:xfrm>
            <a:off x="6583680" y="133502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6839712" y="2368296"/>
            <a:ext cx="184708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pipeline de préparation de données STM32Cube</a:t>
            </a:r>
            <a:endParaRPr lang="fr-FR" sz="950" noProof="0" dirty="0"/>
          </a:p>
        </p:txBody>
      </p:sp>
      <p:sp>
        <p:nvSpPr>
          <p:cNvPr id="34" name="Shape 32"/>
          <p:cNvSpPr/>
          <p:nvPr/>
        </p:nvSpPr>
        <p:spPr>
          <a:xfrm>
            <a:off x="6583680" y="186537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3"/>
          <p:cNvSpPr/>
          <p:nvPr/>
        </p:nvSpPr>
        <p:spPr>
          <a:xfrm>
            <a:off x="6839712" y="1847088"/>
            <a:ext cx="184708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et enrichir les données pour le moteur RAG ST</a:t>
            </a:r>
            <a:endParaRPr lang="fr-FR" sz="950" noProof="0" dirty="0"/>
          </a:p>
        </p:txBody>
      </p:sp>
      <p:sp>
        <p:nvSpPr>
          <p:cNvPr id="36" name="Shape 34"/>
          <p:cNvSpPr/>
          <p:nvPr/>
        </p:nvSpPr>
        <p:spPr>
          <a:xfrm>
            <a:off x="6583680" y="23957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Text 35"/>
          <p:cNvSpPr/>
          <p:nvPr/>
        </p:nvSpPr>
        <p:spPr>
          <a:xfrm>
            <a:off x="6876288" y="1289304"/>
            <a:ext cx="184708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la qualité et la pertinence des réponses de la persona</a:t>
            </a:r>
            <a:endParaRPr lang="fr-FR" sz="950" noProof="0" dirty="0"/>
          </a:p>
        </p:txBody>
      </p:sp>
      <p:sp>
        <p:nvSpPr>
          <p:cNvPr id="38" name="Shape 36"/>
          <p:cNvSpPr/>
          <p:nvPr/>
        </p:nvSpPr>
        <p:spPr>
          <a:xfrm>
            <a:off x="512064" y="4727448"/>
            <a:ext cx="8631936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37"/>
          <p:cNvSpPr/>
          <p:nvPr/>
        </p:nvSpPr>
        <p:spPr>
          <a:xfrm>
            <a:off x="640080" y="474573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950" b="1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clé : la qualité de réponse de la persona ST </a:t>
            </a:r>
            <a:r>
              <a:rPr lang="fr-FR" sz="950" b="1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r>
              <a:rPr lang="fr-FR" sz="950" b="1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dépend directement de la qualité des données préparées.</a:t>
            </a:r>
            <a:endParaRPr lang="fr-FR" sz="95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qu'une donnée de qualité ?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355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nécessaire pour que le RAG réponde correctement.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8686800" cy="777240"/>
          </a:xfrm>
          <a:prstGeom prst="rect">
            <a:avLst/>
          </a:prstGeom>
          <a:solidFill>
            <a:srgbClr val="1A2B4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8366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: </a:t>
            </a:r>
            <a:r>
              <a:rPr lang="fr-F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donnée est de qualité si elle est </a:t>
            </a:r>
            <a:r>
              <a:rPr lang="fr-FR" sz="110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structurée, complète, exacte, cohérente et exploitable</a:t>
            </a:r>
            <a:r>
              <a:rPr lang="fr-F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le moteur RAG. Dans notre contexte STM32, une donnée de mauvaise qualité injectée dans la Knowledge Base produit directement une </a:t>
            </a:r>
            <a:r>
              <a:rPr lang="fr-FR" sz="110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mauvaise réponse a l’</a:t>
            </a:r>
            <a:r>
              <a:rPr lang="fr-FR" sz="1100" b="1" noProof="0" dirty="0" err="1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ingenieur</a:t>
            </a:r>
            <a:r>
              <a:rPr lang="fr-F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peu importe la puissance du modèle LLM.</a:t>
            </a:r>
            <a:endParaRPr lang="fr-F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228600" y="1856232"/>
            <a:ext cx="868680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GIGO : "Garbage In, Garbage Out"</a:t>
            </a:r>
            <a:r>
              <a:rPr lang="fr-FR" sz="1000" noProof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 LLM puissant avec de mauvaises données produit de mauvaises réponses. La qualité des données est la première responsabilité du pipeline.</a:t>
            </a:r>
            <a:endParaRPr lang="fr-F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201168" y="2304288"/>
            <a:ext cx="166420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0"/>
          <p:cNvSpPr/>
          <p:nvPr/>
        </p:nvSpPr>
        <p:spPr>
          <a:xfrm>
            <a:off x="201168" y="2304288"/>
            <a:ext cx="1664208" cy="438912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201168" y="23225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548640" y="238658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fr-FR" sz="1300" noProof="0" dirty="0"/>
          </a:p>
        </p:txBody>
      </p:sp>
      <p:sp>
        <p:nvSpPr>
          <p:cNvPr id="15" name="Shape 13"/>
          <p:cNvSpPr/>
          <p:nvPr/>
        </p:nvSpPr>
        <p:spPr>
          <a:xfrm>
            <a:off x="265176" y="2807208"/>
            <a:ext cx="1536192" cy="18288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283464" y="281635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ca veut dire</a:t>
            </a:r>
            <a:endParaRPr lang="fr-FR" sz="700" noProof="0" dirty="0"/>
          </a:p>
        </p:txBody>
      </p:sp>
      <p:sp>
        <p:nvSpPr>
          <p:cNvPr id="17" name="Text 15"/>
          <p:cNvSpPr/>
          <p:nvPr/>
        </p:nvSpPr>
        <p:spPr>
          <a:xfrm>
            <a:off x="283464" y="3008376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champs attendus sont présents :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clean_text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issue_title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github_url</a:t>
            </a:r>
            <a:endParaRPr lang="fr-FR" sz="800" noProof="0" dirty="0"/>
          </a:p>
        </p:txBody>
      </p:sp>
      <p:sp>
        <p:nvSpPr>
          <p:cNvPr id="18" name="Shape 16"/>
          <p:cNvSpPr/>
          <p:nvPr/>
        </p:nvSpPr>
        <p:spPr>
          <a:xfrm>
            <a:off x="265176" y="3465576"/>
            <a:ext cx="1536192" cy="182880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/>
          <p:nvPr/>
        </p:nvSpPr>
        <p:spPr>
          <a:xfrm>
            <a:off x="283464" y="347472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qualité : exemple</a:t>
            </a:r>
            <a:endParaRPr lang="fr-FR" sz="700" noProof="0" dirty="0"/>
          </a:p>
        </p:txBody>
      </p:sp>
      <p:sp>
        <p:nvSpPr>
          <p:cNvPr id="20" name="Text 18"/>
          <p:cNvSpPr/>
          <p:nvPr/>
        </p:nvSpPr>
        <p:spPr>
          <a:xfrm>
            <a:off x="283464" y="367588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clean_text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vide, titre manquant</a:t>
            </a:r>
            <a:endParaRPr lang="fr-FR" sz="800" noProof="0" dirty="0"/>
          </a:p>
        </p:txBody>
      </p:sp>
      <p:sp>
        <p:nvSpPr>
          <p:cNvPr id="21" name="Shape 19"/>
          <p:cNvSpPr/>
          <p:nvPr/>
        </p:nvSpPr>
        <p:spPr>
          <a:xfrm>
            <a:off x="265176" y="4041648"/>
            <a:ext cx="1536192" cy="18288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283464" y="40507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RAG</a:t>
            </a:r>
            <a:endParaRPr lang="fr-FR" sz="700" noProof="0" dirty="0"/>
          </a:p>
        </p:txBody>
      </p:sp>
      <p:sp>
        <p:nvSpPr>
          <p:cNvPr id="23" name="Text 21"/>
          <p:cNvSpPr/>
          <p:nvPr/>
        </p:nvSpPr>
        <p:spPr>
          <a:xfrm>
            <a:off x="283464" y="425196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RAG ne peut pas indexer le doc -&gt; réponse vide</a:t>
            </a:r>
            <a:endParaRPr lang="fr-FR" sz="800" noProof="0" dirty="0"/>
          </a:p>
        </p:txBody>
      </p:sp>
      <p:sp>
        <p:nvSpPr>
          <p:cNvPr id="24" name="Text 22"/>
          <p:cNvSpPr/>
          <p:nvPr/>
        </p:nvSpPr>
        <p:spPr>
          <a:xfrm>
            <a:off x="283464" y="468172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75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Schema JSON : champs </a:t>
            </a:r>
            <a:r>
              <a:rPr lang="fr-FR" sz="750" b="1" noProof="0" dirty="0" err="1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r>
              <a:rPr lang="fr-FR" sz="75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vérifies</a:t>
            </a:r>
            <a:endParaRPr lang="fr-FR" sz="750" noProof="0" dirty="0"/>
          </a:p>
        </p:txBody>
      </p:sp>
      <p:sp>
        <p:nvSpPr>
          <p:cNvPr id="25" name="Shape 23"/>
          <p:cNvSpPr/>
          <p:nvPr/>
        </p:nvSpPr>
        <p:spPr>
          <a:xfrm>
            <a:off x="1956816" y="2304288"/>
            <a:ext cx="166420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4"/>
          <p:cNvSpPr/>
          <p:nvPr/>
        </p:nvSpPr>
        <p:spPr>
          <a:xfrm>
            <a:off x="1956816" y="2304288"/>
            <a:ext cx="1664208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1956816" y="23225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800" noProof="0" dirty="0"/>
          </a:p>
        </p:txBody>
      </p:sp>
      <p:sp>
        <p:nvSpPr>
          <p:cNvPr id="28" name="Text 26"/>
          <p:cNvSpPr/>
          <p:nvPr/>
        </p:nvSpPr>
        <p:spPr>
          <a:xfrm>
            <a:off x="2304288" y="238658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Exacte</a:t>
            </a:r>
            <a:endParaRPr lang="fr-FR" sz="1300" noProof="0" dirty="0"/>
          </a:p>
        </p:txBody>
      </p:sp>
      <p:sp>
        <p:nvSpPr>
          <p:cNvPr id="29" name="Shape 27"/>
          <p:cNvSpPr/>
          <p:nvPr/>
        </p:nvSpPr>
        <p:spPr>
          <a:xfrm>
            <a:off x="2020824" y="2807208"/>
            <a:ext cx="1536192" cy="18288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8"/>
          <p:cNvSpPr/>
          <p:nvPr/>
        </p:nvSpPr>
        <p:spPr>
          <a:xfrm>
            <a:off x="2039112" y="281635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ca veut dire</a:t>
            </a:r>
            <a:endParaRPr lang="fr-FR" sz="700" noProof="0" dirty="0"/>
          </a:p>
        </p:txBody>
      </p:sp>
      <p:sp>
        <p:nvSpPr>
          <p:cNvPr id="31" name="Text 29"/>
          <p:cNvSpPr/>
          <p:nvPr/>
        </p:nvSpPr>
        <p:spPr>
          <a:xfrm>
            <a:off x="2039112" y="3008376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correspondent a la réalité du ticket (layer,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component)</a:t>
            </a:r>
            <a:endParaRPr lang="fr-FR" sz="800" noProof="0" dirty="0"/>
          </a:p>
        </p:txBody>
      </p:sp>
      <p:sp>
        <p:nvSpPr>
          <p:cNvPr id="32" name="Shape 30"/>
          <p:cNvSpPr/>
          <p:nvPr/>
        </p:nvSpPr>
        <p:spPr>
          <a:xfrm>
            <a:off x="2020824" y="3465576"/>
            <a:ext cx="1536192" cy="182880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2039112" y="347472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qualité : exemple</a:t>
            </a:r>
            <a:endParaRPr lang="fr-FR" sz="700" noProof="0" dirty="0"/>
          </a:p>
        </p:txBody>
      </p:sp>
      <p:sp>
        <p:nvSpPr>
          <p:cNvPr id="34" name="Text 32"/>
          <p:cNvSpPr/>
          <p:nvPr/>
        </p:nvSpPr>
        <p:spPr>
          <a:xfrm>
            <a:off x="2039112" y="367588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layer=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HAL_Driver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alors que c est un bug BSP</a:t>
            </a:r>
            <a:endParaRPr lang="fr-FR" sz="800" noProof="0" dirty="0"/>
          </a:p>
        </p:txBody>
      </p:sp>
      <p:sp>
        <p:nvSpPr>
          <p:cNvPr id="35" name="Shape 33"/>
          <p:cNvSpPr/>
          <p:nvPr/>
        </p:nvSpPr>
        <p:spPr>
          <a:xfrm>
            <a:off x="2020824" y="4041648"/>
            <a:ext cx="1536192" cy="18288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Text 34"/>
          <p:cNvSpPr/>
          <p:nvPr/>
        </p:nvSpPr>
        <p:spPr>
          <a:xfrm>
            <a:off x="2039112" y="40507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RAG</a:t>
            </a:r>
            <a:endParaRPr lang="fr-FR" sz="700" noProof="0" dirty="0"/>
          </a:p>
        </p:txBody>
      </p:sp>
      <p:sp>
        <p:nvSpPr>
          <p:cNvPr id="37" name="Text 35"/>
          <p:cNvSpPr/>
          <p:nvPr/>
        </p:nvSpPr>
        <p:spPr>
          <a:xfrm>
            <a:off x="2039112" y="425196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ingenieur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oriente vers la mauvaise couche logicielle</a:t>
            </a:r>
            <a:endParaRPr lang="fr-FR" sz="800" noProof="0" dirty="0"/>
          </a:p>
        </p:txBody>
      </p:sp>
      <p:sp>
        <p:nvSpPr>
          <p:cNvPr id="38" name="Text 36"/>
          <p:cNvSpPr/>
          <p:nvPr/>
        </p:nvSpPr>
        <p:spPr>
          <a:xfrm>
            <a:off x="2039112" y="468172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75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Enrichissement : classifier layer + </a:t>
            </a:r>
            <a:r>
              <a:rPr lang="fr-FR" sz="750" b="1" noProof="0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fr-FR" sz="750" noProof="0" dirty="0"/>
          </a:p>
        </p:txBody>
      </p:sp>
      <p:sp>
        <p:nvSpPr>
          <p:cNvPr id="39" name="Shape 37"/>
          <p:cNvSpPr/>
          <p:nvPr/>
        </p:nvSpPr>
        <p:spPr>
          <a:xfrm>
            <a:off x="3712464" y="2304288"/>
            <a:ext cx="166420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Shape 38"/>
          <p:cNvSpPr/>
          <p:nvPr/>
        </p:nvSpPr>
        <p:spPr>
          <a:xfrm>
            <a:off x="3712464" y="2304288"/>
            <a:ext cx="1664208" cy="438912"/>
          </a:xfrm>
          <a:prstGeom prst="rect">
            <a:avLst/>
          </a:prstGeom>
          <a:solidFill>
            <a:srgbClr val="E07B2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Text 39"/>
          <p:cNvSpPr/>
          <p:nvPr/>
        </p:nvSpPr>
        <p:spPr>
          <a:xfrm>
            <a:off x="3712464" y="23225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800" noProof="0" dirty="0"/>
          </a:p>
        </p:txBody>
      </p:sp>
      <p:sp>
        <p:nvSpPr>
          <p:cNvPr id="42" name="Text 40"/>
          <p:cNvSpPr/>
          <p:nvPr/>
        </p:nvSpPr>
        <p:spPr>
          <a:xfrm>
            <a:off x="4059936" y="238658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Propre</a:t>
            </a:r>
            <a:endParaRPr lang="fr-FR" sz="1300" noProof="0" dirty="0"/>
          </a:p>
        </p:txBody>
      </p:sp>
      <p:sp>
        <p:nvSpPr>
          <p:cNvPr id="43" name="Shape 41"/>
          <p:cNvSpPr/>
          <p:nvPr/>
        </p:nvSpPr>
        <p:spPr>
          <a:xfrm>
            <a:off x="3776472" y="2807208"/>
            <a:ext cx="1536192" cy="18288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4" name="Text 42"/>
          <p:cNvSpPr/>
          <p:nvPr/>
        </p:nvSpPr>
        <p:spPr>
          <a:xfrm>
            <a:off x="3794760" y="281635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ca veut dire</a:t>
            </a:r>
            <a:endParaRPr lang="fr-FR" sz="700" noProof="0" dirty="0"/>
          </a:p>
        </p:txBody>
      </p:sp>
      <p:sp>
        <p:nvSpPr>
          <p:cNvPr id="45" name="Text 43"/>
          <p:cNvSpPr/>
          <p:nvPr/>
        </p:nvSpPr>
        <p:spPr>
          <a:xfrm>
            <a:off x="3794760" y="3008376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bruit parasite : pas de HTML, pas de 'Hi @user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!'</a:t>
            </a:r>
            <a:endParaRPr lang="fr-FR" sz="800" noProof="0" dirty="0"/>
          </a:p>
        </p:txBody>
      </p:sp>
      <p:sp>
        <p:nvSpPr>
          <p:cNvPr id="46" name="Shape 44"/>
          <p:cNvSpPr/>
          <p:nvPr/>
        </p:nvSpPr>
        <p:spPr>
          <a:xfrm>
            <a:off x="3776472" y="3465576"/>
            <a:ext cx="1536192" cy="182880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Text 45"/>
          <p:cNvSpPr/>
          <p:nvPr/>
        </p:nvSpPr>
        <p:spPr>
          <a:xfrm>
            <a:off x="3794760" y="347472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qualité : exemple</a:t>
            </a:r>
            <a:endParaRPr lang="fr-FR" sz="700" noProof="0" dirty="0"/>
          </a:p>
        </p:txBody>
      </p:sp>
      <p:sp>
        <p:nvSpPr>
          <p:cNvPr id="48" name="Text 46"/>
          <p:cNvSpPr/>
          <p:nvPr/>
        </p:nvSpPr>
        <p:spPr>
          <a:xfrm>
            <a:off x="3794760" y="367588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clean_text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plein de balises HTML et de formules de politesse</a:t>
            </a:r>
            <a:endParaRPr lang="fr-FR" sz="800" noProof="0" dirty="0"/>
          </a:p>
        </p:txBody>
      </p:sp>
      <p:sp>
        <p:nvSpPr>
          <p:cNvPr id="49" name="Shape 47"/>
          <p:cNvSpPr/>
          <p:nvPr/>
        </p:nvSpPr>
        <p:spPr>
          <a:xfrm>
            <a:off x="3776472" y="4041648"/>
            <a:ext cx="1536192" cy="18288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0" name="Text 48"/>
          <p:cNvSpPr/>
          <p:nvPr/>
        </p:nvSpPr>
        <p:spPr>
          <a:xfrm>
            <a:off x="3794760" y="40507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RAG</a:t>
            </a:r>
            <a:endParaRPr lang="fr-FR" sz="700" noProof="0" dirty="0"/>
          </a:p>
        </p:txBody>
      </p:sp>
      <p:sp>
        <p:nvSpPr>
          <p:cNvPr id="51" name="Text 49"/>
          <p:cNvSpPr/>
          <p:nvPr/>
        </p:nvSpPr>
        <p:spPr>
          <a:xfrm>
            <a:off x="3794760" y="425196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vectorise le bruit -&gt;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similarites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faussees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mauvais voisins</a:t>
            </a:r>
            <a:endParaRPr lang="fr-FR" sz="800" noProof="0" dirty="0"/>
          </a:p>
        </p:txBody>
      </p:sp>
      <p:sp>
        <p:nvSpPr>
          <p:cNvPr id="52" name="Text 50"/>
          <p:cNvSpPr/>
          <p:nvPr/>
        </p:nvSpPr>
        <p:spPr>
          <a:xfrm>
            <a:off x="3794760" y="468172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75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</a:t>
            </a:r>
            <a:r>
              <a:rPr lang="fr-FR" sz="750" b="1" noProof="0" dirty="0" err="1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</a:t>
            </a:r>
            <a:r>
              <a:rPr lang="fr-FR" sz="75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=True + filtre </a:t>
            </a:r>
            <a:r>
              <a:rPr lang="fr-FR" sz="750" b="1" noProof="0" dirty="0" err="1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looks_like_conversational_noise</a:t>
            </a:r>
            <a:r>
              <a:rPr lang="fr-FR" sz="75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fr-FR" sz="750" noProof="0" dirty="0"/>
          </a:p>
        </p:txBody>
      </p:sp>
      <p:sp>
        <p:nvSpPr>
          <p:cNvPr id="53" name="Shape 51"/>
          <p:cNvSpPr/>
          <p:nvPr/>
        </p:nvSpPr>
        <p:spPr>
          <a:xfrm>
            <a:off x="5468112" y="2304288"/>
            <a:ext cx="166420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4" name="Shape 52"/>
          <p:cNvSpPr/>
          <p:nvPr/>
        </p:nvSpPr>
        <p:spPr>
          <a:xfrm>
            <a:off x="5468112" y="2304288"/>
            <a:ext cx="1664208" cy="43891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5" name="Text 53"/>
          <p:cNvSpPr/>
          <p:nvPr/>
        </p:nvSpPr>
        <p:spPr>
          <a:xfrm>
            <a:off x="5468112" y="23225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fr-FR" sz="1800" noProof="0" dirty="0"/>
          </a:p>
        </p:txBody>
      </p:sp>
      <p:sp>
        <p:nvSpPr>
          <p:cNvPr id="56" name="Text 54"/>
          <p:cNvSpPr/>
          <p:nvPr/>
        </p:nvSpPr>
        <p:spPr>
          <a:xfrm>
            <a:off x="5815584" y="238658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Cohérente</a:t>
            </a:r>
            <a:endParaRPr lang="fr-FR" sz="1300" noProof="0" dirty="0"/>
          </a:p>
        </p:txBody>
      </p:sp>
      <p:sp>
        <p:nvSpPr>
          <p:cNvPr id="57" name="Shape 55"/>
          <p:cNvSpPr/>
          <p:nvPr/>
        </p:nvSpPr>
        <p:spPr>
          <a:xfrm>
            <a:off x="5532120" y="2807208"/>
            <a:ext cx="1536192" cy="18288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8" name="Text 56"/>
          <p:cNvSpPr/>
          <p:nvPr/>
        </p:nvSpPr>
        <p:spPr>
          <a:xfrm>
            <a:off x="5550408" y="281635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ca veut dire</a:t>
            </a:r>
            <a:endParaRPr lang="fr-FR" sz="700" noProof="0" dirty="0"/>
          </a:p>
        </p:txBody>
      </p:sp>
      <p:sp>
        <p:nvSpPr>
          <p:cNvPr id="59" name="Text 57"/>
          <p:cNvSpPr/>
          <p:nvPr/>
        </p:nvSpPr>
        <p:spPr>
          <a:xfrm>
            <a:off x="5550408" y="3008376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métadonnées sont alignées : component,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layer compatibles entre eux</a:t>
            </a:r>
            <a:endParaRPr lang="fr-FR" sz="800" noProof="0" dirty="0"/>
          </a:p>
        </p:txBody>
      </p:sp>
      <p:sp>
        <p:nvSpPr>
          <p:cNvPr id="60" name="Shape 58"/>
          <p:cNvSpPr/>
          <p:nvPr/>
        </p:nvSpPr>
        <p:spPr>
          <a:xfrm>
            <a:off x="5532120" y="3465576"/>
            <a:ext cx="1536192" cy="182880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1" name="Text 59"/>
          <p:cNvSpPr/>
          <p:nvPr/>
        </p:nvSpPr>
        <p:spPr>
          <a:xfrm>
            <a:off x="5550408" y="347472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qualité : exemple</a:t>
            </a:r>
            <a:endParaRPr lang="fr-FR" sz="700" noProof="0" dirty="0"/>
          </a:p>
        </p:txBody>
      </p:sp>
      <p:sp>
        <p:nvSpPr>
          <p:cNvPr id="62" name="Text 60"/>
          <p:cNvSpPr/>
          <p:nvPr/>
        </p:nvSpPr>
        <p:spPr>
          <a:xfrm>
            <a:off x="5550408" y="367588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component=SPI mais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sans périphérique SPI</a:t>
            </a:r>
            <a:endParaRPr lang="fr-FR" sz="800" noProof="0" dirty="0"/>
          </a:p>
        </p:txBody>
      </p:sp>
      <p:sp>
        <p:nvSpPr>
          <p:cNvPr id="63" name="Shape 61"/>
          <p:cNvSpPr/>
          <p:nvPr/>
        </p:nvSpPr>
        <p:spPr>
          <a:xfrm>
            <a:off x="5532120" y="4041648"/>
            <a:ext cx="1536192" cy="18288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4" name="Text 62"/>
          <p:cNvSpPr/>
          <p:nvPr/>
        </p:nvSpPr>
        <p:spPr>
          <a:xfrm>
            <a:off x="5550408" y="40507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RAG</a:t>
            </a:r>
            <a:endParaRPr lang="fr-FR" sz="700" noProof="0" dirty="0"/>
          </a:p>
        </p:txBody>
      </p:sp>
      <p:sp>
        <p:nvSpPr>
          <p:cNvPr id="65" name="Text 63"/>
          <p:cNvSpPr/>
          <p:nvPr/>
        </p:nvSpPr>
        <p:spPr>
          <a:xfrm>
            <a:off x="5550408" y="425196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debug_checks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incohérents avec le vrai setup hardware</a:t>
            </a:r>
            <a:endParaRPr lang="fr-FR" sz="800" noProof="0" dirty="0"/>
          </a:p>
        </p:txBody>
      </p:sp>
      <p:sp>
        <p:nvSpPr>
          <p:cNvPr id="66" name="Text 64"/>
          <p:cNvSpPr/>
          <p:nvPr/>
        </p:nvSpPr>
        <p:spPr>
          <a:xfrm>
            <a:off x="5550408" y="468172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750" b="1" noProof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Stats V2 : vérification croisée </a:t>
            </a:r>
            <a:r>
              <a:rPr lang="fr-FR" sz="750" b="1" noProof="0" dirty="0" err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r>
              <a:rPr lang="fr-FR" sz="750" b="1" noProof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component</a:t>
            </a:r>
            <a:endParaRPr lang="fr-FR" sz="750" noProof="0" dirty="0"/>
          </a:p>
        </p:txBody>
      </p:sp>
      <p:sp>
        <p:nvSpPr>
          <p:cNvPr id="67" name="Shape 65"/>
          <p:cNvSpPr/>
          <p:nvPr/>
        </p:nvSpPr>
        <p:spPr>
          <a:xfrm>
            <a:off x="7223760" y="2304288"/>
            <a:ext cx="166420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8" name="Shape 66"/>
          <p:cNvSpPr/>
          <p:nvPr/>
        </p:nvSpPr>
        <p:spPr>
          <a:xfrm>
            <a:off x="7223760" y="2304288"/>
            <a:ext cx="1664208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9" name="Text 67"/>
          <p:cNvSpPr/>
          <p:nvPr/>
        </p:nvSpPr>
        <p:spPr>
          <a:xfrm>
            <a:off x="7223760" y="23225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fr-FR" sz="1800" noProof="0" dirty="0"/>
          </a:p>
        </p:txBody>
      </p:sp>
      <p:sp>
        <p:nvSpPr>
          <p:cNvPr id="70" name="Text 68"/>
          <p:cNvSpPr/>
          <p:nvPr/>
        </p:nvSpPr>
        <p:spPr>
          <a:xfrm>
            <a:off x="7571232" y="238658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Exploitable</a:t>
            </a:r>
            <a:endParaRPr lang="fr-FR" sz="1300" noProof="0" dirty="0"/>
          </a:p>
        </p:txBody>
      </p:sp>
      <p:sp>
        <p:nvSpPr>
          <p:cNvPr id="71" name="Shape 69"/>
          <p:cNvSpPr/>
          <p:nvPr/>
        </p:nvSpPr>
        <p:spPr>
          <a:xfrm>
            <a:off x="7287768" y="2807208"/>
            <a:ext cx="1536192" cy="18288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2" name="Text 70"/>
          <p:cNvSpPr/>
          <p:nvPr/>
        </p:nvSpPr>
        <p:spPr>
          <a:xfrm>
            <a:off x="7306056" y="281635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ca veut dire</a:t>
            </a:r>
            <a:endParaRPr lang="fr-FR" sz="700" noProof="0" dirty="0"/>
          </a:p>
        </p:txBody>
      </p:sp>
      <p:sp>
        <p:nvSpPr>
          <p:cNvPr id="73" name="Text 71"/>
          <p:cNvSpPr/>
          <p:nvPr/>
        </p:nvSpPr>
        <p:spPr>
          <a:xfrm>
            <a:off x="7306056" y="3008376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Densité technique suffisante : nom de fonction, périphérique, symptôme identifiable</a:t>
            </a:r>
            <a:endParaRPr lang="fr-FR" sz="800" noProof="0" dirty="0"/>
          </a:p>
        </p:txBody>
      </p:sp>
      <p:sp>
        <p:nvSpPr>
          <p:cNvPr id="74" name="Shape 72"/>
          <p:cNvSpPr/>
          <p:nvPr/>
        </p:nvSpPr>
        <p:spPr>
          <a:xfrm>
            <a:off x="7287768" y="3465576"/>
            <a:ext cx="1536192" cy="182880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5" name="Text 73"/>
          <p:cNvSpPr/>
          <p:nvPr/>
        </p:nvSpPr>
        <p:spPr>
          <a:xfrm>
            <a:off x="7306056" y="347472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qualité : exemple</a:t>
            </a:r>
            <a:endParaRPr lang="fr-FR" sz="700" noProof="0" dirty="0"/>
          </a:p>
        </p:txBody>
      </p:sp>
      <p:sp>
        <p:nvSpPr>
          <p:cNvPr id="76" name="Text 74"/>
          <p:cNvSpPr/>
          <p:nvPr/>
        </p:nvSpPr>
        <p:spPr>
          <a:xfrm>
            <a:off x="7306056" y="367588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de 3 mots sans aucun terme technique</a:t>
            </a:r>
            <a:endParaRPr lang="fr-FR" sz="800" noProof="0" dirty="0"/>
          </a:p>
        </p:txBody>
      </p:sp>
      <p:sp>
        <p:nvSpPr>
          <p:cNvPr id="77" name="Shape 75"/>
          <p:cNvSpPr/>
          <p:nvPr/>
        </p:nvSpPr>
        <p:spPr>
          <a:xfrm>
            <a:off x="7287768" y="4041648"/>
            <a:ext cx="1536192" cy="18288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8" name="Text 76"/>
          <p:cNvSpPr/>
          <p:nvPr/>
        </p:nvSpPr>
        <p:spPr>
          <a:xfrm>
            <a:off x="7306056" y="40507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RAG</a:t>
            </a:r>
            <a:endParaRPr lang="fr-FR" sz="700" noProof="0" dirty="0"/>
          </a:p>
        </p:txBody>
      </p:sp>
      <p:sp>
        <p:nvSpPr>
          <p:cNvPr id="79" name="Text 77"/>
          <p:cNvSpPr/>
          <p:nvPr/>
        </p:nvSpPr>
        <p:spPr>
          <a:xfrm>
            <a:off x="7306056" y="425196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TF-IDF trop bas -&gt; jamais retrouvée -&gt; invisible pour le RAG</a:t>
            </a:r>
            <a:endParaRPr lang="fr-FR" sz="800" noProof="0" dirty="0"/>
          </a:p>
        </p:txBody>
      </p:sp>
      <p:sp>
        <p:nvSpPr>
          <p:cNvPr id="80" name="Text 78"/>
          <p:cNvSpPr/>
          <p:nvPr/>
        </p:nvSpPr>
        <p:spPr>
          <a:xfrm>
            <a:off x="7306056" y="468172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75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</a:t>
            </a:r>
            <a:r>
              <a:rPr lang="fr-FR" sz="750" b="1" noProof="0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evidence_strength</a:t>
            </a:r>
            <a:r>
              <a:rPr lang="fr-FR" sz="75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fr-FR" sz="750" b="1" noProof="0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rescue_applied</a:t>
            </a:r>
            <a:r>
              <a:rPr lang="fr-FR" sz="75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les cas limites</a:t>
            </a:r>
            <a:endParaRPr lang="fr-FR" sz="7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Validation des schémas JSON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vérifie que les données ont la bonne structure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8686800" cy="960120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schéma JSON ? 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schéma JSON est un contrat qui décrit la structure attendue d'un fichier de données : quels champs doivent exister, leurs types, si certains sont obligatoires. La bibliothèque </a:t>
            </a:r>
            <a:r>
              <a:rPr lang="fr-FR" sz="1050" b="1" noProof="0" dirty="0" err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jsonschema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prend l'instance (le fichier de données réel) et le schéma, puis vérifie chaque règle. Si un champ obligatoire manque ou a le mauvais type →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ValidationError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Aucune erreur → données conformes.</a:t>
            </a:r>
            <a:endParaRPr lang="fr-FR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2066544" y="2116836"/>
            <a:ext cx="2240280" cy="10287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2066544" y="2121408"/>
            <a:ext cx="54864" cy="987552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2185416" y="2101465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docs_issues_v2</a:t>
            </a:r>
            <a:endParaRPr lang="fr-FR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2185416" y="2378386"/>
            <a:ext cx="2322576" cy="371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issue GitHub :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issue_number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issue_title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clean_text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layer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github_url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evidence_strength</a:t>
            </a:r>
            <a:endParaRPr lang="fr-FR" sz="950" noProof="0" dirty="0"/>
          </a:p>
        </p:txBody>
      </p:sp>
      <p:sp>
        <p:nvSpPr>
          <p:cNvPr id="14" name="Shape 12"/>
          <p:cNvSpPr/>
          <p:nvPr/>
        </p:nvSpPr>
        <p:spPr>
          <a:xfrm>
            <a:off x="4443984" y="2121408"/>
            <a:ext cx="224028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4443984" y="2121408"/>
            <a:ext cx="54864" cy="987552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0" y="215798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docs_files_v2</a:t>
            </a:r>
            <a:endParaRPr lang="fr-FR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4562856" y="245059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fichier du repo :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file_type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clean_text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example_name</a:t>
            </a:r>
            <a:endParaRPr lang="fr-FR" sz="950" noProof="0" dirty="0"/>
          </a:p>
        </p:txBody>
      </p:sp>
      <p:sp>
        <p:nvSpPr>
          <p:cNvPr id="18" name="Shape 16"/>
          <p:cNvSpPr/>
          <p:nvPr/>
        </p:nvSpPr>
        <p:spPr>
          <a:xfrm>
            <a:off x="2066544" y="3236976"/>
            <a:ext cx="224028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7"/>
          <p:cNvSpPr/>
          <p:nvPr/>
        </p:nvSpPr>
        <p:spPr>
          <a:xfrm>
            <a:off x="2066544" y="3236976"/>
            <a:ext cx="54864" cy="9875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2194560" y="3257471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chunks_issues_v2</a:t>
            </a:r>
            <a:endParaRPr lang="fr-FR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2194560" y="3550079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d'issues :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parent_id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child_text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chunk_type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issue_number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 héritées (layer…)</a:t>
            </a:r>
            <a:endParaRPr lang="fr-FR" sz="950" noProof="0" dirty="0"/>
          </a:p>
        </p:txBody>
      </p:sp>
      <p:sp>
        <p:nvSpPr>
          <p:cNvPr id="22" name="Shape 20"/>
          <p:cNvSpPr/>
          <p:nvPr/>
        </p:nvSpPr>
        <p:spPr>
          <a:xfrm>
            <a:off x="4443984" y="3236976"/>
            <a:ext cx="224028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1"/>
          <p:cNvSpPr/>
          <p:nvPr/>
        </p:nvSpPr>
        <p:spPr>
          <a:xfrm>
            <a:off x="4443984" y="3236976"/>
            <a:ext cx="54864" cy="9875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4572000" y="332841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chunks_files_v2</a:t>
            </a:r>
            <a:endParaRPr lang="fr-FR" sz="1100" noProof="0" dirty="0"/>
          </a:p>
        </p:txBody>
      </p:sp>
      <p:sp>
        <p:nvSpPr>
          <p:cNvPr id="25" name="Text 23"/>
          <p:cNvSpPr/>
          <p:nvPr/>
        </p:nvSpPr>
        <p:spPr>
          <a:xfrm>
            <a:off x="4572000" y="3621024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fichiers :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parent_id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child_text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chunk_type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file_type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fr-FR" sz="950" noProof="0" dirty="0"/>
          </a:p>
        </p:txBody>
      </p:sp>
      <p:sp>
        <p:nvSpPr>
          <p:cNvPr id="26" name="Shape 24"/>
          <p:cNvSpPr/>
          <p:nvPr/>
        </p:nvSpPr>
        <p:spPr>
          <a:xfrm>
            <a:off x="228600" y="4315968"/>
            <a:ext cx="8686800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365760" y="435254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Résultat : 4 fichiers validés, </a:t>
            </a:r>
            <a:r>
              <a:rPr lang="fr-FR" sz="11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rate &gt; 95%  </a:t>
            </a: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“All </a:t>
            </a:r>
            <a:r>
              <a:rPr lang="fr-FR" sz="11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validations </a:t>
            </a:r>
            <a:r>
              <a:rPr lang="fr-FR" sz="11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 ,  Si un champ obligatoire manque → </a:t>
            </a:r>
            <a:r>
              <a:rPr lang="fr-FR" sz="11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ValidationError</a:t>
            </a: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levée immédiatement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Statistiques des données enrichies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calcule les distributions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8686800" cy="658368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 ? 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Counter() parcourt chaque document JSON et incrémente un compteur par valeur de métadonnée. Aucun ML ici , c'est du comptage pur. Cela permet de valider que l'enrichissement (labélisation layer,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component…) est cohérent et équilibré avant de passer à l'indexation.</a:t>
            </a:r>
            <a:endParaRPr lang="fr-FR" sz="1050" noProof="0" dirty="0"/>
          </a:p>
        </p:txBody>
      </p:sp>
      <p:sp>
        <p:nvSpPr>
          <p:cNvPr id="8" name="Shape 6"/>
          <p:cNvSpPr/>
          <p:nvPr/>
        </p:nvSpPr>
        <p:spPr>
          <a:xfrm>
            <a:off x="228600" y="1810512"/>
            <a:ext cx="1645920" cy="914400"/>
          </a:xfrm>
          <a:prstGeom prst="rect">
            <a:avLst/>
          </a:prstGeom>
          <a:solidFill>
            <a:srgbClr val="1E5FA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228600" y="188366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</a:t>
            </a:r>
            <a:endParaRPr lang="fr-FR" sz="2800" noProof="0" dirty="0"/>
          </a:p>
        </p:txBody>
      </p:sp>
      <p:sp>
        <p:nvSpPr>
          <p:cNvPr id="10" name="Text 8"/>
          <p:cNvSpPr/>
          <p:nvPr/>
        </p:nvSpPr>
        <p:spPr>
          <a:xfrm>
            <a:off x="228600" y="234086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valides</a:t>
            </a:r>
            <a:endParaRPr lang="fr-FR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2441448" y="1810512"/>
            <a:ext cx="164592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2441448" y="188366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4 707</a:t>
            </a:r>
            <a:endParaRPr lang="fr-FR" sz="2800" noProof="0" dirty="0"/>
          </a:p>
        </p:txBody>
      </p:sp>
      <p:sp>
        <p:nvSpPr>
          <p:cNvPr id="13" name="Text 11"/>
          <p:cNvSpPr/>
          <p:nvPr/>
        </p:nvSpPr>
        <p:spPr>
          <a:xfrm>
            <a:off x="2441448" y="234086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valides</a:t>
            </a:r>
            <a:endParaRPr lang="fr-FR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4654296" y="1810512"/>
            <a:ext cx="164592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4654296" y="188366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</a:t>
            </a:r>
            <a:endParaRPr lang="fr-FR" sz="2800" noProof="0" dirty="0"/>
          </a:p>
        </p:txBody>
      </p:sp>
      <p:sp>
        <p:nvSpPr>
          <p:cNvPr id="16" name="Text 14"/>
          <p:cNvSpPr/>
          <p:nvPr/>
        </p:nvSpPr>
        <p:spPr>
          <a:xfrm>
            <a:off x="4654296" y="234086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</a:t>
            </a:r>
            <a:r>
              <a:rPr lang="fr-FR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rate</a:t>
            </a:r>
            <a:endParaRPr lang="fr-FR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6867144" y="1810512"/>
            <a:ext cx="1645920" cy="914400"/>
          </a:xfrm>
          <a:prstGeom prst="rect">
            <a:avLst/>
          </a:prstGeom>
          <a:solidFill>
            <a:srgbClr val="E07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6867144" y="197510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schémas</a:t>
            </a:r>
            <a:endParaRPr lang="fr-FR" sz="2400" noProof="0" dirty="0"/>
          </a:p>
        </p:txBody>
      </p:sp>
      <p:sp>
        <p:nvSpPr>
          <p:cNvPr id="19" name="Text 17"/>
          <p:cNvSpPr/>
          <p:nvPr/>
        </p:nvSpPr>
        <p:spPr>
          <a:xfrm>
            <a:off x="6867144" y="24094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métadonnées/doc</a:t>
            </a:r>
            <a:endParaRPr lang="fr-FR" sz="900" noProof="0" dirty="0"/>
          </a:p>
        </p:txBody>
      </p:sp>
      <p:sp>
        <p:nvSpPr>
          <p:cNvPr id="20" name="Shape 18"/>
          <p:cNvSpPr/>
          <p:nvPr/>
        </p:nvSpPr>
        <p:spPr>
          <a:xfrm>
            <a:off x="228600" y="2816352"/>
            <a:ext cx="4206240" cy="347472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228600" y="281635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V2 — STM32CubeH7</a:t>
            </a:r>
            <a:endParaRPr lang="fr-FR" sz="1200" noProof="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762412"/>
              </p:ext>
            </p:extLst>
          </p:nvPr>
        </p:nvGraphicFramePr>
        <p:xfrm>
          <a:off x="228600" y="3163824"/>
          <a:ext cx="4206240" cy="17830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Valeurs observées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HAL_Driver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BSP, Middlewares, CMSIS,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Projects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high, medium,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info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bug_report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question,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feature_request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config_error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boards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NUCLEO-H743ZI, STM32H743I-EVAL, custom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components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DMA, UART, SPI, I2C, ADC, USB, FDCAN, LWIP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709160" y="2816352"/>
            <a:ext cx="420624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1"/>
          <p:cNvSpPr/>
          <p:nvPr/>
        </p:nvSpPr>
        <p:spPr>
          <a:xfrm>
            <a:off x="4709160" y="281635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V2 — STM32CubeH7</a:t>
            </a:r>
            <a:endParaRPr lang="fr-FR" sz="1200" noProof="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846504"/>
              </p:ext>
            </p:extLst>
          </p:nvPr>
        </p:nvGraphicFramePr>
        <p:xfrm>
          <a:off x="4709160" y="3163824"/>
          <a:ext cx="4206240" cy="17830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Valeurs observées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types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release_notes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src_c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src_h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boards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NUCLEO-H743ZI, STM32H743I-EVAL, NUCLEO-H753ZI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components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HAL, DMA, SPI, UART, FDCAN, USB, ADC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 sources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4 733 total → 4 707 valides (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is_valid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=True)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is_valid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is_valid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=True si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clean_text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non vide &amp; bien formé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Similarité TF-IDF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 err="1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</a:t>
            </a: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100" noProof="0" dirty="0" err="1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TfidfVectorizer</a:t>
            </a: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fr-FR" sz="1100" noProof="0" dirty="0" err="1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cosine_similarity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425196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4251960" cy="347472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320040" y="113385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TF(t, d)</a:t>
            </a:r>
            <a:endParaRPr lang="fr-FR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320040" y="1481328"/>
            <a:ext cx="4069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= Terme Fréquence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nb occurrences du terme t dans le document d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divisé par la longueur totale du doc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mesure l'importance locale du terme</a:t>
            </a:r>
            <a:endParaRPr lang="fr-FR" sz="950" noProof="0" dirty="0"/>
          </a:p>
        </p:txBody>
      </p:sp>
      <p:sp>
        <p:nvSpPr>
          <p:cNvPr id="10" name="Shape 8"/>
          <p:cNvSpPr/>
          <p:nvPr/>
        </p:nvSpPr>
        <p:spPr>
          <a:xfrm>
            <a:off x="4690872" y="1078992"/>
            <a:ext cx="425196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4690872" y="1078992"/>
            <a:ext cx="4251960" cy="347472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4782312" y="113385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IDF(t)</a:t>
            </a:r>
            <a:endParaRPr lang="fr-FR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4782312" y="1481328"/>
            <a:ext cx="4069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 = Inverse Document Fréquence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log( N /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(t) )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nb total de documents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(t) = nb de docs contenant t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pénalise les termes trop fréquents ("the", "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")</a:t>
            </a:r>
            <a:endParaRPr lang="fr-FR" sz="950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340864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228600" y="2340864"/>
            <a:ext cx="425196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320040" y="23957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TF-IDF(</a:t>
            </a:r>
            <a:r>
              <a:rPr lang="fr-FR" sz="1300" b="1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t,d</a:t>
            </a:r>
            <a:r>
              <a:rPr lang="fr-FR" sz="13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fr-FR" sz="1300" noProof="0" dirty="0"/>
          </a:p>
        </p:txBody>
      </p:sp>
      <p:sp>
        <p:nvSpPr>
          <p:cNvPr id="17" name="Text 15"/>
          <p:cNvSpPr/>
          <p:nvPr/>
        </p:nvSpPr>
        <p:spPr>
          <a:xfrm>
            <a:off x="320040" y="2743200"/>
            <a:ext cx="4069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= TF(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t,d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× IDF(t)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Score élevé si t est fréquent dans d</a:t>
            </a:r>
            <a:r>
              <a:rPr lang="fr-FR" sz="950" noProof="0" dirty="0"/>
              <a:t> 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rare dans le reste du corpus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Discriminant pour ce document</a:t>
            </a:r>
            <a:endParaRPr lang="fr-FR" sz="950" noProof="0" dirty="0"/>
          </a:p>
        </p:txBody>
      </p:sp>
      <p:sp>
        <p:nvSpPr>
          <p:cNvPr id="18" name="Shape 16"/>
          <p:cNvSpPr/>
          <p:nvPr/>
        </p:nvSpPr>
        <p:spPr>
          <a:xfrm>
            <a:off x="4690872" y="2340864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7"/>
          <p:cNvSpPr/>
          <p:nvPr/>
        </p:nvSpPr>
        <p:spPr>
          <a:xfrm>
            <a:off x="4690872" y="2340864"/>
            <a:ext cx="4251960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4782312" y="249859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5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 Sim : </a:t>
            </a:r>
            <a:r>
              <a:rPr lang="fr-FR" sz="1050" noProof="0" dirty="0">
                <a:solidFill>
                  <a:schemeClr val="bg1"/>
                </a:solidFill>
              </a:rPr>
              <a:t>Elle mesure </a:t>
            </a:r>
            <a:r>
              <a:rPr lang="fr-FR" sz="1050" b="1" noProof="0" dirty="0">
                <a:solidFill>
                  <a:schemeClr val="bg1"/>
                </a:solidFill>
              </a:rPr>
              <a:t>à quel point deux vecteurs A et B se ressemblent</a:t>
            </a:r>
            <a:r>
              <a:rPr lang="fr-FR" sz="1050" noProof="0" dirty="0">
                <a:solidFill>
                  <a:schemeClr val="bg1"/>
                </a:solidFill>
              </a:rPr>
              <a:t>, en regardant </a:t>
            </a:r>
            <a:r>
              <a:rPr lang="fr-FR" sz="1050" b="1" noProof="0" dirty="0">
                <a:solidFill>
                  <a:schemeClr val="bg1"/>
                </a:solidFill>
              </a:rPr>
              <a:t>l’angle</a:t>
            </a:r>
            <a:r>
              <a:rPr lang="fr-FR" sz="1050" noProof="0" dirty="0">
                <a:solidFill>
                  <a:schemeClr val="bg1"/>
                </a:solidFill>
              </a:rPr>
              <a:t> entre eux.</a:t>
            </a:r>
          </a:p>
          <a:p>
            <a:pPr marL="0" indent="0">
              <a:buNone/>
            </a:pPr>
            <a:endParaRPr lang="fr-FR" sz="1050" noProof="0" dirty="0"/>
          </a:p>
        </p:txBody>
      </p:sp>
      <p:sp>
        <p:nvSpPr>
          <p:cNvPr id="21" name="Text 19"/>
          <p:cNvSpPr/>
          <p:nvPr/>
        </p:nvSpPr>
        <p:spPr>
          <a:xfrm>
            <a:off x="4800600" y="2820924"/>
            <a:ext cx="4069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(A,B) = (A·B) / (‖A‖ × ‖B‖)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∈ [0, 1]  ,   1 = vecteurs identiques , 0 = documents très différents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Compare la direction (pas la norme)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Indépendant de la longueur du doc</a:t>
            </a:r>
            <a:endParaRPr lang="fr-FR" sz="950" noProof="0" dirty="0"/>
          </a:p>
        </p:txBody>
      </p:sp>
      <p:sp>
        <p:nvSpPr>
          <p:cNvPr id="22" name="Shape 20"/>
          <p:cNvSpPr/>
          <p:nvPr/>
        </p:nvSpPr>
        <p:spPr>
          <a:xfrm>
            <a:off x="228600" y="3639311"/>
            <a:ext cx="4251960" cy="1394459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320040" y="367588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choisis</a:t>
            </a:r>
            <a:endParaRPr lang="fr-FR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320040" y="3986784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b="1" noProof="0" dirty="0" err="1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max_features</a:t>
            </a:r>
            <a:r>
              <a:rPr lang="fr-FR" sz="950" b="1" noProof="0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5 000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 garde les 5000 termes les plus fréquents
</a:t>
            </a:r>
            <a:r>
              <a:rPr lang="fr-FR" sz="950" b="1" noProof="0" dirty="0" err="1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min_sim</a:t>
            </a:r>
            <a:r>
              <a:rPr lang="fr-FR" sz="950" b="1" noProof="0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0.40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Seuil empirique : en dessous, la similarité est du bruit (issues sans lien)
</a:t>
            </a:r>
            <a:r>
              <a:rPr lang="fr-FR" sz="950" b="1" noProof="0" dirty="0" err="1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top_k</a:t>
            </a:r>
            <a:r>
              <a:rPr lang="fr-FR" sz="950" b="1" noProof="0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3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3 voisins max par issue, suffisant pour enrichir le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RAG sans surcharger</a:t>
            </a:r>
            <a:endParaRPr lang="fr-FR" sz="950" noProof="0" dirty="0"/>
          </a:p>
        </p:txBody>
      </p:sp>
      <p:sp>
        <p:nvSpPr>
          <p:cNvPr id="25" name="Shape 23"/>
          <p:cNvSpPr/>
          <p:nvPr/>
        </p:nvSpPr>
        <p:spPr>
          <a:xfrm>
            <a:off x="4709160" y="3639312"/>
            <a:ext cx="4206240" cy="1394460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4782312" y="36027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TF-IDF et pas </a:t>
            </a:r>
            <a:r>
              <a:rPr lang="fr-FR" sz="1200" b="1" noProof="0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r>
              <a:rPr lang="fr-FR" sz="120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?</a:t>
            </a:r>
            <a:endParaRPr lang="fr-FR" sz="1200" noProof="0" dirty="0"/>
          </a:p>
        </p:txBody>
      </p:sp>
      <p:sp>
        <p:nvSpPr>
          <p:cNvPr id="27" name="Text 25"/>
          <p:cNvSpPr/>
          <p:nvPr/>
        </p:nvSpPr>
        <p:spPr>
          <a:xfrm>
            <a:off x="4800600" y="3895344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d'accès aux modèles d'</a:t>
            </a:r>
            <a:r>
              <a:rPr lang="fr-FR" sz="950" b="1" noProof="0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r>
              <a:rPr lang="fr-FR" sz="95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indisponibles en environnement ST). TF-IDF a été testé comme alternative :
</a:t>
            </a:r>
            <a:r>
              <a:rPr lang="fr-FR" sz="95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Déterministe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même corpus → même résultat
</a:t>
            </a:r>
            <a:r>
              <a:rPr lang="fr-FR" sz="95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Offline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aucun appel API, rapide
</a:t>
            </a:r>
            <a:r>
              <a:rPr lang="fr-FR" sz="95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Interprétable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score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directement lisible
</a:t>
            </a:r>
            <a:r>
              <a:rPr lang="fr-FR" sz="95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Adapté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vocabulaire technique STM32 stable (HAL_, DMA…)</a:t>
            </a:r>
            <a:endParaRPr lang="fr-FR" sz="95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Similarité TF-IDF — Pipeline &amp; Complexité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qu'une issue valide ? 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8686800" cy="749808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Qu'est-ce qu'une issue valide ? </a:t>
            </a:r>
            <a:r>
              <a:rPr lang="fr-F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issue est valide (</a:t>
            </a:r>
            <a:r>
              <a:rPr lang="fr-FR" sz="1000" b="1" noProof="0" dirty="0" err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is_valid</a:t>
            </a:r>
            <a:r>
              <a:rPr lang="fr-FR" sz="1000" b="1" noProof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True</a:t>
            </a:r>
            <a:r>
              <a:rPr lang="fr-F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si elle possède un texte technique exploitable après nettoyage : </a:t>
            </a:r>
            <a:r>
              <a:rPr lang="fr-FR" sz="1000" b="1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clean_text</a:t>
            </a:r>
            <a:r>
              <a:rPr lang="fr-FR" sz="10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vide</a:t>
            </a:r>
            <a:r>
              <a:rPr lang="fr-F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pas de bruit pur ("Hi @user, </a:t>
            </a:r>
            <a:r>
              <a:rPr lang="fr-FR" sz="10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</a:t>
            </a:r>
            <a:r>
              <a:rPr lang="fr-F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"). Les issues filtrées (</a:t>
            </a:r>
            <a:r>
              <a:rPr lang="fr-FR" sz="10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</a:t>
            </a:r>
            <a:r>
              <a:rPr lang="fr-F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=False) correspondent à des tickets de politesse, des doublons vides, ou des issues sans contenu technique. Seules les issues valides sont vectorisées par TF-IDF.</a:t>
            </a:r>
            <a:endParaRPr lang="fr-FR" sz="1000" noProof="0" dirty="0"/>
          </a:p>
        </p:txBody>
      </p:sp>
      <p:sp>
        <p:nvSpPr>
          <p:cNvPr id="8" name="Shape 6"/>
          <p:cNvSpPr/>
          <p:nvPr/>
        </p:nvSpPr>
        <p:spPr>
          <a:xfrm>
            <a:off x="228600" y="1920240"/>
            <a:ext cx="1170432" cy="804672"/>
          </a:xfrm>
          <a:prstGeom prst="rect">
            <a:avLst/>
          </a:prstGeom>
          <a:solidFill>
            <a:srgbClr val="1E5FA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228600" y="192024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500" noProof="0" dirty="0"/>
          </a:p>
        </p:txBody>
      </p:sp>
      <p:sp>
        <p:nvSpPr>
          <p:cNvPr id="10" name="Text 8"/>
          <p:cNvSpPr/>
          <p:nvPr/>
        </p:nvSpPr>
        <p:spPr>
          <a:xfrm>
            <a:off x="228600" y="221284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JSON</a:t>
            </a:r>
            <a:endParaRPr lang="fr-FR" sz="850" noProof="0" dirty="0"/>
          </a:p>
        </p:txBody>
      </p:sp>
      <p:sp>
        <p:nvSpPr>
          <p:cNvPr id="11" name="Text 9"/>
          <p:cNvSpPr/>
          <p:nvPr/>
        </p:nvSpPr>
        <p:spPr>
          <a:xfrm>
            <a:off x="228600" y="274320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docs_issues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_*_v2.json</a:t>
            </a:r>
            <a:endParaRPr lang="fr-FR" sz="800" noProof="0" dirty="0"/>
          </a:p>
        </p:txBody>
      </p:sp>
      <p:sp>
        <p:nvSpPr>
          <p:cNvPr id="12" name="Shape 10"/>
          <p:cNvSpPr/>
          <p:nvPr/>
        </p:nvSpPr>
        <p:spPr>
          <a:xfrm>
            <a:off x="1399032" y="2322576"/>
            <a:ext cx="640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1463040" y="1920240"/>
            <a:ext cx="1170432" cy="804672"/>
          </a:xfrm>
          <a:prstGeom prst="rect">
            <a:avLst/>
          </a:prstGeom>
          <a:solidFill>
            <a:srgbClr val="1E5FA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1463040" y="192024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500" noProof="0" dirty="0"/>
          </a:p>
        </p:txBody>
      </p:sp>
      <p:sp>
        <p:nvSpPr>
          <p:cNvPr id="15" name="Text 13"/>
          <p:cNvSpPr/>
          <p:nvPr/>
        </p:nvSpPr>
        <p:spPr>
          <a:xfrm>
            <a:off x="1463040" y="221284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valides</a:t>
            </a:r>
            <a:endParaRPr lang="fr-FR" sz="850" noProof="0" dirty="0"/>
          </a:p>
        </p:txBody>
      </p:sp>
      <p:sp>
        <p:nvSpPr>
          <p:cNvPr id="16" name="Text 14"/>
          <p:cNvSpPr/>
          <p:nvPr/>
        </p:nvSpPr>
        <p:spPr>
          <a:xfrm>
            <a:off x="1463040" y="274320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True seulement</a:t>
            </a:r>
            <a:endParaRPr lang="fr-FR" sz="800" noProof="0" dirty="0"/>
          </a:p>
        </p:txBody>
      </p:sp>
      <p:sp>
        <p:nvSpPr>
          <p:cNvPr id="17" name="Shape 15"/>
          <p:cNvSpPr/>
          <p:nvPr/>
        </p:nvSpPr>
        <p:spPr>
          <a:xfrm>
            <a:off x="2633472" y="2322576"/>
            <a:ext cx="640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6"/>
          <p:cNvSpPr/>
          <p:nvPr/>
        </p:nvSpPr>
        <p:spPr>
          <a:xfrm>
            <a:off x="2697480" y="1920240"/>
            <a:ext cx="1170432" cy="804672"/>
          </a:xfrm>
          <a:prstGeom prst="rect">
            <a:avLst/>
          </a:prstGeom>
          <a:solidFill>
            <a:srgbClr val="1E5FA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/>
          <p:nvPr/>
        </p:nvSpPr>
        <p:spPr>
          <a:xfrm>
            <a:off x="2697480" y="192024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500" noProof="0" dirty="0"/>
          </a:p>
        </p:txBody>
      </p:sp>
      <p:sp>
        <p:nvSpPr>
          <p:cNvPr id="20" name="Text 18"/>
          <p:cNvSpPr/>
          <p:nvPr/>
        </p:nvSpPr>
        <p:spPr>
          <a:xfrm>
            <a:off x="2697480" y="221284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corpus</a:t>
            </a:r>
            <a:endParaRPr lang="fr-FR" sz="850" noProof="0" dirty="0"/>
          </a:p>
        </p:txBody>
      </p:sp>
      <p:sp>
        <p:nvSpPr>
          <p:cNvPr id="21" name="Text 19"/>
          <p:cNvSpPr/>
          <p:nvPr/>
        </p:nvSpPr>
        <p:spPr>
          <a:xfrm>
            <a:off x="2697480" y="274320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'\n' +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clean_text</a:t>
            </a:r>
            <a:endParaRPr lang="fr-FR" sz="800" noProof="0" dirty="0"/>
          </a:p>
        </p:txBody>
      </p:sp>
      <p:sp>
        <p:nvSpPr>
          <p:cNvPr id="22" name="Shape 20"/>
          <p:cNvSpPr/>
          <p:nvPr/>
        </p:nvSpPr>
        <p:spPr>
          <a:xfrm>
            <a:off x="3867912" y="2322576"/>
            <a:ext cx="640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1"/>
          <p:cNvSpPr/>
          <p:nvPr/>
        </p:nvSpPr>
        <p:spPr>
          <a:xfrm>
            <a:off x="3931920" y="1920240"/>
            <a:ext cx="1170432" cy="804672"/>
          </a:xfrm>
          <a:prstGeom prst="rect">
            <a:avLst/>
          </a:prstGeom>
          <a:solidFill>
            <a:srgbClr val="1E5FA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3931920" y="192024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fr-FR" sz="1500" noProof="0" dirty="0"/>
          </a:p>
        </p:txBody>
      </p:sp>
      <p:sp>
        <p:nvSpPr>
          <p:cNvPr id="25" name="Text 23"/>
          <p:cNvSpPr/>
          <p:nvPr/>
        </p:nvSpPr>
        <p:spPr>
          <a:xfrm>
            <a:off x="3931920" y="221284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matrix</a:t>
            </a:r>
            <a:endParaRPr lang="fr-FR" sz="850" noProof="0" dirty="0"/>
          </a:p>
        </p:txBody>
      </p:sp>
      <p:sp>
        <p:nvSpPr>
          <p:cNvPr id="26" name="Text 24"/>
          <p:cNvSpPr/>
          <p:nvPr/>
        </p:nvSpPr>
        <p:spPr>
          <a:xfrm>
            <a:off x="3931920" y="274320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fit_transform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</a:p>
          <a:p>
            <a:pPr marL="0" indent="0" algn="ctr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[N × 5000]</a:t>
            </a:r>
            <a:endParaRPr lang="fr-FR" sz="800" noProof="0" dirty="0"/>
          </a:p>
        </p:txBody>
      </p:sp>
      <p:sp>
        <p:nvSpPr>
          <p:cNvPr id="27" name="Shape 25"/>
          <p:cNvSpPr/>
          <p:nvPr/>
        </p:nvSpPr>
        <p:spPr>
          <a:xfrm>
            <a:off x="5102352" y="2322576"/>
            <a:ext cx="640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26"/>
          <p:cNvSpPr/>
          <p:nvPr/>
        </p:nvSpPr>
        <p:spPr>
          <a:xfrm>
            <a:off x="5166360" y="1920240"/>
            <a:ext cx="1170432" cy="804672"/>
          </a:xfrm>
          <a:prstGeom prst="rect">
            <a:avLst/>
          </a:prstGeom>
          <a:solidFill>
            <a:srgbClr val="1E5FA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7"/>
          <p:cNvSpPr/>
          <p:nvPr/>
        </p:nvSpPr>
        <p:spPr>
          <a:xfrm>
            <a:off x="5166360" y="192024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fr-FR" sz="1500" noProof="0" dirty="0"/>
          </a:p>
        </p:txBody>
      </p:sp>
      <p:sp>
        <p:nvSpPr>
          <p:cNvPr id="30" name="Text 28"/>
          <p:cNvSpPr/>
          <p:nvPr/>
        </p:nvSpPr>
        <p:spPr>
          <a:xfrm>
            <a:off x="5166360" y="221284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5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r>
              <a:rPr lang="fr-FR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matrix</a:t>
            </a:r>
            <a:endParaRPr lang="fr-FR" sz="850" noProof="0" dirty="0"/>
          </a:p>
        </p:txBody>
      </p:sp>
      <p:sp>
        <p:nvSpPr>
          <p:cNvPr id="31" name="Text 29"/>
          <p:cNvSpPr/>
          <p:nvPr/>
        </p:nvSpPr>
        <p:spPr>
          <a:xfrm>
            <a:off x="5166360" y="274320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cosine_similarity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(X) → [N × N]</a:t>
            </a:r>
            <a:endParaRPr lang="fr-FR" sz="800" noProof="0" dirty="0"/>
          </a:p>
        </p:txBody>
      </p:sp>
      <p:sp>
        <p:nvSpPr>
          <p:cNvPr id="32" name="Shape 30"/>
          <p:cNvSpPr/>
          <p:nvPr/>
        </p:nvSpPr>
        <p:spPr>
          <a:xfrm>
            <a:off x="6336792" y="2322576"/>
            <a:ext cx="640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31"/>
          <p:cNvSpPr/>
          <p:nvPr/>
        </p:nvSpPr>
        <p:spPr>
          <a:xfrm>
            <a:off x="6400800" y="1920240"/>
            <a:ext cx="1170432" cy="804672"/>
          </a:xfrm>
          <a:prstGeom prst="rect">
            <a:avLst/>
          </a:prstGeom>
          <a:solidFill>
            <a:srgbClr val="1E5FA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2"/>
          <p:cNvSpPr/>
          <p:nvPr/>
        </p:nvSpPr>
        <p:spPr>
          <a:xfrm>
            <a:off x="6400800" y="192024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fr-FR" sz="1500" noProof="0" dirty="0"/>
          </a:p>
        </p:txBody>
      </p:sp>
      <p:sp>
        <p:nvSpPr>
          <p:cNvPr id="35" name="Text 33"/>
          <p:cNvSpPr/>
          <p:nvPr/>
        </p:nvSpPr>
        <p:spPr>
          <a:xfrm>
            <a:off x="6400800" y="221284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Voisins</a:t>
            </a:r>
            <a:endParaRPr lang="fr-FR" sz="850" noProof="0" dirty="0"/>
          </a:p>
        </p:txBody>
      </p:sp>
      <p:sp>
        <p:nvSpPr>
          <p:cNvPr id="36" name="Text 34"/>
          <p:cNvSpPr/>
          <p:nvPr/>
        </p:nvSpPr>
        <p:spPr>
          <a:xfrm>
            <a:off x="6400800" y="274320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top_k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≥ 0.40</a:t>
            </a:r>
            <a:endParaRPr lang="fr-FR" sz="800" noProof="0" dirty="0"/>
          </a:p>
        </p:txBody>
      </p:sp>
      <p:sp>
        <p:nvSpPr>
          <p:cNvPr id="37" name="Shape 35"/>
          <p:cNvSpPr/>
          <p:nvPr/>
        </p:nvSpPr>
        <p:spPr>
          <a:xfrm>
            <a:off x="7571232" y="2322576"/>
            <a:ext cx="640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Shape 36"/>
          <p:cNvSpPr/>
          <p:nvPr/>
        </p:nvSpPr>
        <p:spPr>
          <a:xfrm>
            <a:off x="7635240" y="1920240"/>
            <a:ext cx="1170432" cy="804672"/>
          </a:xfrm>
          <a:prstGeom prst="rect">
            <a:avLst/>
          </a:prstGeom>
          <a:solidFill>
            <a:srgbClr val="1E5FA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37"/>
          <p:cNvSpPr/>
          <p:nvPr/>
        </p:nvSpPr>
        <p:spPr>
          <a:xfrm>
            <a:off x="7635240" y="192024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fr-FR" sz="1500" noProof="0" dirty="0"/>
          </a:p>
        </p:txBody>
      </p:sp>
      <p:sp>
        <p:nvSpPr>
          <p:cNvPr id="40" name="Text 38"/>
          <p:cNvSpPr/>
          <p:nvPr/>
        </p:nvSpPr>
        <p:spPr>
          <a:xfrm>
            <a:off x="7635240" y="221284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sortie</a:t>
            </a:r>
            <a:endParaRPr lang="fr-FR" sz="850" noProof="0" dirty="0"/>
          </a:p>
        </p:txBody>
      </p:sp>
      <p:sp>
        <p:nvSpPr>
          <p:cNvPr id="41" name="Text 39"/>
          <p:cNvSpPr/>
          <p:nvPr/>
        </p:nvSpPr>
        <p:spPr>
          <a:xfrm>
            <a:off x="7635240" y="274320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related_issue_ids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_v2_sim.json</a:t>
            </a:r>
            <a:endParaRPr lang="fr-FR" sz="800" noProof="0" dirty="0"/>
          </a:p>
        </p:txBody>
      </p:sp>
      <p:sp>
        <p:nvSpPr>
          <p:cNvPr id="46" name="Shape 43"/>
          <p:cNvSpPr/>
          <p:nvPr/>
        </p:nvSpPr>
        <p:spPr>
          <a:xfrm>
            <a:off x="2743201" y="3154680"/>
            <a:ext cx="42519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Shape 44"/>
          <p:cNvSpPr/>
          <p:nvPr/>
        </p:nvSpPr>
        <p:spPr>
          <a:xfrm>
            <a:off x="2743201" y="3154680"/>
            <a:ext cx="425196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Text 45"/>
          <p:cNvSpPr/>
          <p:nvPr/>
        </p:nvSpPr>
        <p:spPr>
          <a:xfrm>
            <a:off x="2834641" y="319125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produit : </a:t>
            </a:r>
            <a:r>
              <a:rPr lang="fr-FR" sz="13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related_issue_ids</a:t>
            </a:r>
            <a:endParaRPr lang="fr-FR" sz="1300" noProof="0" dirty="0"/>
          </a:p>
        </p:txBody>
      </p:sp>
      <p:sp>
        <p:nvSpPr>
          <p:cNvPr id="49" name="Shape 46"/>
          <p:cNvSpPr/>
          <p:nvPr/>
        </p:nvSpPr>
        <p:spPr>
          <a:xfrm>
            <a:off x="2743201" y="3502152"/>
            <a:ext cx="4251960" cy="1549908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0" name="Text 47"/>
          <p:cNvSpPr/>
          <p:nvPr/>
        </p:nvSpPr>
        <p:spPr>
          <a:xfrm>
            <a:off x="2788923" y="3570732"/>
            <a:ext cx="4251959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Extrait du JSON enrichi :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related_issue_ids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"stm32cubeh7::issue::487",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"stm32cubeh7::issue::312",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"stm32cubeh7::issue::201"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chaque issue connaît ses 3 plus</a:t>
            </a:r>
            <a:r>
              <a:rPr lang="fr-FR" sz="900" dirty="0"/>
              <a:t> 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proches voisins (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≥ 0.40)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injecté dans la KB → le RAG</a:t>
            </a:r>
            <a:r>
              <a:rPr lang="fr-FR" sz="900" dirty="0"/>
              <a:t> 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croise les issues similaires</a:t>
            </a:r>
            <a:endParaRPr lang="fr-FR" sz="9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Similarité TF-IDF — Pourquoi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min_sim</a:t>
            </a: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0.40 ?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seuil : empirique, justifié par la distribution des scores </a:t>
            </a:r>
            <a:r>
              <a:rPr lang="fr-FR" sz="1100" noProof="0" dirty="0" err="1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le corpus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8686800" cy="749808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n'existe pas de valeur universelle pour un seuil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0.40 est un seuil </a:t>
            </a:r>
            <a:r>
              <a:rPr lang="fr-FR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empirique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choisi après observation de la distribution réelle des scores sur le corpus STM32CubeH7. Sur du TF-IDF (contrairement aux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les scores sont naturellement plus bas car on compare des sacs de mots, pas du sens sémantique. Un score de 0.40 en TF-IDF représente déjà un fort chevauchement de vocabulaire technique.</a:t>
            </a:r>
            <a:endParaRPr lang="fr-FR" sz="1050" noProof="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1968625700"/>
              </p:ext>
            </p:extLst>
          </p:nvPr>
        </p:nvGraphicFramePr>
        <p:xfrm>
          <a:off x="228600" y="1901952"/>
          <a:ext cx="5303520" cy="2852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3218688" y="2212848"/>
            <a:ext cx="0" cy="1956816"/>
          </a:xfrm>
          <a:prstGeom prst="line">
            <a:avLst/>
          </a:prstGeom>
          <a:noFill/>
          <a:ln w="317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3360420" y="2347250"/>
            <a:ext cx="1463040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8"/>
          <p:cNvSpPr/>
          <p:nvPr/>
        </p:nvSpPr>
        <p:spPr>
          <a:xfrm>
            <a:off x="3589020" y="23865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</a:t>
            </a:r>
            <a:r>
              <a:rPr lang="fr-FR" sz="95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min_sim</a:t>
            </a:r>
            <a:r>
              <a:rPr lang="fr-FR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0.40</a:t>
            </a:r>
            <a:endParaRPr lang="fr-FR" sz="950" noProof="0" dirty="0"/>
          </a:p>
        </p:txBody>
      </p:sp>
      <p:sp>
        <p:nvSpPr>
          <p:cNvPr id="12" name="Shape 9"/>
          <p:cNvSpPr/>
          <p:nvPr/>
        </p:nvSpPr>
        <p:spPr>
          <a:xfrm>
            <a:off x="1389888" y="2363724"/>
            <a:ext cx="1691640" cy="30175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0"/>
          <p:cNvSpPr/>
          <p:nvPr/>
        </p:nvSpPr>
        <p:spPr>
          <a:xfrm>
            <a:off x="1389888" y="2363724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 — écarté</a:t>
            </a:r>
            <a:endParaRPr lang="fr-FR" sz="900" noProof="0" dirty="0"/>
          </a:p>
        </p:txBody>
      </p:sp>
      <p:sp>
        <p:nvSpPr>
          <p:cNvPr id="14" name="Shape 11"/>
          <p:cNvSpPr/>
          <p:nvPr/>
        </p:nvSpPr>
        <p:spPr>
          <a:xfrm>
            <a:off x="3589020" y="3427621"/>
            <a:ext cx="1828800" cy="3017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2"/>
          <p:cNvSpPr/>
          <p:nvPr/>
        </p:nvSpPr>
        <p:spPr>
          <a:xfrm>
            <a:off x="3589020" y="3427621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— conservé</a:t>
            </a:r>
            <a:endParaRPr lang="fr-FR" sz="900" noProof="0" dirty="0"/>
          </a:p>
        </p:txBody>
      </p:sp>
      <p:sp>
        <p:nvSpPr>
          <p:cNvPr id="16" name="Shape 13"/>
          <p:cNvSpPr/>
          <p:nvPr/>
        </p:nvSpPr>
        <p:spPr>
          <a:xfrm>
            <a:off x="5669280" y="1901952"/>
            <a:ext cx="3246120" cy="9235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4"/>
          <p:cNvSpPr/>
          <p:nvPr/>
        </p:nvSpPr>
        <p:spPr>
          <a:xfrm>
            <a:off x="5669280" y="1901952"/>
            <a:ext cx="3246120" cy="31089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5"/>
          <p:cNvSpPr/>
          <p:nvPr/>
        </p:nvSpPr>
        <p:spPr>
          <a:xfrm>
            <a:off x="5760720" y="193852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0.00 – 0.15  (~78% des paires)</a:t>
            </a:r>
            <a:endParaRPr lang="fr-FR" sz="1000" noProof="0" dirty="0"/>
          </a:p>
        </p:txBody>
      </p:sp>
      <p:sp>
        <p:nvSpPr>
          <p:cNvPr id="19" name="Text 16"/>
          <p:cNvSpPr/>
          <p:nvPr/>
        </p:nvSpPr>
        <p:spPr>
          <a:xfrm>
            <a:off x="5760720" y="22494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lien réel. Issues partageant juste des termes très génériques : "HAL", "</a:t>
            </a:r>
            <a:r>
              <a:rPr lang="fr-FR" sz="9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", "STM32". Score bas → bruit pur, écarté.</a:t>
            </a:r>
            <a:endParaRPr lang="fr-FR" sz="900" noProof="0" dirty="0"/>
          </a:p>
        </p:txBody>
      </p:sp>
      <p:sp>
        <p:nvSpPr>
          <p:cNvPr id="20" name="Shape 17"/>
          <p:cNvSpPr/>
          <p:nvPr/>
        </p:nvSpPr>
        <p:spPr>
          <a:xfrm>
            <a:off x="5669280" y="2880360"/>
            <a:ext cx="3246120" cy="9235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8"/>
          <p:cNvSpPr/>
          <p:nvPr/>
        </p:nvSpPr>
        <p:spPr>
          <a:xfrm>
            <a:off x="5669280" y="2880360"/>
            <a:ext cx="3246120" cy="310896"/>
          </a:xfrm>
          <a:prstGeom prst="rect">
            <a:avLst/>
          </a:prstGeom>
          <a:solidFill>
            <a:srgbClr val="E07B2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19"/>
          <p:cNvSpPr/>
          <p:nvPr/>
        </p:nvSpPr>
        <p:spPr>
          <a:xfrm>
            <a:off x="5760720" y="291693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0.15 – 0.40  (~17% des paires)</a:t>
            </a:r>
            <a:endParaRPr lang="fr-FR" sz="1000" noProof="0" dirty="0"/>
          </a:p>
        </p:txBody>
      </p:sp>
      <p:sp>
        <p:nvSpPr>
          <p:cNvPr id="23" name="Text 20"/>
          <p:cNvSpPr/>
          <p:nvPr/>
        </p:nvSpPr>
        <p:spPr>
          <a:xfrm>
            <a:off x="5760720" y="32278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domaine technique, mais pas le même problème. </a:t>
            </a:r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deux bugs SPI différents. Chevauchement lexical superficiel → trop vague pour être utile.</a:t>
            </a:r>
            <a:endParaRPr lang="fr-FR" sz="900" noProof="0" dirty="0"/>
          </a:p>
        </p:txBody>
      </p:sp>
      <p:sp>
        <p:nvSpPr>
          <p:cNvPr id="24" name="Shape 21"/>
          <p:cNvSpPr/>
          <p:nvPr/>
        </p:nvSpPr>
        <p:spPr>
          <a:xfrm>
            <a:off x="5669280" y="3858768"/>
            <a:ext cx="3246120" cy="9235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Shape 22"/>
          <p:cNvSpPr/>
          <p:nvPr/>
        </p:nvSpPr>
        <p:spPr>
          <a:xfrm>
            <a:off x="5669280" y="3858768"/>
            <a:ext cx="3246120" cy="3108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3"/>
          <p:cNvSpPr/>
          <p:nvPr/>
        </p:nvSpPr>
        <p:spPr>
          <a:xfrm>
            <a:off x="5760720" y="389534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0.40       (~5% des paires)</a:t>
            </a:r>
            <a:endParaRPr lang="fr-FR" sz="1000" noProof="0" dirty="0"/>
          </a:p>
        </p:txBody>
      </p:sp>
      <p:sp>
        <p:nvSpPr>
          <p:cNvPr id="27" name="Text 24"/>
          <p:cNvSpPr/>
          <p:nvPr/>
        </p:nvSpPr>
        <p:spPr>
          <a:xfrm>
            <a:off x="5760720" y="4206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réellement liées : même composant + même symptôme + vocabulaire technique commun.</a:t>
            </a:r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chevauchement → voisins conservés (</a:t>
            </a:r>
            <a:r>
              <a:rPr lang="fr-FR" sz="9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top_k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=3).</a:t>
            </a:r>
            <a:endParaRPr lang="fr-FR" sz="900" noProof="0" dirty="0"/>
          </a:p>
        </p:txBody>
      </p:sp>
      <p:sp>
        <p:nvSpPr>
          <p:cNvPr id="28" name="Shape 25"/>
          <p:cNvSpPr/>
          <p:nvPr/>
        </p:nvSpPr>
        <p:spPr>
          <a:xfrm>
            <a:off x="228600" y="4800600"/>
            <a:ext cx="8686800" cy="329184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6"/>
          <p:cNvSpPr/>
          <p:nvPr/>
        </p:nvSpPr>
        <p:spPr>
          <a:xfrm>
            <a:off x="365760" y="481888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des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(BERT, sentence-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les scores seraient naturellement plus élevés (0.7–0.9 pour des issues liées) car ils capturent le sens sémantique. TF-IDF compare des mots exacts → scores plus bas → seuil plus bas (0.40 au lieu de ~0.75).</a:t>
            </a:r>
            <a:endParaRPr lang="fr-FR" sz="95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Recherche TF-IDF Interactive — Validation Offline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 Comment ça fonctionne ?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399032"/>
            <a:ext cx="8686800" cy="713232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43560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d'uploader les données sur la plateforme ST, on veut valider </a:t>
            </a:r>
            <a:r>
              <a:rPr lang="fr-FR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le système de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retrouve des documents pertinents sur des requêtes réelles. On tape une question en langage naturel → le système renvoie les 5 issues ou fichiers les plus proches avec un score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 score &gt; 0.40 est considéré pertinent. C'est un test de qualité du pipeline d'indexation.</a:t>
            </a:r>
            <a:endParaRPr lang="fr-FR" sz="1050" noProof="0" dirty="0"/>
          </a:p>
        </p:txBody>
      </p:sp>
      <p:sp>
        <p:nvSpPr>
          <p:cNvPr id="8" name="Shape 6"/>
          <p:cNvSpPr/>
          <p:nvPr/>
        </p:nvSpPr>
        <p:spPr>
          <a:xfrm>
            <a:off x="228600" y="2194560"/>
            <a:ext cx="8686800" cy="347472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320040" y="223113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détaillé — même pipeline TF-IDF mais en mode requête interactive</a:t>
            </a:r>
            <a:endParaRPr lang="fr-FR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228600" y="2606040"/>
            <a:ext cx="4251960" cy="292608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228600" y="260604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Issues (</a:t>
            </a:r>
            <a:r>
              <a:rPr lang="fr-FR" sz="105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</a:t>
            </a:r>
            <a:r>
              <a:rPr lang="fr-FR" sz="10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=8 000)</a:t>
            </a:r>
            <a:endParaRPr lang="fr-FR" sz="1050" noProof="0" dirty="0"/>
          </a:p>
        </p:txBody>
      </p:sp>
      <p:sp>
        <p:nvSpPr>
          <p:cNvPr id="12" name="Shape 10"/>
          <p:cNvSpPr/>
          <p:nvPr/>
        </p:nvSpPr>
        <p:spPr>
          <a:xfrm>
            <a:off x="228600" y="2898648"/>
            <a:ext cx="4251960" cy="54864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493776" y="2542032"/>
            <a:ext cx="40325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fr-FR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953512"/>
            <a:ext cx="4251960" cy="1011386"/>
          </a:xfrm>
          <a:prstGeom prst="rect">
            <a:avLst/>
          </a:prstGeom>
          <a:solidFill>
            <a:srgbClr val="F0FDF4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320040" y="29900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0D9488"/>
                </a:solidFill>
              </a:rPr>
              <a:t>Exemple de sortie :</a:t>
            </a:r>
            <a:endParaRPr lang="fr-FR" sz="1000" noProof="0" dirty="0"/>
          </a:p>
        </p:txBody>
      </p:sp>
      <p:sp>
        <p:nvSpPr>
          <p:cNvPr id="16" name="Text 14"/>
          <p:cNvSpPr/>
          <p:nvPr/>
        </p:nvSpPr>
        <p:spPr>
          <a:xfrm>
            <a:off x="320040" y="326440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[score=0.623] #487 — DMA SPI issue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layer=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HAL_Driver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=high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component=SPI, 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=NUCLEO-H743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url=github.com/STM32CubeH7/issues/487</a:t>
            </a:r>
            <a:endParaRPr lang="fr-FR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4709160" y="2606040"/>
            <a:ext cx="4206240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4709160" y="2606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Fichiers (</a:t>
            </a:r>
            <a:r>
              <a:rPr lang="fr-FR" sz="105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</a:t>
            </a:r>
            <a:r>
              <a:rPr lang="fr-FR" sz="10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=8 000)</a:t>
            </a:r>
            <a:endParaRPr lang="fr-FR" sz="1050" noProof="0" dirty="0"/>
          </a:p>
        </p:txBody>
      </p:sp>
      <p:sp>
        <p:nvSpPr>
          <p:cNvPr id="19" name="Shape 17"/>
          <p:cNvSpPr/>
          <p:nvPr/>
        </p:nvSpPr>
        <p:spPr>
          <a:xfrm>
            <a:off x="4709160" y="2898648"/>
            <a:ext cx="4206240" cy="54864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4709160" y="2928498"/>
            <a:ext cx="3986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fr-FR" sz="900" noProof="0" dirty="0"/>
          </a:p>
        </p:txBody>
      </p:sp>
      <p:sp>
        <p:nvSpPr>
          <p:cNvPr id="21" name="Shape 19"/>
          <p:cNvSpPr/>
          <p:nvPr/>
        </p:nvSpPr>
        <p:spPr>
          <a:xfrm>
            <a:off x="4709160" y="2953511"/>
            <a:ext cx="4206240" cy="1011387"/>
          </a:xfrm>
          <a:prstGeom prst="rect">
            <a:avLst/>
          </a:prstGeom>
          <a:solidFill>
            <a:srgbClr val="F0FDF4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4800600" y="29900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0D9488"/>
                </a:solidFill>
              </a:rPr>
              <a:t>Exemple de sortie :</a:t>
            </a:r>
            <a:endParaRPr lang="fr-FR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4800600" y="32644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[score=0.541] 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release_notes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Drivers/STM32H7xx_HAL_Driver/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Release_Notes.html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excerpt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STM32H7 HAL v1.11...</a:t>
            </a:r>
            <a:endParaRPr lang="fr-FR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Delivery —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Cases : Besoin &amp; Définitions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 Qu'est-ce qu'un </a:t>
            </a:r>
            <a:r>
              <a:rPr lang="fr-FR" sz="1100" noProof="0" dirty="0" err="1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 ?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403154"/>
            <a:ext cx="8686800" cy="960120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43973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réel : 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ingénieurs ST reçoivent des questions techniques sur les bugs STM32. Pour répondre, ils ont besoin de savoir si un bug GitHub est déjà résolu : est-ce qu'une PR a été mergée ? Un commit de fix existe-t-il ? Un </a:t>
            </a:r>
            <a:r>
              <a:rPr lang="fr-FR" sz="1050" b="1" noProof="0" dirty="0" err="1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05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la réponse structurée à cette question : pour chaque issue GitHub, on crée une fiche qui indique le statut de résolution, les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liés, et les fichiers modifiés par le fix. Ces fiches sont injectées dans la Knowledge Base (KB) ST pour que le moteur RAG puisse citer les fixes lors d'une requête.</a:t>
            </a:r>
            <a:endParaRPr lang="fr-FR" sz="1050" noProof="0" dirty="0"/>
          </a:p>
        </p:txBody>
      </p:sp>
      <p:sp>
        <p:nvSpPr>
          <p:cNvPr id="8" name="Shape 6"/>
          <p:cNvSpPr/>
          <p:nvPr/>
        </p:nvSpPr>
        <p:spPr>
          <a:xfrm>
            <a:off x="228600" y="2445569"/>
            <a:ext cx="2834640" cy="1429387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228600" y="2445570"/>
            <a:ext cx="2834640" cy="402336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320040" y="248214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GitHub</a:t>
            </a:r>
            <a:endParaRPr lang="fr-FR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320040" y="290277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décrivant un bug ou comportement anormal sur STM32Cube (repo GitHub ST).</a:t>
            </a:r>
          </a:p>
          <a:p>
            <a:pPr marL="0" indent="0">
              <a:buNone/>
            </a:pPr>
            <a:endParaRPr lang="fr-FR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: titre, description technique, labels, état (open/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fr-FR" sz="1050" noProof="0" dirty="0"/>
          </a:p>
        </p:txBody>
      </p:sp>
      <p:sp>
        <p:nvSpPr>
          <p:cNvPr id="12" name="Shape 10"/>
          <p:cNvSpPr/>
          <p:nvPr/>
        </p:nvSpPr>
        <p:spPr>
          <a:xfrm>
            <a:off x="3200400" y="2445570"/>
            <a:ext cx="2834640" cy="1429387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3200400" y="2445570"/>
            <a:ext cx="2834640" cy="40233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3291840" y="248214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(Pull </a:t>
            </a:r>
            <a:r>
              <a:rPr lang="fr-FR" sz="13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fr-FR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3291840" y="290277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modification de code soumise sur GitHub. Si elle est mergée, elle constitue un fix officiel. </a:t>
            </a:r>
          </a:p>
          <a:p>
            <a:pPr marL="0" indent="0">
              <a:buNone/>
            </a:pP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 lit : titre, fichiers changés,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associés.</a:t>
            </a:r>
            <a:endParaRPr lang="fr-FR" sz="1050" noProof="0" dirty="0"/>
          </a:p>
        </p:txBody>
      </p:sp>
      <p:sp>
        <p:nvSpPr>
          <p:cNvPr id="16" name="Shape 14"/>
          <p:cNvSpPr/>
          <p:nvPr/>
        </p:nvSpPr>
        <p:spPr>
          <a:xfrm>
            <a:off x="6172200" y="2445569"/>
            <a:ext cx="2834640" cy="1446847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5"/>
          <p:cNvSpPr/>
          <p:nvPr/>
        </p:nvSpPr>
        <p:spPr>
          <a:xfrm>
            <a:off x="6172200" y="2445570"/>
            <a:ext cx="2834640" cy="402336"/>
          </a:xfrm>
          <a:prstGeom prst="rect">
            <a:avLst/>
          </a:prstGeom>
          <a:solidFill>
            <a:srgbClr val="E07B2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6263640" y="248214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</a:t>
            </a:r>
            <a:endParaRPr lang="fr-FR" sz="1300" noProof="0" dirty="0"/>
          </a:p>
        </p:txBody>
      </p:sp>
      <p:sp>
        <p:nvSpPr>
          <p:cNvPr id="19" name="Text 17"/>
          <p:cNvSpPr/>
          <p:nvPr/>
        </p:nvSpPr>
        <p:spPr>
          <a:xfrm>
            <a:off x="6263640" y="290277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structurée ST-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liant une issue à ses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fix. </a:t>
            </a:r>
          </a:p>
          <a:p>
            <a:pPr marL="0" indent="0">
              <a:buNone/>
            </a:pPr>
            <a:endParaRPr lang="fr-FR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: statut de résolution, niveau de confiance, fichiers impactés, texte prêt pour la KB.</a:t>
            </a:r>
            <a:endParaRPr lang="fr-FR" sz="1050" noProof="0" dirty="0"/>
          </a:p>
        </p:txBody>
      </p:sp>
      <p:sp>
        <p:nvSpPr>
          <p:cNvPr id="20" name="Shape 18"/>
          <p:cNvSpPr/>
          <p:nvPr/>
        </p:nvSpPr>
        <p:spPr>
          <a:xfrm>
            <a:off x="228600" y="4919472"/>
            <a:ext cx="8686800" cy="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fr-FR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Delivery —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Cases :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Équation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score est calculé, équation, </a:t>
            </a:r>
            <a:r>
              <a:rPr lang="fr-FR" sz="1100" noProof="0" dirty="0" err="1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match_rate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8686800" cy="1051560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Équation du </a:t>
            </a:r>
            <a:r>
              <a:rPr lang="fr-FR" sz="1300" b="1" noProof="0" dirty="0" err="1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link_score</a:t>
            </a:r>
            <a:endParaRPr lang="fr-F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200" b="1" noProof="0" dirty="0" err="1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link_score</a:t>
            </a:r>
            <a:r>
              <a:rPr lang="fr-FR" sz="1200" b="1" noProof="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PR mergée confirmée (+0.5) + commit lié (+0.2) + labels techniques correspondants (+0.15) + cohérence titre issue/PR (+0.15)
</a:t>
            </a:r>
            <a:r>
              <a:rPr lang="fr-FR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Score ∈ [0, 1]  calculé par la couche de liaison </a:t>
            </a:r>
            <a:r>
              <a:rPr lang="fr-FR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issue↔PR↔commit</a:t>
            </a:r>
            <a:r>
              <a:rPr lang="fr-FR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(étape </a:t>
            </a:r>
            <a:r>
              <a:rPr lang="fr-FR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r>
              <a:rPr lang="fr-FR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pipeline)</a:t>
            </a:r>
            <a:endParaRPr lang="fr-F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228600" y="2212848"/>
            <a:ext cx="2084832" cy="131673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8"/>
          <p:cNvSpPr/>
          <p:nvPr/>
        </p:nvSpPr>
        <p:spPr>
          <a:xfrm>
            <a:off x="228600" y="2212848"/>
            <a:ext cx="2084832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301752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merged_fix</a:t>
            </a:r>
            <a:endParaRPr lang="fr-FR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301752" y="2651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: 0.8 – 1.0</a:t>
            </a:r>
            <a:endParaRPr lang="fr-FR" sz="1050" noProof="0" dirty="0"/>
          </a:p>
        </p:txBody>
      </p:sp>
      <p:sp>
        <p:nvSpPr>
          <p:cNvPr id="13" name="Text 11"/>
          <p:cNvSpPr/>
          <p:nvPr/>
        </p:nvSpPr>
        <p:spPr>
          <a:xfrm>
            <a:off x="301752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mergée + commit confirmé.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intégré en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mainline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Recommandation principale.</a:t>
            </a:r>
            <a:endParaRPr lang="fr-FR" sz="950" noProof="0" dirty="0"/>
          </a:p>
        </p:txBody>
      </p:sp>
      <p:sp>
        <p:nvSpPr>
          <p:cNvPr id="14" name="Shape 12"/>
          <p:cNvSpPr/>
          <p:nvPr/>
        </p:nvSpPr>
        <p:spPr>
          <a:xfrm>
            <a:off x="2441448" y="2212848"/>
            <a:ext cx="2084832" cy="1316735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2441448" y="2212848"/>
            <a:ext cx="2084832" cy="41148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2514600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candidate_fix</a:t>
            </a:r>
            <a:endParaRPr lang="fr-FR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2514600" y="2651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: 0.5 – 0.79</a:t>
            </a:r>
            <a:endParaRPr lang="fr-FR" sz="1050" noProof="0" dirty="0"/>
          </a:p>
        </p:txBody>
      </p:sp>
      <p:sp>
        <p:nvSpPr>
          <p:cNvPr id="18" name="Text 16"/>
          <p:cNvSpPr/>
          <p:nvPr/>
        </p:nvSpPr>
        <p:spPr>
          <a:xfrm>
            <a:off x="251460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candidat fort, statut incertain.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Tester sur branche isolée.</a:t>
            </a:r>
            <a:endParaRPr lang="fr-FR" sz="950" noProof="0" dirty="0"/>
          </a:p>
        </p:txBody>
      </p:sp>
      <p:sp>
        <p:nvSpPr>
          <p:cNvPr id="19" name="Shape 17"/>
          <p:cNvSpPr/>
          <p:nvPr/>
        </p:nvSpPr>
        <p:spPr>
          <a:xfrm>
            <a:off x="4654296" y="2212848"/>
            <a:ext cx="2084832" cy="131673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8"/>
          <p:cNvSpPr/>
          <p:nvPr/>
        </p:nvSpPr>
        <p:spPr>
          <a:xfrm>
            <a:off x="4654296" y="2212848"/>
            <a:ext cx="2084832" cy="411480"/>
          </a:xfrm>
          <a:prstGeom prst="rect">
            <a:avLst/>
          </a:prstGeom>
          <a:solidFill>
            <a:srgbClr val="E07B2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4727448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reference_only</a:t>
            </a:r>
            <a:endParaRPr lang="fr-FR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4727448" y="2651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: 0.2 – 0.49</a:t>
            </a:r>
            <a:endParaRPr lang="fr-FR" sz="1050" noProof="0" dirty="0"/>
          </a:p>
        </p:txBody>
      </p:sp>
      <p:sp>
        <p:nvSpPr>
          <p:cNvPr id="23" name="Text 21"/>
          <p:cNvSpPr/>
          <p:nvPr/>
        </p:nvSpPr>
        <p:spPr>
          <a:xfrm>
            <a:off x="4727448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de référence, peu de preuve.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Option --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include-reference-only</a:t>
            </a:r>
            <a:endParaRPr lang="fr-FR" sz="950" noProof="0" dirty="0"/>
          </a:p>
        </p:txBody>
      </p:sp>
      <p:sp>
        <p:nvSpPr>
          <p:cNvPr id="24" name="Shape 22"/>
          <p:cNvSpPr/>
          <p:nvPr/>
        </p:nvSpPr>
        <p:spPr>
          <a:xfrm>
            <a:off x="6867144" y="2212848"/>
            <a:ext cx="2084832" cy="131673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Shape 23"/>
          <p:cNvSpPr/>
          <p:nvPr/>
        </p:nvSpPr>
        <p:spPr>
          <a:xfrm>
            <a:off x="6867144" y="2212848"/>
            <a:ext cx="2084832" cy="411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6940296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unlinked</a:t>
            </a:r>
            <a:endParaRPr lang="fr-FR" sz="1100" noProof="0" dirty="0"/>
          </a:p>
        </p:txBody>
      </p:sp>
      <p:sp>
        <p:nvSpPr>
          <p:cNvPr id="27" name="Text 25"/>
          <p:cNvSpPr/>
          <p:nvPr/>
        </p:nvSpPr>
        <p:spPr>
          <a:xfrm>
            <a:off x="6940296" y="2651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: &lt; 0.2</a:t>
            </a:r>
            <a:endParaRPr lang="fr-FR" sz="1050" noProof="0" dirty="0"/>
          </a:p>
        </p:txBody>
      </p:sp>
      <p:sp>
        <p:nvSpPr>
          <p:cNvPr id="28" name="Text 26"/>
          <p:cNvSpPr/>
          <p:nvPr/>
        </p:nvSpPr>
        <p:spPr>
          <a:xfrm>
            <a:off x="6940296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lien exploitable.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Écarté systématiquement.</a:t>
            </a:r>
            <a:endParaRPr lang="fr-FR" sz="950" noProof="0" dirty="0"/>
          </a:p>
        </p:txBody>
      </p:sp>
      <p:sp>
        <p:nvSpPr>
          <p:cNvPr id="29" name="Shape 27"/>
          <p:cNvSpPr/>
          <p:nvPr/>
        </p:nvSpPr>
        <p:spPr>
          <a:xfrm>
            <a:off x="246888" y="3684581"/>
            <a:ext cx="4251960" cy="1316735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8"/>
          <p:cNvSpPr/>
          <p:nvPr/>
        </p:nvSpPr>
        <p:spPr>
          <a:xfrm>
            <a:off x="338328" y="372115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est calculé </a:t>
            </a:r>
            <a:r>
              <a:rPr lang="fr-FR" sz="1200" b="1" noProof="0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match_rate</a:t>
            </a:r>
            <a:r>
              <a:rPr lang="fr-FR" sz="120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?</a:t>
            </a:r>
            <a:endParaRPr lang="fr-FR" sz="1200" noProof="0" dirty="0"/>
          </a:p>
        </p:txBody>
      </p:sp>
      <p:sp>
        <p:nvSpPr>
          <p:cNvPr id="31" name="Text 29"/>
          <p:cNvSpPr/>
          <p:nvPr/>
        </p:nvSpPr>
        <p:spPr>
          <a:xfrm>
            <a:off x="338328" y="401376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00" b="1" noProof="0" dirty="0" err="1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match_rate</a:t>
            </a:r>
            <a:r>
              <a:rPr lang="fr-FR" sz="1000" b="1" noProof="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fr-FR" sz="1000" b="1" noProof="0" dirty="0" err="1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matched_docs</a:t>
            </a:r>
            <a:r>
              <a:rPr lang="fr-FR" sz="1000" b="1" noProof="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fr-FR" sz="1000" b="1" noProof="0" dirty="0" err="1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changed_files_total</a:t>
            </a:r>
            <a:r>
              <a:rPr lang="fr-FR" sz="1000" b="1" noProof="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commit lié à l'issue, on récupère la liste des fichiers modifiés (GitHub API). On essaie ensuite de faire correspondre chaque fichier avec les documents indexés dans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docs_files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(par chemin normalisé). </a:t>
            </a:r>
          </a:p>
          <a:p>
            <a:pPr marL="0" indent="0">
              <a:buNone/>
            </a:pPr>
            <a:r>
              <a:rPr lang="fr-FR" sz="950" b="1" noProof="0" dirty="0" err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match_rate</a:t>
            </a:r>
            <a:r>
              <a:rPr lang="fr-FR" sz="950" b="1" noProof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9/12 = 0.75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signifie que 9 des 12 fichiers modifiés sont connus dans notre base de fichiers.</a:t>
            </a:r>
            <a:endParaRPr lang="fr-FR" sz="1000" noProof="0" dirty="0"/>
          </a:p>
        </p:txBody>
      </p:sp>
      <p:sp>
        <p:nvSpPr>
          <p:cNvPr id="32" name="Shape 30"/>
          <p:cNvSpPr/>
          <p:nvPr/>
        </p:nvSpPr>
        <p:spPr>
          <a:xfrm>
            <a:off x="4727448" y="3684582"/>
            <a:ext cx="4206240" cy="1349190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4818888" y="372115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par fichier modifié</a:t>
            </a:r>
            <a:endParaRPr lang="fr-FR" sz="1200" noProof="0" dirty="0"/>
          </a:p>
        </p:txBody>
      </p:sp>
      <p:sp>
        <p:nvSpPr>
          <p:cNvPr id="34" name="Text 32"/>
          <p:cNvSpPr/>
          <p:nvPr/>
        </p:nvSpPr>
        <p:spPr>
          <a:xfrm>
            <a:off x="4818888" y="401376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00" b="1" noProof="0" dirty="0" err="1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file.score</a:t>
            </a:r>
            <a:r>
              <a:rPr lang="fr-FR" sz="1000" b="1" noProof="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fr-FR" sz="1000" b="1" noProof="0" dirty="0" err="1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nb_changes</a:t>
            </a:r>
            <a:r>
              <a:rPr lang="fr-FR" sz="1000" b="1" noProof="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chiffre  (si doc connu dans </a:t>
            </a:r>
            <a:r>
              <a:rPr lang="fr-FR" sz="1000" b="1" noProof="0" dirty="0" err="1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docs_files</a:t>
            </a:r>
            <a:r>
              <a:rPr lang="fr-FR" sz="1000" b="1" noProof="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fr-FR" sz="1000" b="1" noProof="0" dirty="0" err="1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nb_changes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additions +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fichier dans le commit
</a:t>
            </a:r>
            <a:r>
              <a:rPr lang="fr-FR" sz="100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+chiffre bonus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le fichier est enrichi dans notre KB </a:t>
            </a:r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fr-FR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 fichiers les plus modifiés ET les mieux documentés remontent en premier.</a:t>
            </a:r>
            <a:endParaRPr lang="fr-FR" sz="1000" noProof="0" dirty="0"/>
          </a:p>
        </p:txBody>
      </p:sp>
      <p:sp>
        <p:nvSpPr>
          <p:cNvPr id="35" name="Shape 33"/>
          <p:cNvSpPr/>
          <p:nvPr/>
        </p:nvSpPr>
        <p:spPr>
          <a:xfrm>
            <a:off x="246888" y="4662990"/>
            <a:ext cx="8686800" cy="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Text 34"/>
          <p:cNvSpPr/>
          <p:nvPr/>
        </p:nvSpPr>
        <p:spPr>
          <a:xfrm>
            <a:off x="356616" y="4745286"/>
            <a:ext cx="8467344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fr-FR" sz="9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Delivery — Diagnostic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Besoin &amp; Définition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c'est ? À quoi ça sert ?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8686800" cy="1115568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8321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réel : 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ingénieur ST reçoit une question du client : “Mon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HAL_SPI_Transmit_DMA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bloque sur 2 bytes, pourquoi ?”. Il a besoin d'une </a:t>
            </a:r>
            <a:r>
              <a:rPr lang="fr-FR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diagnostique structurée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prête à l'emploi, pas juste un lien vers un ticket GitHub. Une </a:t>
            </a:r>
            <a:r>
              <a:rPr lang="fr-FR" sz="105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Card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fusionne l'issue GitHub + le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 pour produire : le symptôme, les causes probables, les actions de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les contournements, les faits confirmés et les liens de preuve , tout ça dans un format directement injectable dans la KB ST pour le moteur RAG.</a:t>
            </a:r>
            <a:endParaRPr lang="fr-FR" sz="1050" noProof="0" dirty="0"/>
          </a:p>
        </p:txBody>
      </p:sp>
      <p:sp>
        <p:nvSpPr>
          <p:cNvPr id="8" name="Shape 6"/>
          <p:cNvSpPr/>
          <p:nvPr/>
        </p:nvSpPr>
        <p:spPr>
          <a:xfrm>
            <a:off x="228600" y="2267712"/>
            <a:ext cx="425196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228600" y="2267712"/>
            <a:ext cx="4251960" cy="36576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320040" y="23042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Diagnostic Card contient :</a:t>
            </a:r>
            <a:endParaRPr lang="fr-FR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320040" y="269748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symptom_summary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du symptôme observé</a:t>
            </a:r>
            <a:endParaRPr lang="fr-FR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320040" y="290779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likely_causes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probables (root cause)</a:t>
            </a:r>
            <a:endParaRPr lang="fr-FR" sz="900" noProof="0" dirty="0"/>
          </a:p>
        </p:txBody>
      </p:sp>
      <p:sp>
        <p:nvSpPr>
          <p:cNvPr id="13" name="Text 11"/>
          <p:cNvSpPr/>
          <p:nvPr/>
        </p:nvSpPr>
        <p:spPr>
          <a:xfrm>
            <a:off x="320040" y="311810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confirmed_facts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 vérifiés (</a:t>
            </a:r>
            <a:r>
              <a:rPr lang="fr-FR" sz="9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evidence_strength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commit </a:t>
            </a:r>
            <a:r>
              <a:rPr lang="fr-FR" sz="9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fr-FR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320040" y="332841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plausible_diagnosis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selon </a:t>
            </a:r>
            <a:r>
              <a:rPr lang="fr-FR" sz="9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layer+component+pattern</a:t>
            </a:r>
            <a:endParaRPr lang="fr-FR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320040" y="353872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debug_checks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de </a:t>
            </a:r>
            <a:r>
              <a:rPr lang="fr-FR" sz="9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ciblées</a:t>
            </a:r>
            <a:endParaRPr lang="fr-FR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320040" y="3749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possible_workarounds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Contournements possibles</a:t>
            </a:r>
            <a:endParaRPr lang="fr-FR" sz="900" noProof="0" dirty="0"/>
          </a:p>
        </p:txBody>
      </p:sp>
      <p:sp>
        <p:nvSpPr>
          <p:cNvPr id="17" name="Text 15"/>
          <p:cNvSpPr/>
          <p:nvPr/>
        </p:nvSpPr>
        <p:spPr>
          <a:xfrm>
            <a:off x="320040" y="395935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constraints_or_limits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Portée validée : MCU série, </a:t>
            </a:r>
            <a:r>
              <a:rPr lang="fr-FR" sz="9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version</a:t>
            </a:r>
            <a:endParaRPr lang="fr-FR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320040" y="416966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evidence_refs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: issue, PR, commit</a:t>
            </a:r>
            <a:endParaRPr lang="fr-FR" sz="900" noProof="0" dirty="0"/>
          </a:p>
        </p:txBody>
      </p:sp>
      <p:sp>
        <p:nvSpPr>
          <p:cNvPr id="19" name="Text 17"/>
          <p:cNvSpPr/>
          <p:nvPr/>
        </p:nvSpPr>
        <p:spPr>
          <a:xfrm>
            <a:off x="320040" y="437997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query_aliases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NL pour le </a:t>
            </a:r>
            <a:r>
              <a:rPr lang="fr-FR" sz="9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RAG</a:t>
            </a:r>
            <a:endParaRPr lang="fr-FR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320040" y="459028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 + </a:t>
            </a: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api_tags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Labels, HAL_* tags (max 24)</a:t>
            </a:r>
            <a:endParaRPr lang="fr-FR" sz="900" noProof="0" dirty="0"/>
          </a:p>
        </p:txBody>
      </p:sp>
      <p:sp>
        <p:nvSpPr>
          <p:cNvPr id="21" name="Shape 19"/>
          <p:cNvSpPr/>
          <p:nvPr/>
        </p:nvSpPr>
        <p:spPr>
          <a:xfrm>
            <a:off x="4709160" y="2267712"/>
            <a:ext cx="420624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20"/>
          <p:cNvSpPr/>
          <p:nvPr/>
        </p:nvSpPr>
        <p:spPr>
          <a:xfrm>
            <a:off x="4709160" y="2267712"/>
            <a:ext cx="4206240" cy="36576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4800600" y="2304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= Fusion Issue + </a:t>
            </a:r>
            <a:r>
              <a:rPr lang="fr-FR" sz="13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fr-FR" sz="1300" noProof="0" dirty="0"/>
          </a:p>
        </p:txBody>
      </p:sp>
      <p:sp>
        <p:nvSpPr>
          <p:cNvPr id="24" name="Shape 22"/>
          <p:cNvSpPr/>
          <p:nvPr/>
        </p:nvSpPr>
        <p:spPr>
          <a:xfrm>
            <a:off x="4800600" y="2706624"/>
            <a:ext cx="1737360" cy="1042416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Text 23"/>
          <p:cNvSpPr/>
          <p:nvPr/>
        </p:nvSpPr>
        <p:spPr>
          <a:xfrm>
            <a:off x="4800600" y="27066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GitHub</a:t>
            </a:r>
            <a:endParaRPr lang="fr-FR" sz="1000" noProof="0" dirty="0"/>
          </a:p>
        </p:txBody>
      </p:sp>
      <p:sp>
        <p:nvSpPr>
          <p:cNvPr id="26" name="Text 24"/>
          <p:cNvSpPr/>
          <p:nvPr/>
        </p:nvSpPr>
        <p:spPr>
          <a:xfrm>
            <a:off x="4914900" y="2970826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issue_title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layer, </a:t>
            </a: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component, </a:t>
            </a: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st_ready_text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github_url</a:t>
            </a:r>
            <a:endParaRPr lang="fr-FR" sz="800" noProof="0" dirty="0"/>
          </a:p>
        </p:txBody>
      </p:sp>
      <p:sp>
        <p:nvSpPr>
          <p:cNvPr id="27" name="Text 25"/>
          <p:cNvSpPr/>
          <p:nvPr/>
        </p:nvSpPr>
        <p:spPr>
          <a:xfrm>
            <a:off x="6560820" y="309307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E07B2A"/>
                </a:solidFill>
              </a:rPr>
              <a:t>+</a:t>
            </a:r>
            <a:endParaRPr lang="fr-FR" sz="2200" noProof="0" dirty="0"/>
          </a:p>
        </p:txBody>
      </p:sp>
      <p:sp>
        <p:nvSpPr>
          <p:cNvPr id="28" name="Shape 26"/>
          <p:cNvSpPr/>
          <p:nvPr/>
        </p:nvSpPr>
        <p:spPr>
          <a:xfrm>
            <a:off x="6903720" y="2706624"/>
            <a:ext cx="1737360" cy="960120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7"/>
          <p:cNvSpPr/>
          <p:nvPr/>
        </p:nvSpPr>
        <p:spPr>
          <a:xfrm>
            <a:off x="6903720" y="27066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noProof="0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00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</a:t>
            </a:r>
            <a:endParaRPr lang="fr-FR" sz="1000" noProof="0" dirty="0"/>
          </a:p>
        </p:txBody>
      </p:sp>
      <p:sp>
        <p:nvSpPr>
          <p:cNvPr id="30" name="Text 28"/>
          <p:cNvSpPr/>
          <p:nvPr/>
        </p:nvSpPr>
        <p:spPr>
          <a:xfrm>
            <a:off x="6995160" y="2970826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resolution_status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link_confidence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linked_pr_urls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linked_commits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files_evidence</a:t>
            </a:r>
            <a:endParaRPr lang="fr-FR" sz="800" noProof="0" dirty="0"/>
          </a:p>
        </p:txBody>
      </p:sp>
      <p:sp>
        <p:nvSpPr>
          <p:cNvPr id="31" name="Text 29"/>
          <p:cNvSpPr/>
          <p:nvPr/>
        </p:nvSpPr>
        <p:spPr>
          <a:xfrm>
            <a:off x="4800600" y="37490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fr-FR" sz="1100" b="1" noProof="0" dirty="0" err="1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build_diagnostic_card</a:t>
            </a:r>
            <a:r>
              <a:rPr lang="fr-FR" sz="1100" b="1" noProof="0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fr-FR" sz="1100" noProof="0" dirty="0"/>
          </a:p>
        </p:txBody>
      </p:sp>
      <p:sp>
        <p:nvSpPr>
          <p:cNvPr id="32" name="Shape 30"/>
          <p:cNvSpPr/>
          <p:nvPr/>
        </p:nvSpPr>
        <p:spPr>
          <a:xfrm>
            <a:off x="4800600" y="4069080"/>
            <a:ext cx="3977640" cy="713232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4892040" y="4105656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Card JSON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injectée dans la KB ST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optimisée pour </a:t>
            </a:r>
            <a:r>
              <a:rPr lang="fr-FR" sz="10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RAG</a:t>
            </a:r>
            <a:endParaRPr lang="fr-FR" sz="10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Diagnostic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Construction Détaillée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chaque champ est construit</a:t>
            </a:r>
            <a:endParaRPr lang="fr-FR" sz="1100" noProof="0" dirty="0"/>
          </a:p>
        </p:txBody>
      </p:sp>
      <p:sp>
        <p:nvSpPr>
          <p:cNvPr id="9" name="Shape 6"/>
          <p:cNvSpPr/>
          <p:nvPr/>
        </p:nvSpPr>
        <p:spPr>
          <a:xfrm>
            <a:off x="289010" y="3488436"/>
            <a:ext cx="425196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7"/>
          <p:cNvSpPr/>
          <p:nvPr/>
        </p:nvSpPr>
        <p:spPr>
          <a:xfrm>
            <a:off x="289010" y="3488436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Family Tags — </a:t>
            </a:r>
            <a:r>
              <a:rPr lang="fr-FR" sz="11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extract_api_family_tags</a:t>
            </a: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fr-FR" sz="1100" noProof="0" dirty="0"/>
          </a:p>
        </p:txBody>
      </p:sp>
      <p:sp>
        <p:nvSpPr>
          <p:cNvPr id="11" name="Shape 8"/>
          <p:cNvSpPr/>
          <p:nvPr/>
        </p:nvSpPr>
        <p:spPr>
          <a:xfrm>
            <a:off x="289010" y="3808476"/>
            <a:ext cx="4251960" cy="896112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9"/>
          <p:cNvSpPr/>
          <p:nvPr/>
        </p:nvSpPr>
        <p:spPr>
          <a:xfrm>
            <a:off x="398738" y="3890772"/>
            <a:ext cx="40325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regex: r'\b(?:HAL|LL|BSP|MX|CMSIS)_[A-Za-z0-9_]+\b'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HAL_SPI_Transmit_DMA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HAL_UART_Receive_IT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CMSIS_OS_Delay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(max 8 tags)</a:t>
            </a:r>
            <a:endParaRPr lang="fr-FR" sz="900" noProof="0" dirty="0"/>
          </a:p>
        </p:txBody>
      </p:sp>
      <p:sp>
        <p:nvSpPr>
          <p:cNvPr id="13" name="Shape 10"/>
          <p:cNvSpPr/>
          <p:nvPr/>
        </p:nvSpPr>
        <p:spPr>
          <a:xfrm>
            <a:off x="320040" y="1266444"/>
            <a:ext cx="4206240" cy="320040"/>
          </a:xfrm>
          <a:prstGeom prst="rect">
            <a:avLst/>
          </a:prstGeom>
          <a:solidFill>
            <a:srgbClr val="E07B2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1"/>
          <p:cNvSpPr/>
          <p:nvPr/>
        </p:nvSpPr>
        <p:spPr>
          <a:xfrm>
            <a:off x="320040" y="126644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query_aliases</a:t>
            </a: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fr-FR" sz="11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build_query_aliases</a:t>
            </a: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fr-FR" sz="1100" noProof="0" dirty="0"/>
          </a:p>
        </p:txBody>
      </p:sp>
      <p:sp>
        <p:nvSpPr>
          <p:cNvPr id="15" name="Shape 12"/>
          <p:cNvSpPr/>
          <p:nvPr/>
        </p:nvSpPr>
        <p:spPr>
          <a:xfrm>
            <a:off x="320040" y="1586484"/>
            <a:ext cx="420624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3"/>
          <p:cNvSpPr/>
          <p:nvPr/>
        </p:nvSpPr>
        <p:spPr>
          <a:xfrm>
            <a:off x="411480" y="162306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: </a:t>
            </a:r>
            <a:r>
              <a:rPr lang="fr-F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des formulations alternatives de la requête pour que le moteur RAG retrouve la </a:t>
            </a:r>
            <a:r>
              <a:rPr lang="fr-FR" sz="10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r>
              <a:rPr lang="fr-F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même si l'utilisateur ne connaît pas le nom exact de la fonction.
</a:t>
            </a:r>
            <a:r>
              <a:rPr lang="fr-FR" sz="10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:</a:t>
            </a:r>
            <a:endParaRPr lang="fr-FR" sz="10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API tags contient HAL_SPI + pattern 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dma_path</a:t>
            </a:r>
            <a:endParaRPr lang="fr-FR" sz="10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ajoute "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HAL_SPI_Transmit_DMA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"SPI DMA 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fr-FR" sz="10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pattern blocking + 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dma_path</a:t>
            </a:r>
            <a:endParaRPr lang="fr-FR" sz="10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ajoute "blocking 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"callback not 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reached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fr-FR" sz="10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texte contient "2 bytes"</a:t>
            </a:r>
            <a:endParaRPr lang="fr-FR" sz="10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ajoute "2 bytes", "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fr-FR" sz="1000" noProof="0" dirty="0"/>
          </a:p>
        </p:txBody>
      </p:sp>
      <p:sp>
        <p:nvSpPr>
          <p:cNvPr id="17" name="Shape 14"/>
          <p:cNvSpPr/>
          <p:nvPr/>
        </p:nvSpPr>
        <p:spPr>
          <a:xfrm>
            <a:off x="4709160" y="1645320"/>
            <a:ext cx="4206240" cy="32004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5"/>
          <p:cNvSpPr/>
          <p:nvPr/>
        </p:nvSpPr>
        <p:spPr>
          <a:xfrm>
            <a:off x="4709160" y="1645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st_ready_text</a:t>
            </a: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Format KB (extrait)</a:t>
            </a:r>
            <a:endParaRPr lang="fr-FR" sz="1100" noProof="0" dirty="0"/>
          </a:p>
        </p:txBody>
      </p:sp>
      <p:sp>
        <p:nvSpPr>
          <p:cNvPr id="19" name="Shape 16"/>
          <p:cNvSpPr/>
          <p:nvPr/>
        </p:nvSpPr>
        <p:spPr>
          <a:xfrm>
            <a:off x="4709160" y="1965360"/>
            <a:ext cx="4206240" cy="2459736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7"/>
          <p:cNvSpPr/>
          <p:nvPr/>
        </p:nvSpPr>
        <p:spPr>
          <a:xfrm>
            <a:off x="4818888" y="2047656"/>
            <a:ext cx="39867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HAL_SPI_Transmit_DMA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blocking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repo=STM32CubeH7, issue=487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Symptoms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HAL_SPI_Transmit_DMA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seems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blocking on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aliases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HAL_SPI_Transmit_DMA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blocking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callback not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reached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Likely causes: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Peripheral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does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to READY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Confirmed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Issue #487 |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merged_fix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high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HAL_Driver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SPI,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bug_report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Instrument callback entry points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Workaround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alternate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mode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Evidence: github.com/.../issues/487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Keywords: SPI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dma_path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bug_report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high</a:t>
            </a:r>
            <a:endParaRPr lang="fr-FR" sz="9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Diagnostic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Résultats Quantitatifs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concrets sur STM32CubeH7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1645920" cy="914400"/>
          </a:xfrm>
          <a:prstGeom prst="rect">
            <a:avLst/>
          </a:prstGeom>
          <a:solidFill>
            <a:srgbClr val="1E5FA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228600" y="115214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fr-FR" sz="2800" noProof="0" dirty="0"/>
          </a:p>
        </p:txBody>
      </p:sp>
      <p:sp>
        <p:nvSpPr>
          <p:cNvPr id="8" name="Text 6"/>
          <p:cNvSpPr/>
          <p:nvPr/>
        </p:nvSpPr>
        <p:spPr>
          <a:xfrm>
            <a:off x="228600" y="16093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totales</a:t>
            </a:r>
            <a:endParaRPr lang="fr-FR" sz="900" noProof="0" dirty="0"/>
          </a:p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livrées</a:t>
            </a:r>
            <a:endParaRPr lang="fr-FR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1993392" y="1078992"/>
            <a:ext cx="164592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1993392" y="115214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fr-FR" sz="2800" noProof="0" dirty="0"/>
          </a:p>
        </p:txBody>
      </p:sp>
      <p:sp>
        <p:nvSpPr>
          <p:cNvPr id="11" name="Text 9"/>
          <p:cNvSpPr/>
          <p:nvPr/>
        </p:nvSpPr>
        <p:spPr>
          <a:xfrm>
            <a:off x="1993392" y="16093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</a:t>
            </a:r>
            <a:endParaRPr lang="fr-FR" sz="900" noProof="0" dirty="0"/>
          </a:p>
          <a:p>
            <a:pPr marL="0" indent="0" algn="ctr">
              <a:buNone/>
            </a:pPr>
            <a:r>
              <a:rPr lang="fr-FR" sz="9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</a:t>
            </a:r>
            <a:r>
              <a:rPr lang="fr-FR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tech.</a:t>
            </a:r>
            <a:endParaRPr lang="fr-FR" sz="900" noProof="0" dirty="0"/>
          </a:p>
        </p:txBody>
      </p:sp>
      <p:sp>
        <p:nvSpPr>
          <p:cNvPr id="12" name="Shape 10"/>
          <p:cNvSpPr/>
          <p:nvPr/>
        </p:nvSpPr>
        <p:spPr>
          <a:xfrm>
            <a:off x="3758184" y="1078992"/>
            <a:ext cx="1645920" cy="914400"/>
          </a:xfrm>
          <a:prstGeom prst="rect">
            <a:avLst/>
          </a:prstGeom>
          <a:solidFill>
            <a:srgbClr val="E07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3758184" y="115214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2800" noProof="0" dirty="0"/>
          </a:p>
        </p:txBody>
      </p:sp>
      <p:sp>
        <p:nvSpPr>
          <p:cNvPr id="14" name="Text 12"/>
          <p:cNvSpPr/>
          <p:nvPr/>
        </p:nvSpPr>
        <p:spPr>
          <a:xfrm>
            <a:off x="3758184" y="16093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</a:t>
            </a:r>
            <a:endParaRPr lang="fr-FR" sz="900" noProof="0" dirty="0"/>
          </a:p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</a:t>
            </a:r>
            <a:endParaRPr lang="fr-FR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5522976" y="1078992"/>
            <a:ext cx="1645920" cy="914400"/>
          </a:xfrm>
          <a:prstGeom prst="rect">
            <a:avLst/>
          </a:prstGeom>
          <a:solidFill>
            <a:srgbClr val="64748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5522976" y="115214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2800" noProof="0" dirty="0"/>
          </a:p>
        </p:txBody>
      </p:sp>
      <p:sp>
        <p:nvSpPr>
          <p:cNvPr id="17" name="Text 15"/>
          <p:cNvSpPr/>
          <p:nvPr/>
        </p:nvSpPr>
        <p:spPr>
          <a:xfrm>
            <a:off x="5522976" y="16093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</a:t>
            </a:r>
            <a:endParaRPr lang="fr-FR" sz="900" noProof="0" dirty="0"/>
          </a:p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fr-FR" sz="900" noProof="0" dirty="0"/>
          </a:p>
        </p:txBody>
      </p:sp>
      <p:sp>
        <p:nvSpPr>
          <p:cNvPr id="18" name="Shape 16"/>
          <p:cNvSpPr/>
          <p:nvPr/>
        </p:nvSpPr>
        <p:spPr>
          <a:xfrm>
            <a:off x="7287768" y="1078992"/>
            <a:ext cx="164592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/>
          <p:nvPr/>
        </p:nvSpPr>
        <p:spPr>
          <a:xfrm>
            <a:off x="7287768" y="115214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</a:t>
            </a:r>
            <a:endParaRPr lang="fr-FR" sz="2800" noProof="0" dirty="0"/>
          </a:p>
        </p:txBody>
      </p:sp>
      <p:sp>
        <p:nvSpPr>
          <p:cNvPr id="20" name="Text 18"/>
          <p:cNvSpPr/>
          <p:nvPr/>
        </p:nvSpPr>
        <p:spPr>
          <a:xfrm>
            <a:off x="7287768" y="16093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fr-FR" sz="900" noProof="0" dirty="0"/>
          </a:p>
          <a:p>
            <a:pPr marL="0" indent="0" algn="ctr">
              <a:buNone/>
            </a:pPr>
            <a:r>
              <a:rPr lang="fr-FR" sz="9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r>
              <a:rPr lang="fr-FR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rate</a:t>
            </a:r>
            <a:endParaRPr lang="fr-FR" sz="900" noProof="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876748"/>
              </p:ext>
            </p:extLst>
          </p:nvPr>
        </p:nvGraphicFramePr>
        <p:xfrm>
          <a:off x="228600" y="2121408"/>
          <a:ext cx="8686800" cy="171907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fr-F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fr-F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fr-F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résolution</a:t>
                      </a:r>
                      <a:endParaRPr lang="fr-F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technical_diagnosis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avec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forte : layer/component/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issue_kind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identifiés,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pattern_tags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détectés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merged_fix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ou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candidate_fix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behavioral_issue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Comportement non-attendu, cause partiellement identifiée,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rescue_applied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=True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candidate_fix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ou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reference_only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guidance_case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de configuration ou usage, pas de bug confirmé,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debug_checks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orientés config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reference_only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228600" y="3913632"/>
            <a:ext cx="4251960" cy="11201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0"/>
          <p:cNvSpPr/>
          <p:nvPr/>
        </p:nvSpPr>
        <p:spPr>
          <a:xfrm>
            <a:off x="228600" y="3913632"/>
            <a:ext cx="4251960" cy="347472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1"/>
          <p:cNvSpPr/>
          <p:nvPr/>
        </p:nvSpPr>
        <p:spPr>
          <a:xfrm>
            <a:off x="320040" y="395020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files_evidence</a:t>
            </a: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Exemple</a:t>
            </a:r>
            <a:endParaRPr lang="fr-FR" sz="1200" noProof="0" dirty="0"/>
          </a:p>
        </p:txBody>
      </p:sp>
      <p:sp>
        <p:nvSpPr>
          <p:cNvPr id="25" name="Text 22"/>
          <p:cNvSpPr/>
          <p:nvPr/>
        </p:nvSpPr>
        <p:spPr>
          <a:xfrm>
            <a:off x="320040" y="429768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changed_files_total</a:t>
            </a:r>
            <a:r>
              <a:rPr lang="fr-FR" sz="10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12</a:t>
            </a:r>
            <a:endParaRPr lang="fr-FR" sz="1000" noProof="0" dirty="0"/>
          </a:p>
          <a:p>
            <a:pPr marL="0" indent="0">
              <a:buNone/>
            </a:pPr>
            <a:r>
              <a:rPr lang="fr-FR" sz="10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matched_docs_files_count</a:t>
            </a:r>
            <a:r>
              <a:rPr lang="fr-FR" sz="10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9</a:t>
            </a:r>
            <a:endParaRPr lang="fr-FR" sz="1000" noProof="0" dirty="0"/>
          </a:p>
          <a:p>
            <a:pPr marL="0" indent="0">
              <a:buNone/>
            </a:pPr>
            <a:r>
              <a:rPr lang="fr-FR" sz="10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unmatched_files_count</a:t>
            </a:r>
            <a:r>
              <a:rPr lang="fr-FR" sz="10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</a:t>
            </a:r>
            <a:endParaRPr lang="fr-FR" sz="1000" noProof="0" dirty="0"/>
          </a:p>
          <a:p>
            <a:pPr marL="0" indent="0">
              <a:buNone/>
            </a:pPr>
            <a:r>
              <a:rPr lang="fr-FR" sz="10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match_rate</a:t>
            </a:r>
            <a:r>
              <a:rPr lang="fr-FR" sz="10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0.75   (9/12)</a:t>
            </a:r>
            <a:endParaRPr lang="fr-FR" sz="1000" noProof="0" dirty="0"/>
          </a:p>
        </p:txBody>
      </p:sp>
      <p:sp>
        <p:nvSpPr>
          <p:cNvPr id="26" name="Shape 23"/>
          <p:cNvSpPr/>
          <p:nvPr/>
        </p:nvSpPr>
        <p:spPr>
          <a:xfrm>
            <a:off x="4709160" y="3913632"/>
            <a:ext cx="4206240" cy="108813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Shape 24"/>
          <p:cNvSpPr/>
          <p:nvPr/>
        </p:nvSpPr>
        <p:spPr>
          <a:xfrm>
            <a:off x="4709160" y="3913632"/>
            <a:ext cx="420624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5"/>
          <p:cNvSpPr/>
          <p:nvPr/>
        </p:nvSpPr>
        <p:spPr>
          <a:xfrm>
            <a:off x="480060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dans la KB ST</a:t>
            </a:r>
            <a:endParaRPr lang="fr-FR" sz="1200" noProof="0" dirty="0"/>
          </a:p>
        </p:txBody>
      </p:sp>
      <p:sp>
        <p:nvSpPr>
          <p:cNvPr id="29" name="Text 26"/>
          <p:cNvSpPr/>
          <p:nvPr/>
        </p:nvSpPr>
        <p:spPr>
          <a:xfrm>
            <a:off x="4800600" y="429768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00" b="1" noProof="0" dirty="0" err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st_ready_text</a:t>
            </a:r>
            <a:r>
              <a:rPr lang="fr-F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directement injecté dans la KB
</a:t>
            </a:r>
            <a:r>
              <a:rPr lang="fr-FR" sz="10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r>
              <a:rPr lang="fr-F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PARENT_CHILD :
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parent ≈ 3 000 chars  |  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≈ 1 000 chars
</a:t>
            </a:r>
            <a:r>
              <a:rPr lang="fr-FR" sz="10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Optimise le </a:t>
            </a:r>
            <a:r>
              <a:rPr lang="fr-FR" sz="100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r>
              <a:rPr lang="fr-FR" sz="10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RAG par le moteur ST</a:t>
            </a:r>
            <a:endParaRPr lang="fr-FR" sz="10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— Pipeline de Validation &amp; Delivery</a:t>
            </a:r>
            <a:endParaRPr lang="fr-FR" sz="2200" noProof="0" dirty="0"/>
          </a:p>
        </p:txBody>
      </p:sp>
      <p:sp>
        <p:nvSpPr>
          <p:cNvPr id="43" name="Shape 3"/>
          <p:cNvSpPr/>
          <p:nvPr/>
        </p:nvSpPr>
        <p:spPr>
          <a:xfrm>
            <a:off x="228600" y="1371600"/>
            <a:ext cx="1188720" cy="12801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4" name="Text 4"/>
          <p:cNvSpPr/>
          <p:nvPr/>
        </p:nvSpPr>
        <p:spPr>
          <a:xfrm>
            <a:off x="228600" y="13716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docs_issues</a:t>
            </a:r>
            <a:endParaRPr lang="fr-FR" sz="900" noProof="0" dirty="0"/>
          </a:p>
          <a:p>
            <a:pPr marL="0" indent="0" algn="ctr">
              <a:buNone/>
            </a:pPr>
            <a:r>
              <a:rPr lang="fr-FR" sz="9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docs_files</a:t>
            </a:r>
            <a:endParaRPr lang="fr-FR" sz="900" noProof="0" dirty="0"/>
          </a:p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JSON</a:t>
            </a:r>
            <a:endParaRPr lang="fr-FR" sz="900" noProof="0" dirty="0"/>
          </a:p>
        </p:txBody>
      </p:sp>
      <p:sp>
        <p:nvSpPr>
          <p:cNvPr id="45" name="Shape 5"/>
          <p:cNvSpPr/>
          <p:nvPr/>
        </p:nvSpPr>
        <p:spPr>
          <a:xfrm>
            <a:off x="1417320" y="201168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6" name="Shape 6"/>
          <p:cNvSpPr/>
          <p:nvPr/>
        </p:nvSpPr>
        <p:spPr>
          <a:xfrm>
            <a:off x="1527048" y="1371600"/>
            <a:ext cx="1097280" cy="1280160"/>
          </a:xfrm>
          <a:prstGeom prst="rect">
            <a:avLst/>
          </a:prstGeom>
          <a:solidFill>
            <a:srgbClr val="0D9589"/>
          </a:solidFill>
          <a:ln w="12700">
            <a:solidFill>
              <a:srgbClr val="0D958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Text 7"/>
          <p:cNvSpPr/>
          <p:nvPr/>
        </p:nvSpPr>
        <p:spPr>
          <a:xfrm>
            <a:off x="1527048" y="13716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</a:t>
            </a:r>
            <a:endParaRPr lang="fr-FR" sz="900" noProof="0" dirty="0"/>
          </a:p>
          <a:p>
            <a:pPr marL="0" indent="0" algn="ctr">
              <a:buNone/>
            </a:pPr>
            <a:r>
              <a:rPr lang="fr-FR" sz="9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</a:t>
            </a:r>
            <a:endParaRPr lang="fr-FR" sz="900" noProof="0" dirty="0"/>
          </a:p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fr-FR" sz="9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fr-FR" sz="900" noProof="0" dirty="0"/>
          </a:p>
        </p:txBody>
      </p:sp>
      <p:sp>
        <p:nvSpPr>
          <p:cNvPr id="48" name="Shape 8"/>
          <p:cNvSpPr/>
          <p:nvPr/>
        </p:nvSpPr>
        <p:spPr>
          <a:xfrm>
            <a:off x="2624328" y="201168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9" name="Shape 9"/>
          <p:cNvSpPr/>
          <p:nvPr/>
        </p:nvSpPr>
        <p:spPr>
          <a:xfrm>
            <a:off x="2734056" y="1371600"/>
            <a:ext cx="1097280" cy="1280160"/>
          </a:xfrm>
          <a:prstGeom prst="rect">
            <a:avLst/>
          </a:prstGeom>
          <a:solidFill>
            <a:srgbClr val="0D9589"/>
          </a:solidFill>
          <a:ln w="12700">
            <a:solidFill>
              <a:srgbClr val="0D958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0" name="Text 10"/>
          <p:cNvSpPr/>
          <p:nvPr/>
        </p:nvSpPr>
        <p:spPr>
          <a:xfrm>
            <a:off x="2734056" y="13716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test_stats</a:t>
            </a:r>
            <a:endParaRPr lang="fr-FR" sz="900" noProof="0" dirty="0"/>
          </a:p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_issues</a:t>
            </a:r>
            <a:endParaRPr lang="fr-FR" sz="900" noProof="0" dirty="0"/>
          </a:p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_files.py</a:t>
            </a:r>
            <a:endParaRPr lang="fr-FR" sz="900" noProof="0" dirty="0"/>
          </a:p>
        </p:txBody>
      </p:sp>
      <p:sp>
        <p:nvSpPr>
          <p:cNvPr id="51" name="Shape 11"/>
          <p:cNvSpPr/>
          <p:nvPr/>
        </p:nvSpPr>
        <p:spPr>
          <a:xfrm>
            <a:off x="3831336" y="201168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2" name="Shape 12"/>
          <p:cNvSpPr/>
          <p:nvPr/>
        </p:nvSpPr>
        <p:spPr>
          <a:xfrm>
            <a:off x="3941064" y="1371600"/>
            <a:ext cx="1188720" cy="1280160"/>
          </a:xfrm>
          <a:prstGeom prst="rect">
            <a:avLst/>
          </a:prstGeom>
          <a:solidFill>
            <a:srgbClr val="03217B"/>
          </a:solidFill>
          <a:ln w="12700">
            <a:solidFill>
              <a:srgbClr val="03217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3" name="Text 13"/>
          <p:cNvSpPr/>
          <p:nvPr/>
        </p:nvSpPr>
        <p:spPr>
          <a:xfrm>
            <a:off x="3941064" y="13716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</a:t>
            </a:r>
            <a:endParaRPr lang="fr-FR" sz="900" noProof="0" dirty="0"/>
          </a:p>
          <a:p>
            <a:pPr marL="0" indent="0" algn="ctr">
              <a:buNone/>
            </a:pPr>
            <a:r>
              <a:rPr lang="fr-FR" sz="9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</a:t>
            </a:r>
            <a:endParaRPr lang="fr-FR" sz="900" noProof="0" dirty="0"/>
          </a:p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_issues.py</a:t>
            </a:r>
            <a:endParaRPr lang="fr-FR" sz="900" noProof="0" dirty="0"/>
          </a:p>
        </p:txBody>
      </p:sp>
      <p:sp>
        <p:nvSpPr>
          <p:cNvPr id="54" name="Shape 14"/>
          <p:cNvSpPr/>
          <p:nvPr/>
        </p:nvSpPr>
        <p:spPr>
          <a:xfrm>
            <a:off x="5129784" y="201168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5" name="Shape 15"/>
          <p:cNvSpPr/>
          <p:nvPr/>
        </p:nvSpPr>
        <p:spPr>
          <a:xfrm>
            <a:off x="5239512" y="1371600"/>
            <a:ext cx="1097280" cy="1280160"/>
          </a:xfrm>
          <a:prstGeom prst="rect">
            <a:avLst/>
          </a:prstGeom>
          <a:solidFill>
            <a:srgbClr val="03217B"/>
          </a:solidFill>
          <a:ln w="12700">
            <a:solidFill>
              <a:srgbClr val="03217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6" name="Text 16"/>
          <p:cNvSpPr/>
          <p:nvPr/>
        </p:nvSpPr>
        <p:spPr>
          <a:xfrm>
            <a:off x="5239512" y="13716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test_tfidf</a:t>
            </a:r>
            <a:endParaRPr lang="fr-FR" sz="900" noProof="0" dirty="0"/>
          </a:p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</a:t>
            </a:r>
            <a:r>
              <a:rPr lang="fr-FR" sz="9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fr-FR" sz="900" noProof="0" dirty="0"/>
          </a:p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fr-FR" sz="9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fr-FR" sz="900" noProof="0" dirty="0"/>
          </a:p>
        </p:txBody>
      </p:sp>
      <p:sp>
        <p:nvSpPr>
          <p:cNvPr id="57" name="Shape 17"/>
          <p:cNvSpPr/>
          <p:nvPr/>
        </p:nvSpPr>
        <p:spPr>
          <a:xfrm>
            <a:off x="6336792" y="201168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8" name="Shape 18"/>
          <p:cNvSpPr/>
          <p:nvPr/>
        </p:nvSpPr>
        <p:spPr>
          <a:xfrm>
            <a:off x="6446520" y="1371600"/>
            <a:ext cx="1097280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9" name="Text 19"/>
          <p:cNvSpPr/>
          <p:nvPr/>
        </p:nvSpPr>
        <p:spPr>
          <a:xfrm>
            <a:off x="6446520" y="13716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</a:t>
            </a:r>
            <a:endParaRPr lang="fr-FR" sz="900" noProof="0" dirty="0"/>
          </a:p>
          <a:p>
            <a:pPr marL="0" indent="0" algn="ctr">
              <a:buNone/>
            </a:pPr>
            <a:r>
              <a:rPr lang="fr-FR" sz="9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fr-FR" sz="900" noProof="0" dirty="0"/>
          </a:p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_cases.py</a:t>
            </a:r>
            <a:endParaRPr lang="fr-FR" sz="900" noProof="0" dirty="0"/>
          </a:p>
        </p:txBody>
      </p:sp>
      <p:sp>
        <p:nvSpPr>
          <p:cNvPr id="60" name="Shape 20"/>
          <p:cNvSpPr/>
          <p:nvPr/>
        </p:nvSpPr>
        <p:spPr>
          <a:xfrm>
            <a:off x="7543800" y="201168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1" name="Shape 21"/>
          <p:cNvSpPr/>
          <p:nvPr/>
        </p:nvSpPr>
        <p:spPr>
          <a:xfrm>
            <a:off x="7653528" y="1371600"/>
            <a:ext cx="1188720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2" name="Text 22"/>
          <p:cNvSpPr/>
          <p:nvPr/>
        </p:nvSpPr>
        <p:spPr>
          <a:xfrm>
            <a:off x="7653528" y="13716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</a:t>
            </a:r>
            <a:endParaRPr lang="fr-FR" sz="900" noProof="0" dirty="0"/>
          </a:p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fr-FR" sz="900" noProof="0" dirty="0"/>
          </a:p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_cards.py</a:t>
            </a:r>
            <a:endParaRPr lang="fr-FR" sz="900" noProof="0" dirty="0"/>
          </a:p>
        </p:txBody>
      </p:sp>
      <p:sp>
        <p:nvSpPr>
          <p:cNvPr id="63" name="Shape 23"/>
          <p:cNvSpPr/>
          <p:nvPr/>
        </p:nvSpPr>
        <p:spPr>
          <a:xfrm>
            <a:off x="1417320" y="2651760"/>
            <a:ext cx="0" cy="27432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4" name="Shape 24"/>
          <p:cNvSpPr/>
          <p:nvPr/>
        </p:nvSpPr>
        <p:spPr>
          <a:xfrm>
            <a:off x="1097280" y="2944368"/>
            <a:ext cx="100584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5" name="Text 25"/>
          <p:cNvSpPr/>
          <p:nvPr/>
        </p:nvSpPr>
        <p:spPr>
          <a:xfrm>
            <a:off x="1115568" y="2944368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noProof="0" dirty="0">
                <a:solidFill>
                  <a:srgbClr val="0D9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schémas</a:t>
            </a:r>
            <a:endParaRPr lang="fr-FR" sz="800" noProof="0" dirty="0"/>
          </a:p>
          <a:p>
            <a:pPr marL="0" indent="0" algn="ctr">
              <a:buNone/>
            </a:pPr>
            <a:r>
              <a:rPr lang="fr-FR" sz="800" noProof="0" dirty="0">
                <a:solidFill>
                  <a:srgbClr val="0D9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validés</a:t>
            </a:r>
            <a:endParaRPr lang="fr-FR" sz="800" noProof="0" dirty="0"/>
          </a:p>
          <a:p>
            <a:pPr marL="0" indent="0" algn="ctr">
              <a:buNone/>
            </a:pPr>
            <a:r>
              <a:rPr lang="fr-FR" sz="800" noProof="0" dirty="0">
                <a:solidFill>
                  <a:srgbClr val="0D9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</a:t>
            </a:r>
            <a:r>
              <a:rPr lang="fr-FR" sz="800" noProof="0" dirty="0" err="1">
                <a:solidFill>
                  <a:srgbClr val="0D9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fr-FR" sz="800" noProof="0" dirty="0"/>
          </a:p>
        </p:txBody>
      </p:sp>
      <p:sp>
        <p:nvSpPr>
          <p:cNvPr id="66" name="Shape 26"/>
          <p:cNvSpPr/>
          <p:nvPr/>
        </p:nvSpPr>
        <p:spPr>
          <a:xfrm>
            <a:off x="2624328" y="2651760"/>
            <a:ext cx="0" cy="27432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7" name="Shape 27"/>
          <p:cNvSpPr/>
          <p:nvPr/>
        </p:nvSpPr>
        <p:spPr>
          <a:xfrm>
            <a:off x="2304288" y="2944368"/>
            <a:ext cx="100584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8" name="Text 28"/>
          <p:cNvSpPr/>
          <p:nvPr/>
        </p:nvSpPr>
        <p:spPr>
          <a:xfrm>
            <a:off x="2322576" y="2944368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noProof="0" dirty="0">
                <a:solidFill>
                  <a:srgbClr val="0D9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fr-FR" sz="800" noProof="0" dirty="0"/>
          </a:p>
          <a:p>
            <a:pPr marL="0" indent="0" algn="ctr">
              <a:buNone/>
            </a:pPr>
            <a:r>
              <a:rPr lang="fr-FR" sz="800" noProof="0" dirty="0">
                <a:solidFill>
                  <a:srgbClr val="0D9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layer/</a:t>
            </a:r>
            <a:r>
              <a:rPr lang="fr-FR" sz="800" noProof="0" dirty="0" err="1">
                <a:solidFill>
                  <a:srgbClr val="0D9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fr-FR" sz="800" noProof="0" dirty="0"/>
          </a:p>
          <a:p>
            <a:pPr marL="0" indent="0" algn="ctr">
              <a:buNone/>
            </a:pPr>
            <a:r>
              <a:rPr lang="fr-FR" sz="800" noProof="0" dirty="0">
                <a:solidFill>
                  <a:srgbClr val="0D9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fr-FR" sz="800" noProof="0" dirty="0"/>
          </a:p>
        </p:txBody>
      </p:sp>
      <p:sp>
        <p:nvSpPr>
          <p:cNvPr id="69" name="Shape 29"/>
          <p:cNvSpPr/>
          <p:nvPr/>
        </p:nvSpPr>
        <p:spPr>
          <a:xfrm>
            <a:off x="3840480" y="2651760"/>
            <a:ext cx="0" cy="27432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0" name="Shape 30"/>
          <p:cNvSpPr/>
          <p:nvPr/>
        </p:nvSpPr>
        <p:spPr>
          <a:xfrm>
            <a:off x="3520440" y="2944368"/>
            <a:ext cx="100584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3217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1" name="Text 31"/>
          <p:cNvSpPr/>
          <p:nvPr/>
        </p:nvSpPr>
        <p:spPr>
          <a:xfrm>
            <a:off x="3538728" y="2944368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noProof="0" dirty="0" err="1">
                <a:solidFill>
                  <a:srgbClr val="032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</a:t>
            </a:r>
            <a:r>
              <a:rPr lang="fr-FR" sz="800" noProof="0" dirty="0">
                <a:solidFill>
                  <a:srgbClr val="032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</a:t>
            </a:r>
            <a:endParaRPr lang="fr-FR" sz="800" noProof="0" dirty="0"/>
          </a:p>
          <a:p>
            <a:pPr marL="0" indent="0" algn="ctr">
              <a:buNone/>
            </a:pPr>
            <a:r>
              <a:rPr lang="fr-FR" sz="800" noProof="0" dirty="0" err="1">
                <a:solidFill>
                  <a:srgbClr val="032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issue_ids</a:t>
            </a:r>
            <a:endParaRPr lang="fr-FR" sz="800" noProof="0" dirty="0"/>
          </a:p>
          <a:p>
            <a:pPr marL="0" indent="0" algn="ctr">
              <a:buNone/>
            </a:pPr>
            <a:r>
              <a:rPr lang="fr-FR" sz="800" noProof="0" dirty="0" err="1">
                <a:solidFill>
                  <a:srgbClr val="032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min_sim</a:t>
            </a:r>
            <a:r>
              <a:rPr lang="fr-FR" sz="800" noProof="0" dirty="0">
                <a:solidFill>
                  <a:srgbClr val="032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=0.40</a:t>
            </a:r>
            <a:endParaRPr lang="fr-FR" sz="800" noProof="0" dirty="0"/>
          </a:p>
        </p:txBody>
      </p:sp>
      <p:sp>
        <p:nvSpPr>
          <p:cNvPr id="72" name="Shape 32"/>
          <p:cNvSpPr/>
          <p:nvPr/>
        </p:nvSpPr>
        <p:spPr>
          <a:xfrm>
            <a:off x="5029200" y="2651760"/>
            <a:ext cx="0" cy="27432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3" name="Shape 33"/>
          <p:cNvSpPr/>
          <p:nvPr/>
        </p:nvSpPr>
        <p:spPr>
          <a:xfrm>
            <a:off x="4709160" y="2944368"/>
            <a:ext cx="100584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3217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4" name="Text 34"/>
          <p:cNvSpPr/>
          <p:nvPr/>
        </p:nvSpPr>
        <p:spPr>
          <a:xfrm>
            <a:off x="4727448" y="2944368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noProof="0" dirty="0">
                <a:solidFill>
                  <a:srgbClr val="032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</a:t>
            </a:r>
            <a:r>
              <a:rPr lang="fr-FR" sz="800" noProof="0" dirty="0" err="1">
                <a:solidFill>
                  <a:srgbClr val="032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fr-FR" sz="800" noProof="0" dirty="0"/>
          </a:p>
          <a:p>
            <a:pPr marL="0" indent="0" algn="ctr">
              <a:buNone/>
            </a:pPr>
            <a:r>
              <a:rPr lang="fr-FR" sz="800" noProof="0" dirty="0">
                <a:solidFill>
                  <a:srgbClr val="032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issues</a:t>
            </a:r>
            <a:endParaRPr lang="fr-FR" sz="800" noProof="0" dirty="0"/>
          </a:p>
          <a:p>
            <a:pPr marL="0" indent="0" algn="ctr">
              <a:buNone/>
            </a:pPr>
            <a:r>
              <a:rPr lang="fr-FR" sz="800" noProof="0" dirty="0">
                <a:solidFill>
                  <a:srgbClr val="032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fichiers</a:t>
            </a:r>
            <a:endParaRPr lang="fr-FR" sz="800" noProof="0" dirty="0"/>
          </a:p>
        </p:txBody>
      </p:sp>
      <p:sp>
        <p:nvSpPr>
          <p:cNvPr id="75" name="Shape 35"/>
          <p:cNvSpPr/>
          <p:nvPr/>
        </p:nvSpPr>
        <p:spPr>
          <a:xfrm>
            <a:off x="6236208" y="2651760"/>
            <a:ext cx="0" cy="27432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6" name="Shape 36"/>
          <p:cNvSpPr/>
          <p:nvPr/>
        </p:nvSpPr>
        <p:spPr>
          <a:xfrm>
            <a:off x="5916168" y="2944368"/>
            <a:ext cx="100584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7" name="Text 37"/>
          <p:cNvSpPr/>
          <p:nvPr/>
        </p:nvSpPr>
        <p:spPr>
          <a:xfrm>
            <a:off x="5934456" y="2944368"/>
            <a:ext cx="916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noProof="0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fr-FR" sz="800" noProof="0" dirty="0"/>
          </a:p>
          <a:p>
            <a:pPr marL="0" indent="0" algn="ctr">
              <a:buNone/>
            </a:pPr>
            <a:r>
              <a:rPr lang="fr-FR" sz="800" noProof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</a:t>
            </a:r>
            <a:r>
              <a:rPr lang="fr-FR" sz="800" noProof="0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cases_json</a:t>
            </a:r>
            <a:endParaRPr lang="fr-FR" sz="800" noProof="0" dirty="0"/>
          </a:p>
          <a:p>
            <a:pPr marL="0" indent="0" algn="ctr">
              <a:buNone/>
            </a:pPr>
            <a:r>
              <a:rPr lang="fr-FR" sz="800" noProof="0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st_ready</a:t>
            </a:r>
            <a:endParaRPr lang="fr-FR" sz="800" noProof="0" dirty="0"/>
          </a:p>
        </p:txBody>
      </p:sp>
      <p:sp>
        <p:nvSpPr>
          <p:cNvPr id="78" name="Shape 38"/>
          <p:cNvSpPr/>
          <p:nvPr/>
        </p:nvSpPr>
        <p:spPr>
          <a:xfrm>
            <a:off x="7516368" y="2651760"/>
            <a:ext cx="0" cy="27432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9" name="Shape 39"/>
          <p:cNvSpPr/>
          <p:nvPr/>
        </p:nvSpPr>
        <p:spPr>
          <a:xfrm>
            <a:off x="7196328" y="2944368"/>
            <a:ext cx="100584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0" name="Text 40"/>
          <p:cNvSpPr/>
          <p:nvPr/>
        </p:nvSpPr>
        <p:spPr>
          <a:xfrm>
            <a:off x="7214616" y="2944368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noProof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fr-FR" sz="800" noProof="0" dirty="0"/>
          </a:p>
          <a:p>
            <a:pPr marL="0" indent="0" algn="ctr">
              <a:buNone/>
            </a:pPr>
            <a:r>
              <a:rPr lang="fr-FR" sz="800" noProof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</a:t>
            </a:r>
            <a:r>
              <a:rPr lang="fr-FR" sz="800" noProof="0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cards_json</a:t>
            </a:r>
            <a:endParaRPr lang="fr-FR" sz="800" noProof="0" dirty="0"/>
          </a:p>
          <a:p>
            <a:pPr marL="0" indent="0" algn="ctr">
              <a:buNone/>
            </a:pPr>
            <a:r>
              <a:rPr lang="fr-FR" sz="800" noProof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cartes</a:t>
            </a:r>
            <a:endParaRPr lang="fr-FR" sz="8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527FFCAB48D543983E702177FA4D5E" ma:contentTypeVersion="1" ma:contentTypeDescription="Create a new document." ma:contentTypeScope="" ma:versionID="79e94945f58b0ccd46b3c7ecfbaac7f0">
  <xsd:schema xmlns:xsd="http://www.w3.org/2001/XMLSchema" xmlns:xs="http://www.w3.org/2001/XMLSchema" xmlns:p="http://schemas.microsoft.com/office/2006/metadata/properties" xmlns:ns3="a9b83574-adda-46ce-ac63-af2fdf65ff3b" targetNamespace="http://schemas.microsoft.com/office/2006/metadata/properties" ma:root="true" ma:fieldsID="186b049367a49709f79d150b2d56bce3" ns3:_="">
    <xsd:import namespace="a9b83574-adda-46ce-ac63-af2fdf65ff3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83574-adda-46ce-ac63-af2fdf65ff3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6BC4318-0748-4010-8258-7AA9EC6452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b83574-adda-46ce-ac63-af2fdf65ff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6BC24CF-D2D5-486E-9D35-9BE7317A3A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B96E14-9D7A-4087-BC72-918ED1B33F1B}">
  <ds:schemaRefs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a9b83574-adda-46ce-ac63-af2fdf65ff3b"/>
    <ds:schemaRef ds:uri="http://purl.org/dc/dcmitype/"/>
    <ds:schemaRef ds:uri="http://purl.org/dc/terms/"/>
    <ds:schemaRef ds:uri="http://schemas.microsoft.com/office/2006/documentManagement/type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1317</TotalTime>
  <Words>4199</Words>
  <Application>Microsoft Office PowerPoint</Application>
  <PresentationFormat>Affichage à l'écran (16:9)</PresentationFormat>
  <Paragraphs>445</Paragraphs>
  <Slides>14</Slides>
  <Notes>14</Notes>
  <HiddenSlides>1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Validation &amp; Delivery — ML Pipeline STM32Cube</dc:title>
  <dc:subject>PptxGenJS Presentation</dc:subject>
  <dc:creator>PptxGenJS</dc:creator>
  <cp:lastModifiedBy>abir.gharbi</cp:lastModifiedBy>
  <cp:revision>5</cp:revision>
  <dcterms:created xsi:type="dcterms:W3CDTF">2026-05-09T23:22:40Z</dcterms:created>
  <dcterms:modified xsi:type="dcterms:W3CDTF">2026-05-10T21:22:03Z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0x01010062527FFCAB48D543983E702177FA4D5E</vt:lpwstr>
  </property>
</Properties>
</file>